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40E"/>
        </a:solidFill>
      </p:bgPr>
    </p:bg>
    <p:spTree>
      <p:nvGrpSpPr>
        <p:cNvPr id="1" name=""/>
        <p:cNvGrpSpPr/>
        <p:nvPr/>
      </p:nvGrpSpPr>
      <p:grpSpPr>
        <a:xfrm>
          <a:off x="0" y="0"/>
          <a:ext cx="0" cy="0"/>
          <a:chOff x="0" y="0"/>
          <a:chExt cx="0" cy="0"/>
        </a:xfrm>
      </p:grpSpPr>
      <p:sp>
        <p:nvSpPr>
          <p:cNvPr id="2" name="Shape 0"/>
          <p:cNvSpPr/>
          <p:nvPr/>
        </p:nvSpPr>
        <p:spPr>
          <a:xfrm>
            <a:off x="6400800" y="-914400"/>
            <a:ext cx="6400800" cy="4572000"/>
          </a:xfrm>
          <a:prstGeom prst="rect">
            <a:avLst/>
          </a:prstGeom>
          <a:solidFill>
            <a:srgbClr val="7B5CFF">
              <a:alpha val="40000"/>
            </a:srgbClr>
          </a:solidFill>
          <a:ln/>
        </p:spPr>
      </p:sp>
      <p:sp>
        <p:nvSpPr>
          <p:cNvPr id="3" name="Shape 1"/>
          <p:cNvSpPr/>
          <p:nvPr/>
        </p:nvSpPr>
        <p:spPr>
          <a:xfrm>
            <a:off x="8641080" y="-914400"/>
            <a:ext cx="4160520" cy="4572000"/>
          </a:xfrm>
          <a:prstGeom prst="rect">
            <a:avLst/>
          </a:prstGeom>
          <a:solidFill>
            <a:srgbClr val="22D3EE">
              <a:alpha val="35000"/>
            </a:srgbClr>
          </a:solidFill>
          <a:ln/>
        </p:spPr>
      </p:sp>
      <p:sp>
        <p:nvSpPr>
          <p:cNvPr id="4" name="Text 2"/>
          <p:cNvSpPr/>
          <p:nvPr/>
        </p:nvSpPr>
        <p:spPr>
          <a:xfrm>
            <a:off x="548640" y="457200"/>
            <a:ext cx="4572000" cy="640080"/>
          </a:xfrm>
          <a:prstGeom prst="rect">
            <a:avLst/>
          </a:prstGeom>
          <a:noFill/>
          <a:ln/>
        </p:spPr>
        <p:txBody>
          <a:bodyPr wrap="square" rtlCol="0" anchor="ctr"/>
          <a:lstStyle/>
          <a:p>
            <a:pPr indent="0" marL="0">
              <a:buNone/>
            </a:pPr>
            <a:r>
              <a:rPr lang="en-US" sz="2800" b="1" spc="-100" kern="0" dirty="0">
                <a:solidFill>
                  <a:srgbClr val="F4F2FA"/>
                </a:solidFill>
                <a:latin typeface="Calibri" pitchFamily="34" charset="0"/>
                <a:ea typeface="Calibri" pitchFamily="34" charset="-122"/>
                <a:cs typeface="Calibri" pitchFamily="34" charset="-120"/>
              </a:rPr>
              <a:t>Hirly</a:t>
            </a:r>
            <a:endParaRPr lang="en-US" sz="2800" dirty="0"/>
          </a:p>
        </p:txBody>
      </p:sp>
      <p:sp>
        <p:nvSpPr>
          <p:cNvPr id="5" name="Text 3"/>
          <p:cNvSpPr/>
          <p:nvPr/>
        </p:nvSpPr>
        <p:spPr>
          <a:xfrm>
            <a:off x="548640" y="1051560"/>
            <a:ext cx="4572000" cy="365760"/>
          </a:xfrm>
          <a:prstGeom prst="rect">
            <a:avLst/>
          </a:prstGeom>
          <a:noFill/>
          <a:ln/>
        </p:spPr>
        <p:txBody>
          <a:bodyPr wrap="square" rtlCol="0" anchor="ctr"/>
          <a:lstStyle/>
          <a:p>
            <a:pPr indent="0" marL="0">
              <a:buNone/>
            </a:pPr>
            <a:r>
              <a:rPr lang="en-US" sz="1200" i="1" dirty="0">
                <a:solidFill>
                  <a:srgbClr val="8E89A6"/>
                </a:solidFill>
                <a:latin typeface="Calibri" pitchFamily="34" charset="0"/>
                <a:ea typeface="Calibri" pitchFamily="34" charset="-122"/>
                <a:cs typeface="Calibri" pitchFamily="34" charset="-120"/>
              </a:rPr>
              <a:t>Hire + Early</a:t>
            </a:r>
            <a:endParaRPr lang="en-US" sz="1200" dirty="0"/>
          </a:p>
        </p:txBody>
      </p:sp>
      <p:sp>
        <p:nvSpPr>
          <p:cNvPr id="6" name="Text 4"/>
          <p:cNvSpPr/>
          <p:nvPr/>
        </p:nvSpPr>
        <p:spPr>
          <a:xfrm>
            <a:off x="548640" y="2194560"/>
            <a:ext cx="8229600" cy="2011680"/>
          </a:xfrm>
          <a:prstGeom prst="rect">
            <a:avLst/>
          </a:prstGeom>
          <a:noFill/>
          <a:ln/>
        </p:spPr>
        <p:txBody>
          <a:bodyPr wrap="square" rtlCol="0" anchor="ctr"/>
          <a:lstStyle/>
          <a:p>
            <a:pPr indent="0" marL="0">
              <a:lnSpc>
                <a:spcPct val="95000"/>
              </a:lnSpc>
              <a:buNone/>
            </a:pPr>
            <a:r>
              <a:rPr lang="en-US" sz="6000" b="1" spc="-200" kern="0" dirty="0">
                <a:solidFill>
                  <a:srgbClr val="F4F2FA"/>
                </a:solidFill>
                <a:latin typeface="Calibri" pitchFamily="34" charset="0"/>
                <a:ea typeface="Calibri" pitchFamily="34" charset="-122"/>
                <a:cs typeface="Calibri" pitchFamily="34" charset="-120"/>
              </a:rPr>
              <a:t>Sua próxima vaga,</a:t>
            </a:r>
            <a:endParaRPr lang="en-US" sz="6000" dirty="0"/>
          </a:p>
          <a:p>
            <a:pPr indent="0" marL="0">
              <a:lnSpc>
                <a:spcPct val="95000"/>
              </a:lnSpc>
              <a:buNone/>
            </a:pPr>
            <a:r>
              <a:rPr lang="en-US" sz="6000" b="1" spc="-200" kern="0" dirty="0">
                <a:solidFill>
                  <a:srgbClr val="F4F2FA"/>
                </a:solidFill>
                <a:latin typeface="Calibri" pitchFamily="34" charset="0"/>
                <a:ea typeface="Calibri" pitchFamily="34" charset="-122"/>
                <a:cs typeface="Calibri" pitchFamily="34" charset="-120"/>
              </a:rPr>
              <a:t>num swipe.</a:t>
            </a:r>
            <a:endParaRPr lang="en-US" sz="6000" dirty="0"/>
          </a:p>
        </p:txBody>
      </p:sp>
      <p:sp>
        <p:nvSpPr>
          <p:cNvPr id="7" name="Text 5"/>
          <p:cNvSpPr/>
          <p:nvPr/>
        </p:nvSpPr>
        <p:spPr>
          <a:xfrm>
            <a:off x="548640" y="4480560"/>
            <a:ext cx="8229600" cy="914400"/>
          </a:xfrm>
          <a:prstGeom prst="rect">
            <a:avLst/>
          </a:prstGeom>
          <a:noFill/>
          <a:ln/>
        </p:spPr>
        <p:txBody>
          <a:bodyPr wrap="square" rtlCol="0" anchor="ctr"/>
          <a:lstStyle/>
          <a:p>
            <a:pPr indent="0" marL="0">
              <a:buNone/>
            </a:pPr>
            <a:r>
              <a:rPr lang="en-US" sz="1600" dirty="0">
                <a:solidFill>
                  <a:srgbClr val="8E89A6"/>
                </a:solidFill>
                <a:latin typeface="Calibri" pitchFamily="34" charset="0"/>
                <a:ea typeface="Calibri" pitchFamily="34" charset="-122"/>
                <a:cs typeface="Calibri" pitchFamily="34" charset="-120"/>
              </a:rPr>
              <a:t>O TikTok da busca de emprego para a Geração Z brasileira. Estágio, trainee e 1º emprego, curado por IA, em formato mobile-first.</a:t>
            </a:r>
            <a:endParaRPr lang="en-US" sz="1600" dirty="0"/>
          </a:p>
        </p:txBody>
      </p:sp>
      <p:sp>
        <p:nvSpPr>
          <p:cNvPr id="8" name="Text 6"/>
          <p:cNvSpPr/>
          <p:nvPr/>
        </p:nvSpPr>
        <p:spPr>
          <a:xfrm>
            <a:off x="548640" y="6355080"/>
            <a:ext cx="5486400" cy="274320"/>
          </a:xfrm>
          <a:prstGeom prst="rect">
            <a:avLst/>
          </a:prstGeom>
          <a:noFill/>
          <a:ln/>
        </p:spPr>
        <p:txBody>
          <a:bodyPr wrap="square" rtlCol="0" anchor="ctr"/>
          <a:lstStyle/>
          <a:p>
            <a:pPr indent="0" marL="0">
              <a:buNone/>
            </a:pPr>
            <a:r>
              <a:rPr lang="en-US" sz="1000" spc="300" kern="0" dirty="0">
                <a:solidFill>
                  <a:srgbClr val="564F71"/>
                </a:solidFill>
                <a:latin typeface="Calibri" pitchFamily="34" charset="0"/>
                <a:ea typeface="Calibri" pitchFamily="34" charset="-122"/>
                <a:cs typeface="Calibri" pitchFamily="34" charset="-120"/>
              </a:rPr>
              <a:t>Pitch para investidores · v1 · Maio 2026</a:t>
            </a:r>
            <a:endParaRPr lang="en-US" sz="1000" dirty="0"/>
          </a:p>
        </p:txBody>
      </p:sp>
      <p:sp>
        <p:nvSpPr>
          <p:cNvPr id="9" name="Text 7"/>
          <p:cNvSpPr/>
          <p:nvPr/>
        </p:nvSpPr>
        <p:spPr>
          <a:xfrm>
            <a:off x="10515600" y="6355080"/>
            <a:ext cx="1554480" cy="274320"/>
          </a:xfrm>
          <a:prstGeom prst="rect">
            <a:avLst/>
          </a:prstGeom>
          <a:noFill/>
          <a:ln/>
        </p:spPr>
        <p:txBody>
          <a:bodyPr wrap="square" rtlCol="0" anchor="ctr"/>
          <a:lstStyle/>
          <a:p>
            <a:pPr algn="r" indent="0" marL="0">
              <a:buNone/>
            </a:pPr>
            <a:r>
              <a:rPr lang="en-US" sz="1000" b="1" spc="400" kern="0" dirty="0">
                <a:solidFill>
                  <a:srgbClr val="22D3EE"/>
                </a:solidFill>
                <a:latin typeface="Calibri" pitchFamily="34" charset="0"/>
                <a:ea typeface="Calibri" pitchFamily="34" charset="-122"/>
                <a:cs typeface="Calibri" pitchFamily="34" charset="-120"/>
              </a:rPr>
              <a:t>CONFIDENCIAL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40E"/>
        </a:solidFill>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indent="0" marL="0">
              <a:buNone/>
            </a:pPr>
            <a:r>
              <a:rPr lang="en-US" sz="1000" b="1" spc="400" kern="0" dirty="0">
                <a:solidFill>
                  <a:srgbClr val="22D3EE"/>
                </a:solidFill>
                <a:latin typeface="Calibri" pitchFamily="34" charset="0"/>
                <a:ea typeface="Calibri" pitchFamily="34" charset="-122"/>
                <a:cs typeface="Calibri" pitchFamily="34" charset="-120"/>
              </a:rPr>
              <a:t>01 · O PROBLEMA</a:t>
            </a:r>
            <a:endParaRPr lang="en-US" sz="1000" dirty="0"/>
          </a:p>
        </p:txBody>
      </p:sp>
      <p:sp>
        <p:nvSpPr>
          <p:cNvPr id="3" name="Text 1"/>
          <p:cNvSpPr/>
          <p:nvPr/>
        </p:nvSpPr>
        <p:spPr>
          <a:xfrm>
            <a:off x="548640" y="777240"/>
            <a:ext cx="10515600" cy="1554480"/>
          </a:xfrm>
          <a:prstGeom prst="rect">
            <a:avLst/>
          </a:prstGeom>
          <a:noFill/>
          <a:ln/>
        </p:spPr>
        <p:txBody>
          <a:bodyPr wrap="square" rtlCol="0" anchor="ctr"/>
          <a:lstStyle/>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Buscar 1º emprego no Brasil</a:t>
            </a:r>
            <a:endParaRPr lang="en-US" sz="3800" dirty="0"/>
          </a:p>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é hostil pra Geração Z.</a:t>
            </a:r>
            <a:endParaRPr lang="en-US" sz="3800" dirty="0"/>
          </a:p>
        </p:txBody>
      </p:sp>
      <p:sp>
        <p:nvSpPr>
          <p:cNvPr id="4" name="Shape 2"/>
          <p:cNvSpPr/>
          <p:nvPr/>
        </p:nvSpPr>
        <p:spPr>
          <a:xfrm>
            <a:off x="548640" y="2743200"/>
            <a:ext cx="3383280" cy="3383280"/>
          </a:xfrm>
          <a:prstGeom prst="roundRect">
            <a:avLst>
              <a:gd name="adj" fmla="val 3243"/>
            </a:avLst>
          </a:prstGeom>
          <a:solidFill>
            <a:srgbClr val="14101E"/>
          </a:solidFill>
          <a:ln w="12700">
            <a:solidFill>
              <a:srgbClr val="231A38"/>
            </a:solidFill>
            <a:prstDash val="solid"/>
          </a:ln>
        </p:spPr>
      </p:sp>
      <p:sp>
        <p:nvSpPr>
          <p:cNvPr id="5" name="Text 3"/>
          <p:cNvSpPr/>
          <p:nvPr/>
        </p:nvSpPr>
        <p:spPr>
          <a:xfrm>
            <a:off x="777240" y="2926080"/>
            <a:ext cx="2926080" cy="914400"/>
          </a:xfrm>
          <a:prstGeom prst="rect">
            <a:avLst/>
          </a:prstGeom>
          <a:noFill/>
          <a:ln/>
        </p:spPr>
        <p:txBody>
          <a:bodyPr wrap="square" rtlCol="0" anchor="ctr"/>
          <a:lstStyle/>
          <a:p>
            <a:pPr indent="0" marL="0">
              <a:buNone/>
            </a:pPr>
            <a:r>
              <a:rPr lang="en-US" sz="5600" b="1" spc="-200" kern="0" dirty="0">
                <a:solidFill>
                  <a:srgbClr val="7B5CFF"/>
                </a:solidFill>
                <a:latin typeface="Calibri" pitchFamily="34" charset="0"/>
                <a:ea typeface="Calibri" pitchFamily="34" charset="-122"/>
                <a:cs typeface="Calibri" pitchFamily="34" charset="-120"/>
              </a:rPr>
              <a:t>0</a:t>
            </a:r>
            <a:endParaRPr lang="en-US" sz="5600" dirty="0"/>
          </a:p>
        </p:txBody>
      </p:sp>
      <p:sp>
        <p:nvSpPr>
          <p:cNvPr id="6" name="Text 4"/>
          <p:cNvSpPr/>
          <p:nvPr/>
        </p:nvSpPr>
        <p:spPr>
          <a:xfrm>
            <a:off x="777240" y="3840480"/>
            <a:ext cx="2926080" cy="548640"/>
          </a:xfrm>
          <a:prstGeom prst="rect">
            <a:avLst/>
          </a:prstGeom>
          <a:noFill/>
          <a:ln/>
        </p:spPr>
        <p:txBody>
          <a:bodyPr wrap="square" rtlCol="0" anchor="ctr"/>
          <a:lstStyle/>
          <a:p>
            <a:pPr indent="0" marL="0">
              <a:buNone/>
            </a:pPr>
            <a:r>
              <a:rPr lang="en-US" sz="1000" spc="150" kern="0" dirty="0">
                <a:solidFill>
                  <a:srgbClr val="8E89A6"/>
                </a:solidFill>
                <a:latin typeface="Calibri" pitchFamily="34" charset="0"/>
                <a:ea typeface="Calibri" pitchFamily="34" charset="-122"/>
                <a:cs typeface="Calibri" pitchFamily="34" charset="-120"/>
              </a:rPr>
              <a:t>vagas que aparecem</a:t>
            </a:r>
            <a:endParaRPr lang="en-US" sz="1000" dirty="0"/>
          </a:p>
          <a:p>
            <a:pPr indent="0" marL="0">
              <a:buNone/>
            </a:pPr>
            <a:r>
              <a:rPr lang="en-US" sz="1000" spc="150" kern="0" dirty="0">
                <a:solidFill>
                  <a:srgbClr val="8E89A6"/>
                </a:solidFill>
                <a:latin typeface="Calibri" pitchFamily="34" charset="0"/>
                <a:ea typeface="Calibri" pitchFamily="34" charset="-122"/>
                <a:cs typeface="Calibri" pitchFamily="34" charset="-120"/>
              </a:rPr>
              <a:t>pra perfil zero-XP</a:t>
            </a:r>
            <a:endParaRPr lang="en-US" sz="1000" dirty="0"/>
          </a:p>
        </p:txBody>
      </p:sp>
      <p:sp>
        <p:nvSpPr>
          <p:cNvPr id="7" name="Text 5"/>
          <p:cNvSpPr/>
          <p:nvPr/>
        </p:nvSpPr>
        <p:spPr>
          <a:xfrm>
            <a:off x="777240" y="4526280"/>
            <a:ext cx="2926080" cy="457200"/>
          </a:xfrm>
          <a:prstGeom prst="rect">
            <a:avLst/>
          </a:prstGeom>
          <a:noFill/>
          <a:ln/>
        </p:spPr>
        <p:txBody>
          <a:bodyPr wrap="square" rtlCol="0" anchor="ctr"/>
          <a:lstStyle/>
          <a:p>
            <a:pPr indent="0" marL="0">
              <a:buNone/>
            </a:pPr>
            <a:r>
              <a:rPr lang="en-US" sz="1800" b="1" spc="-50" kern="0" dirty="0">
                <a:solidFill>
                  <a:srgbClr val="F4F2FA"/>
                </a:solidFill>
                <a:latin typeface="Calibri" pitchFamily="34" charset="0"/>
                <a:ea typeface="Calibri" pitchFamily="34" charset="-122"/>
                <a:cs typeface="Calibri" pitchFamily="34" charset="-120"/>
              </a:rPr>
              <a:t>LinkedIn é pra sênior</a:t>
            </a:r>
            <a:endParaRPr lang="en-US" sz="1800" dirty="0"/>
          </a:p>
        </p:txBody>
      </p:sp>
      <p:sp>
        <p:nvSpPr>
          <p:cNvPr id="8" name="Text 6"/>
          <p:cNvSpPr/>
          <p:nvPr/>
        </p:nvSpPr>
        <p:spPr>
          <a:xfrm>
            <a:off x="777240" y="5029200"/>
            <a:ext cx="2926080" cy="1005840"/>
          </a:xfrm>
          <a:prstGeom prst="rect">
            <a:avLst/>
          </a:prstGeom>
          <a:noFill/>
          <a:ln/>
        </p:spPr>
        <p:txBody>
          <a:bodyPr wrap="square" rtlCol="0" anchor="ctr"/>
          <a:lstStyle/>
          <a:p>
            <a:pPr indent="0" marL="0">
              <a:lnSpc>
                <a:spcPct val="130000"/>
              </a:lnSpc>
              <a:buNone/>
            </a:pPr>
            <a:r>
              <a:rPr lang="en-US" sz="1200" dirty="0">
                <a:solidFill>
                  <a:srgbClr val="8E89A6"/>
                </a:solidFill>
                <a:latin typeface="Calibri" pitchFamily="34" charset="0"/>
                <a:ea typeface="Calibri" pitchFamily="34" charset="-122"/>
                <a:cs typeface="Calibri" pitchFamily="34" charset="-120"/>
              </a:rPr>
              <a:t>Algoritmo enterra quem não tem 3 anos de experiência. Newsfeed ruidoso, hostil pra iniciantes.</a:t>
            </a:r>
            <a:endParaRPr lang="en-US" sz="1200" dirty="0"/>
          </a:p>
        </p:txBody>
      </p:sp>
      <p:sp>
        <p:nvSpPr>
          <p:cNvPr id="9" name="Shape 7"/>
          <p:cNvSpPr/>
          <p:nvPr/>
        </p:nvSpPr>
        <p:spPr>
          <a:xfrm>
            <a:off x="4251960" y="2743200"/>
            <a:ext cx="3383280" cy="3383280"/>
          </a:xfrm>
          <a:prstGeom prst="roundRect">
            <a:avLst>
              <a:gd name="adj" fmla="val 3243"/>
            </a:avLst>
          </a:prstGeom>
          <a:solidFill>
            <a:srgbClr val="14101E"/>
          </a:solidFill>
          <a:ln w="12700">
            <a:solidFill>
              <a:srgbClr val="231A38"/>
            </a:solidFill>
            <a:prstDash val="solid"/>
          </a:ln>
        </p:spPr>
      </p:sp>
      <p:sp>
        <p:nvSpPr>
          <p:cNvPr id="10" name="Text 8"/>
          <p:cNvSpPr/>
          <p:nvPr/>
        </p:nvSpPr>
        <p:spPr>
          <a:xfrm>
            <a:off x="4480560" y="2926080"/>
            <a:ext cx="2926080" cy="914400"/>
          </a:xfrm>
          <a:prstGeom prst="rect">
            <a:avLst/>
          </a:prstGeom>
          <a:noFill/>
          <a:ln/>
        </p:spPr>
        <p:txBody>
          <a:bodyPr wrap="square" rtlCol="0" anchor="ctr"/>
          <a:lstStyle/>
          <a:p>
            <a:pPr indent="0" marL="0">
              <a:buNone/>
            </a:pPr>
            <a:r>
              <a:rPr lang="en-US" sz="5600" b="1" spc="-200" kern="0" dirty="0">
                <a:solidFill>
                  <a:srgbClr val="22D3EE"/>
                </a:solidFill>
                <a:latin typeface="Calibri" pitchFamily="34" charset="0"/>
                <a:ea typeface="Calibri" pitchFamily="34" charset="-122"/>
                <a:cs typeface="Calibri" pitchFamily="34" charset="-120"/>
              </a:rPr>
              <a:t>14</a:t>
            </a:r>
            <a:endParaRPr lang="en-US" sz="5600" dirty="0"/>
          </a:p>
        </p:txBody>
      </p:sp>
      <p:sp>
        <p:nvSpPr>
          <p:cNvPr id="11" name="Text 9"/>
          <p:cNvSpPr/>
          <p:nvPr/>
        </p:nvSpPr>
        <p:spPr>
          <a:xfrm>
            <a:off x="4480560" y="3840480"/>
            <a:ext cx="2926080" cy="548640"/>
          </a:xfrm>
          <a:prstGeom prst="rect">
            <a:avLst/>
          </a:prstGeom>
          <a:noFill/>
          <a:ln/>
        </p:spPr>
        <p:txBody>
          <a:bodyPr wrap="square" rtlCol="0" anchor="ctr"/>
          <a:lstStyle/>
          <a:p>
            <a:pPr indent="0" marL="0">
              <a:buNone/>
            </a:pPr>
            <a:r>
              <a:rPr lang="en-US" sz="1000" spc="150" kern="0" dirty="0">
                <a:solidFill>
                  <a:srgbClr val="8E89A6"/>
                </a:solidFill>
                <a:latin typeface="Calibri" pitchFamily="34" charset="0"/>
                <a:ea typeface="Calibri" pitchFamily="34" charset="-122"/>
                <a:cs typeface="Calibri" pitchFamily="34" charset="-120"/>
              </a:rPr>
              <a:t>anos sem</a:t>
            </a:r>
            <a:endParaRPr lang="en-US" sz="1000" dirty="0"/>
          </a:p>
          <a:p>
            <a:pPr indent="0" marL="0">
              <a:buNone/>
            </a:pPr>
            <a:r>
              <a:rPr lang="en-US" sz="1000" spc="150" kern="0" dirty="0">
                <a:solidFill>
                  <a:srgbClr val="8E89A6"/>
                </a:solidFill>
                <a:latin typeface="Calibri" pitchFamily="34" charset="0"/>
                <a:ea typeface="Calibri" pitchFamily="34" charset="-122"/>
                <a:cs typeface="Calibri" pitchFamily="34" charset="-120"/>
              </a:rPr>
              <a:t>redesign sério</a:t>
            </a:r>
            <a:endParaRPr lang="en-US" sz="1000" dirty="0"/>
          </a:p>
        </p:txBody>
      </p:sp>
      <p:sp>
        <p:nvSpPr>
          <p:cNvPr id="12" name="Text 10"/>
          <p:cNvSpPr/>
          <p:nvPr/>
        </p:nvSpPr>
        <p:spPr>
          <a:xfrm>
            <a:off x="4480560" y="4526280"/>
            <a:ext cx="2926080" cy="457200"/>
          </a:xfrm>
          <a:prstGeom prst="rect">
            <a:avLst/>
          </a:prstGeom>
          <a:noFill/>
          <a:ln/>
        </p:spPr>
        <p:txBody>
          <a:bodyPr wrap="square" rtlCol="0" anchor="ctr"/>
          <a:lstStyle/>
          <a:p>
            <a:pPr indent="0" marL="0">
              <a:buNone/>
            </a:pPr>
            <a:r>
              <a:rPr lang="en-US" sz="1800" b="1" spc="-50" kern="0" dirty="0">
                <a:solidFill>
                  <a:srgbClr val="F4F2FA"/>
                </a:solidFill>
                <a:latin typeface="Calibri" pitchFamily="34" charset="0"/>
                <a:ea typeface="Calibri" pitchFamily="34" charset="-122"/>
                <a:cs typeface="Calibri" pitchFamily="34" charset="-120"/>
              </a:rPr>
              <a:t>Catho/Vagas: UX de 2010</a:t>
            </a:r>
            <a:endParaRPr lang="en-US" sz="1800" dirty="0"/>
          </a:p>
        </p:txBody>
      </p:sp>
      <p:sp>
        <p:nvSpPr>
          <p:cNvPr id="13" name="Text 11"/>
          <p:cNvSpPr/>
          <p:nvPr/>
        </p:nvSpPr>
        <p:spPr>
          <a:xfrm>
            <a:off x="4480560" y="5029200"/>
            <a:ext cx="2926080" cy="1005840"/>
          </a:xfrm>
          <a:prstGeom prst="rect">
            <a:avLst/>
          </a:prstGeom>
          <a:noFill/>
          <a:ln/>
        </p:spPr>
        <p:txBody>
          <a:bodyPr wrap="square" rtlCol="0" anchor="ctr"/>
          <a:lstStyle/>
          <a:p>
            <a:pPr indent="0" marL="0">
              <a:lnSpc>
                <a:spcPct val="130000"/>
              </a:lnSpc>
              <a:buNone/>
            </a:pPr>
            <a:r>
              <a:rPr lang="en-US" sz="1200" dirty="0">
                <a:solidFill>
                  <a:srgbClr val="8E89A6"/>
                </a:solidFill>
                <a:latin typeface="Calibri" pitchFamily="34" charset="0"/>
                <a:ea typeface="Calibri" pitchFamily="34" charset="-122"/>
                <a:cs typeface="Calibri" pitchFamily="34" charset="-120"/>
              </a:rPr>
              <a:t>Site lento, cobra do candidato em alguns planos, mistura vagas de tudo quanto é nível.</a:t>
            </a:r>
            <a:endParaRPr lang="en-US" sz="1200" dirty="0"/>
          </a:p>
        </p:txBody>
      </p:sp>
      <p:sp>
        <p:nvSpPr>
          <p:cNvPr id="14" name="Shape 12"/>
          <p:cNvSpPr/>
          <p:nvPr/>
        </p:nvSpPr>
        <p:spPr>
          <a:xfrm>
            <a:off x="7955280" y="2743200"/>
            <a:ext cx="3383280" cy="3383280"/>
          </a:xfrm>
          <a:prstGeom prst="roundRect">
            <a:avLst>
              <a:gd name="adj" fmla="val 3243"/>
            </a:avLst>
          </a:prstGeom>
          <a:solidFill>
            <a:srgbClr val="14101E"/>
          </a:solidFill>
          <a:ln w="12700">
            <a:solidFill>
              <a:srgbClr val="231A38"/>
            </a:solidFill>
            <a:prstDash val="solid"/>
          </a:ln>
        </p:spPr>
      </p:sp>
      <p:sp>
        <p:nvSpPr>
          <p:cNvPr id="15" name="Text 13"/>
          <p:cNvSpPr/>
          <p:nvPr/>
        </p:nvSpPr>
        <p:spPr>
          <a:xfrm>
            <a:off x="8183880" y="2926080"/>
            <a:ext cx="2926080" cy="914400"/>
          </a:xfrm>
          <a:prstGeom prst="rect">
            <a:avLst/>
          </a:prstGeom>
          <a:noFill/>
          <a:ln/>
        </p:spPr>
        <p:txBody>
          <a:bodyPr wrap="square" rtlCol="0" anchor="ctr"/>
          <a:lstStyle/>
          <a:p>
            <a:pPr indent="0" marL="0">
              <a:buNone/>
            </a:pPr>
            <a:r>
              <a:rPr lang="en-US" sz="5600" b="1" spc="-200" kern="0" dirty="0">
                <a:solidFill>
                  <a:srgbClr val="C7F94E"/>
                </a:solidFill>
                <a:latin typeface="Calibri" pitchFamily="34" charset="0"/>
                <a:ea typeface="Calibri" pitchFamily="34" charset="-122"/>
                <a:cs typeface="Calibri" pitchFamily="34" charset="-120"/>
              </a:rPr>
              <a:t>∞</a:t>
            </a:r>
            <a:endParaRPr lang="en-US" sz="5600" dirty="0"/>
          </a:p>
        </p:txBody>
      </p:sp>
      <p:sp>
        <p:nvSpPr>
          <p:cNvPr id="16" name="Text 14"/>
          <p:cNvSpPr/>
          <p:nvPr/>
        </p:nvSpPr>
        <p:spPr>
          <a:xfrm>
            <a:off x="8183880" y="3840480"/>
            <a:ext cx="2926080" cy="548640"/>
          </a:xfrm>
          <a:prstGeom prst="rect">
            <a:avLst/>
          </a:prstGeom>
          <a:noFill/>
          <a:ln/>
        </p:spPr>
        <p:txBody>
          <a:bodyPr wrap="square" rtlCol="0" anchor="ctr"/>
          <a:lstStyle/>
          <a:p>
            <a:pPr indent="0" marL="0">
              <a:buNone/>
            </a:pPr>
            <a:r>
              <a:rPr lang="en-US" sz="1000" spc="150" kern="0" dirty="0">
                <a:solidFill>
                  <a:srgbClr val="8E89A6"/>
                </a:solidFill>
                <a:latin typeface="Calibri" pitchFamily="34" charset="0"/>
                <a:ea typeface="Calibri" pitchFamily="34" charset="-122"/>
                <a:cs typeface="Calibri" pitchFamily="34" charset="-120"/>
              </a:rPr>
              <a:t>grupos de</a:t>
            </a:r>
            <a:endParaRPr lang="en-US" sz="1000" dirty="0"/>
          </a:p>
          <a:p>
            <a:pPr indent="0" marL="0">
              <a:buNone/>
            </a:pPr>
            <a:r>
              <a:rPr lang="en-US" sz="1000" spc="150" kern="0" dirty="0">
                <a:solidFill>
                  <a:srgbClr val="8E89A6"/>
                </a:solidFill>
                <a:latin typeface="Calibri" pitchFamily="34" charset="0"/>
                <a:ea typeface="Calibri" pitchFamily="34" charset="-122"/>
                <a:cs typeface="Calibri" pitchFamily="34" charset="-120"/>
              </a:rPr>
              <a:t>estágio aleatórios</a:t>
            </a:r>
            <a:endParaRPr lang="en-US" sz="1000" dirty="0"/>
          </a:p>
        </p:txBody>
      </p:sp>
      <p:sp>
        <p:nvSpPr>
          <p:cNvPr id="17" name="Text 15"/>
          <p:cNvSpPr/>
          <p:nvPr/>
        </p:nvSpPr>
        <p:spPr>
          <a:xfrm>
            <a:off x="8183880" y="4526280"/>
            <a:ext cx="2926080" cy="457200"/>
          </a:xfrm>
          <a:prstGeom prst="rect">
            <a:avLst/>
          </a:prstGeom>
          <a:noFill/>
          <a:ln/>
        </p:spPr>
        <p:txBody>
          <a:bodyPr wrap="square" rtlCol="0" anchor="ctr"/>
          <a:lstStyle/>
          <a:p>
            <a:pPr indent="0" marL="0">
              <a:buNone/>
            </a:pPr>
            <a:r>
              <a:rPr lang="en-US" sz="1800" b="1" spc="-50" kern="0" dirty="0">
                <a:solidFill>
                  <a:srgbClr val="F4F2FA"/>
                </a:solidFill>
                <a:latin typeface="Calibri" pitchFamily="34" charset="0"/>
                <a:ea typeface="Calibri" pitchFamily="34" charset="-122"/>
                <a:cs typeface="Calibri" pitchFamily="34" charset="-120"/>
              </a:rPr>
              <a:t>WhatsApp = caos</a:t>
            </a:r>
            <a:endParaRPr lang="en-US" sz="1800" dirty="0"/>
          </a:p>
        </p:txBody>
      </p:sp>
      <p:sp>
        <p:nvSpPr>
          <p:cNvPr id="18" name="Text 16"/>
          <p:cNvSpPr/>
          <p:nvPr/>
        </p:nvSpPr>
        <p:spPr>
          <a:xfrm>
            <a:off x="8183880" y="5029200"/>
            <a:ext cx="2926080" cy="1005840"/>
          </a:xfrm>
          <a:prstGeom prst="rect">
            <a:avLst/>
          </a:prstGeom>
          <a:noFill/>
          <a:ln/>
        </p:spPr>
        <p:txBody>
          <a:bodyPr wrap="square" rtlCol="0" anchor="ctr"/>
          <a:lstStyle/>
          <a:p>
            <a:pPr indent="0" marL="0">
              <a:lnSpc>
                <a:spcPct val="130000"/>
              </a:lnSpc>
              <a:buNone/>
            </a:pPr>
            <a:r>
              <a:rPr lang="en-US" sz="1200" dirty="0">
                <a:solidFill>
                  <a:srgbClr val="8E89A6"/>
                </a:solidFill>
                <a:latin typeface="Calibri" pitchFamily="34" charset="0"/>
                <a:ea typeface="Calibri" pitchFamily="34" charset="-122"/>
                <a:cs typeface="Calibri" pitchFamily="34" charset="-120"/>
              </a:rPr>
              <a:t>Maior canal real hoje. Mas volume sem curadoria, candidatura manual, mistura com MLM/golpe.</a:t>
            </a:r>
            <a:endParaRPr lang="en-US" sz="1200" dirty="0"/>
          </a:p>
        </p:txBody>
      </p:sp>
      <p:sp>
        <p:nvSpPr>
          <p:cNvPr id="19" name="Text 17"/>
          <p:cNvSpPr/>
          <p:nvPr/>
        </p:nvSpPr>
        <p:spPr>
          <a:xfrm>
            <a:off x="548640" y="5897880"/>
            <a:ext cx="10972800" cy="365760"/>
          </a:xfrm>
          <a:prstGeom prst="rect">
            <a:avLst/>
          </a:prstGeom>
          <a:noFill/>
          <a:ln/>
        </p:spPr>
        <p:txBody>
          <a:bodyPr wrap="square" rtlCol="0" anchor="ctr"/>
          <a:lstStyle/>
          <a:p>
            <a:pPr indent="0" marL="0">
              <a:buNone/>
            </a:pPr>
            <a:r>
              <a:rPr lang="en-US" sz="1300" i="1" dirty="0">
                <a:solidFill>
                  <a:srgbClr val="F4F2FA"/>
                </a:solidFill>
                <a:latin typeface="Calibri" pitchFamily="34" charset="0"/>
                <a:ea typeface="Calibri" pitchFamily="34" charset="-122"/>
                <a:cs typeface="Calibri" pitchFamily="34" charset="-120"/>
              </a:rPr>
              <a:t>Resultado: 36 milhões de jovens 18–28 anos sem ferramenta decente pra entrar no mercado.</a:t>
            </a:r>
            <a:endParaRPr lang="en-US" sz="1300" dirty="0"/>
          </a:p>
        </p:txBody>
      </p:sp>
      <p:sp>
        <p:nvSpPr>
          <p:cNvPr id="20" name="Text 18"/>
          <p:cNvSpPr/>
          <p:nvPr/>
        </p:nvSpPr>
        <p:spPr>
          <a:xfrm>
            <a:off x="548640" y="6355080"/>
            <a:ext cx="3657600" cy="274320"/>
          </a:xfrm>
          <a:prstGeom prst="rect">
            <a:avLst/>
          </a:prstGeom>
          <a:noFill/>
          <a:ln/>
        </p:spPr>
        <p:txBody>
          <a:bodyPr wrap="square" rtlCol="0" anchor="ctr"/>
          <a:lstStyle/>
          <a:p>
            <a:pPr indent="0" marL="0">
              <a:buNone/>
            </a:pPr>
            <a:r>
              <a:rPr lang="en-US" sz="900" spc="300" kern="0" dirty="0">
                <a:solidFill>
                  <a:srgbClr val="564F71"/>
                </a:solidFill>
                <a:latin typeface="Calibri" pitchFamily="34" charset="0"/>
                <a:ea typeface="Calibri" pitchFamily="34" charset="-122"/>
                <a:cs typeface="Calibri" pitchFamily="34" charset="-120"/>
              </a:rPr>
              <a:t>HIRLY · CONFIDENCIAL</a:t>
            </a:r>
            <a:endParaRPr lang="en-US" sz="900" dirty="0"/>
          </a:p>
        </p:txBody>
      </p:sp>
      <p:sp>
        <p:nvSpPr>
          <p:cNvPr id="21" name="Text 19"/>
          <p:cNvSpPr/>
          <p:nvPr/>
        </p:nvSpPr>
        <p:spPr>
          <a:xfrm>
            <a:off x="10972800" y="6355080"/>
            <a:ext cx="1097280" cy="274320"/>
          </a:xfrm>
          <a:prstGeom prst="rect">
            <a:avLst/>
          </a:prstGeom>
          <a:noFill/>
          <a:ln/>
        </p:spPr>
        <p:txBody>
          <a:bodyPr wrap="square" rtlCol="0" anchor="ctr"/>
          <a:lstStyle/>
          <a:p>
            <a:pPr algn="r" indent="0" marL="0">
              <a:buNone/>
            </a:pPr>
            <a:r>
              <a:rPr lang="en-US" sz="900" spc="300" kern="0" dirty="0">
                <a:solidFill>
                  <a:srgbClr val="564F71"/>
                </a:solidFill>
                <a:latin typeface="Calibri" pitchFamily="34" charset="0"/>
                <a:ea typeface="Calibri" pitchFamily="34" charset="-122"/>
                <a:cs typeface="Calibri" pitchFamily="34" charset="-120"/>
              </a:rPr>
              <a:t>02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40E"/>
        </a:solidFill>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indent="0" marL="0">
              <a:buNone/>
            </a:pPr>
            <a:r>
              <a:rPr lang="en-US" sz="1000" b="1" spc="400" kern="0" dirty="0">
                <a:solidFill>
                  <a:srgbClr val="22D3EE"/>
                </a:solidFill>
                <a:latin typeface="Calibri" pitchFamily="34" charset="0"/>
                <a:ea typeface="Calibri" pitchFamily="34" charset="-122"/>
                <a:cs typeface="Calibri" pitchFamily="34" charset="-120"/>
              </a:rPr>
              <a:t>02 · MERCADO</a:t>
            </a:r>
            <a:endParaRPr lang="en-US" sz="1000" dirty="0"/>
          </a:p>
        </p:txBody>
      </p:sp>
      <p:sp>
        <p:nvSpPr>
          <p:cNvPr id="3" name="Text 1"/>
          <p:cNvSpPr/>
          <p:nvPr/>
        </p:nvSpPr>
        <p:spPr>
          <a:xfrm>
            <a:off x="548640" y="777240"/>
            <a:ext cx="10515600" cy="1463040"/>
          </a:xfrm>
          <a:prstGeom prst="rect">
            <a:avLst/>
          </a:prstGeom>
          <a:noFill/>
          <a:ln/>
        </p:spPr>
        <p:txBody>
          <a:bodyPr wrap="square" rtlCol="0" anchor="ctr"/>
          <a:lstStyle/>
          <a:p>
            <a:pPr indent="0" marL="0">
              <a:lnSpc>
                <a:spcPct val="105000"/>
              </a:lnSpc>
              <a:buNone/>
            </a:pPr>
            <a:r>
              <a:rPr lang="en-US" sz="3600" b="1" spc="-150" kern="0" dirty="0">
                <a:solidFill>
                  <a:srgbClr val="F4F2FA"/>
                </a:solidFill>
                <a:latin typeface="Calibri" pitchFamily="34" charset="0"/>
                <a:ea typeface="Calibri" pitchFamily="34" charset="-122"/>
                <a:cs typeface="Calibri" pitchFamily="34" charset="-120"/>
              </a:rPr>
              <a:t>O bolo é gigante.</a:t>
            </a:r>
            <a:endParaRPr lang="en-US" sz="3600" dirty="0"/>
          </a:p>
          <a:p>
            <a:pPr indent="0" marL="0">
              <a:lnSpc>
                <a:spcPct val="105000"/>
              </a:lnSpc>
              <a:buNone/>
            </a:pPr>
            <a:r>
              <a:rPr lang="en-US" sz="3600" b="1" spc="-150" kern="0" dirty="0">
                <a:solidFill>
                  <a:srgbClr val="F4F2FA"/>
                </a:solidFill>
                <a:latin typeface="Calibri" pitchFamily="34" charset="0"/>
                <a:ea typeface="Calibri" pitchFamily="34" charset="-122"/>
                <a:cs typeface="Calibri" pitchFamily="34" charset="-120"/>
              </a:rPr>
              <a:t>E ninguém tá disputando ele direito.</a:t>
            </a:r>
            <a:endParaRPr lang="en-US" sz="3600" dirty="0"/>
          </a:p>
        </p:txBody>
      </p:sp>
      <p:sp>
        <p:nvSpPr>
          <p:cNvPr id="4" name="Shape 2"/>
          <p:cNvSpPr/>
          <p:nvPr/>
        </p:nvSpPr>
        <p:spPr>
          <a:xfrm>
            <a:off x="548640" y="2743200"/>
            <a:ext cx="3566160" cy="2926080"/>
          </a:xfrm>
          <a:prstGeom prst="roundRect">
            <a:avLst>
              <a:gd name="adj" fmla="val 5625"/>
            </a:avLst>
          </a:prstGeom>
          <a:solidFill>
            <a:srgbClr val="14101E"/>
          </a:solidFill>
          <a:ln w="25400">
            <a:solidFill>
              <a:srgbClr val="7B5CFF"/>
            </a:solidFill>
            <a:prstDash val="solid"/>
          </a:ln>
        </p:spPr>
      </p:sp>
      <p:sp>
        <p:nvSpPr>
          <p:cNvPr id="5" name="Text 3"/>
          <p:cNvSpPr/>
          <p:nvPr/>
        </p:nvSpPr>
        <p:spPr>
          <a:xfrm>
            <a:off x="822960" y="3017520"/>
            <a:ext cx="1828800" cy="365760"/>
          </a:xfrm>
          <a:prstGeom prst="rect">
            <a:avLst/>
          </a:prstGeom>
          <a:noFill/>
          <a:ln/>
        </p:spPr>
        <p:txBody>
          <a:bodyPr wrap="square" rtlCol="0" anchor="ctr"/>
          <a:lstStyle/>
          <a:p>
            <a:pPr indent="0" marL="0">
              <a:buNone/>
            </a:pPr>
            <a:r>
              <a:rPr lang="en-US" sz="1100" b="1" spc="400" kern="0" dirty="0">
                <a:solidFill>
                  <a:srgbClr val="7B5CFF"/>
                </a:solidFill>
                <a:latin typeface="Calibri" pitchFamily="34" charset="0"/>
                <a:ea typeface="Calibri" pitchFamily="34" charset="-122"/>
                <a:cs typeface="Calibri" pitchFamily="34" charset="-120"/>
              </a:rPr>
              <a:t>TAM</a:t>
            </a:r>
            <a:endParaRPr lang="en-US" sz="1100" dirty="0"/>
          </a:p>
        </p:txBody>
      </p:sp>
      <p:sp>
        <p:nvSpPr>
          <p:cNvPr id="6" name="Text 4"/>
          <p:cNvSpPr/>
          <p:nvPr/>
        </p:nvSpPr>
        <p:spPr>
          <a:xfrm>
            <a:off x="822960" y="3520440"/>
            <a:ext cx="3108960" cy="1280160"/>
          </a:xfrm>
          <a:prstGeom prst="rect">
            <a:avLst/>
          </a:prstGeom>
          <a:noFill/>
          <a:ln/>
        </p:spPr>
        <p:txBody>
          <a:bodyPr wrap="square" rtlCol="0" anchor="ctr"/>
          <a:lstStyle/>
          <a:p>
            <a:pPr indent="0" marL="0">
              <a:buNone/>
            </a:pPr>
            <a:r>
              <a:rPr lang="en-US" sz="8000" b="1" spc="-300" kern="0" dirty="0">
                <a:solidFill>
                  <a:srgbClr val="F4F2FA"/>
                </a:solidFill>
                <a:latin typeface="Calibri" pitchFamily="34" charset="0"/>
                <a:ea typeface="Calibri" pitchFamily="34" charset="-122"/>
                <a:cs typeface="Calibri" pitchFamily="34" charset="-120"/>
              </a:rPr>
              <a:t>36M</a:t>
            </a:r>
            <a:endParaRPr lang="en-US" sz="8000" dirty="0"/>
          </a:p>
        </p:txBody>
      </p:sp>
      <p:sp>
        <p:nvSpPr>
          <p:cNvPr id="7" name="Text 5"/>
          <p:cNvSpPr/>
          <p:nvPr/>
        </p:nvSpPr>
        <p:spPr>
          <a:xfrm>
            <a:off x="822960" y="4892040"/>
            <a:ext cx="3108960" cy="731520"/>
          </a:xfrm>
          <a:prstGeom prst="rect">
            <a:avLst/>
          </a:prstGeom>
          <a:noFill/>
          <a:ln/>
        </p:spPr>
        <p:txBody>
          <a:bodyPr wrap="square" rtlCol="0" anchor="ctr"/>
          <a:lstStyle/>
          <a:p>
            <a:pPr indent="0" marL="0">
              <a:lnSpc>
                <a:spcPct val="130000"/>
              </a:lnSpc>
              <a:buNone/>
            </a:pPr>
            <a:r>
              <a:rPr lang="en-US" sz="1200" dirty="0">
                <a:solidFill>
                  <a:srgbClr val="8E89A6"/>
                </a:solidFill>
                <a:latin typeface="Calibri" pitchFamily="34" charset="0"/>
                <a:ea typeface="Calibri" pitchFamily="34" charset="-122"/>
                <a:cs typeface="Calibri" pitchFamily="34" charset="-120"/>
              </a:rPr>
              <a:t>Jovens 18–28 anos no Brasil (IBGE)</a:t>
            </a:r>
            <a:endParaRPr lang="en-US" sz="1200" dirty="0"/>
          </a:p>
        </p:txBody>
      </p:sp>
      <p:sp>
        <p:nvSpPr>
          <p:cNvPr id="8" name="Shape 6"/>
          <p:cNvSpPr/>
          <p:nvPr/>
        </p:nvSpPr>
        <p:spPr>
          <a:xfrm>
            <a:off x="4343400" y="2743200"/>
            <a:ext cx="3566160" cy="2926080"/>
          </a:xfrm>
          <a:prstGeom prst="roundRect">
            <a:avLst>
              <a:gd name="adj" fmla="val 5625"/>
            </a:avLst>
          </a:prstGeom>
          <a:solidFill>
            <a:srgbClr val="14101E"/>
          </a:solidFill>
          <a:ln w="25400">
            <a:solidFill>
              <a:srgbClr val="22D3EE"/>
            </a:solidFill>
            <a:prstDash val="solid"/>
          </a:ln>
        </p:spPr>
      </p:sp>
      <p:sp>
        <p:nvSpPr>
          <p:cNvPr id="9" name="Text 7"/>
          <p:cNvSpPr/>
          <p:nvPr/>
        </p:nvSpPr>
        <p:spPr>
          <a:xfrm>
            <a:off x="4617720" y="3017520"/>
            <a:ext cx="1828800" cy="365760"/>
          </a:xfrm>
          <a:prstGeom prst="rect">
            <a:avLst/>
          </a:prstGeom>
          <a:noFill/>
          <a:ln/>
        </p:spPr>
        <p:txBody>
          <a:bodyPr wrap="square" rtlCol="0" anchor="ctr"/>
          <a:lstStyle/>
          <a:p>
            <a:pPr indent="0" marL="0">
              <a:buNone/>
            </a:pPr>
            <a:r>
              <a:rPr lang="en-US" sz="1100" b="1" spc="400" kern="0" dirty="0">
                <a:solidFill>
                  <a:srgbClr val="22D3EE"/>
                </a:solidFill>
                <a:latin typeface="Calibri" pitchFamily="34" charset="0"/>
                <a:ea typeface="Calibri" pitchFamily="34" charset="-122"/>
                <a:cs typeface="Calibri" pitchFamily="34" charset="-120"/>
              </a:rPr>
              <a:t>SAM</a:t>
            </a:r>
            <a:endParaRPr lang="en-US" sz="1100" dirty="0"/>
          </a:p>
        </p:txBody>
      </p:sp>
      <p:sp>
        <p:nvSpPr>
          <p:cNvPr id="10" name="Text 8"/>
          <p:cNvSpPr/>
          <p:nvPr/>
        </p:nvSpPr>
        <p:spPr>
          <a:xfrm>
            <a:off x="4617720" y="3520440"/>
            <a:ext cx="3108960" cy="1280160"/>
          </a:xfrm>
          <a:prstGeom prst="rect">
            <a:avLst/>
          </a:prstGeom>
          <a:noFill/>
          <a:ln/>
        </p:spPr>
        <p:txBody>
          <a:bodyPr wrap="square" rtlCol="0" anchor="ctr"/>
          <a:lstStyle/>
          <a:p>
            <a:pPr indent="0" marL="0">
              <a:buNone/>
            </a:pPr>
            <a:r>
              <a:rPr lang="en-US" sz="8000" b="1" spc="-300" kern="0" dirty="0">
                <a:solidFill>
                  <a:srgbClr val="F4F2FA"/>
                </a:solidFill>
                <a:latin typeface="Calibri" pitchFamily="34" charset="0"/>
                <a:ea typeface="Calibri" pitchFamily="34" charset="-122"/>
                <a:cs typeface="Calibri" pitchFamily="34" charset="-120"/>
              </a:rPr>
              <a:t>6–8M</a:t>
            </a:r>
            <a:endParaRPr lang="en-US" sz="8000" dirty="0"/>
          </a:p>
        </p:txBody>
      </p:sp>
      <p:sp>
        <p:nvSpPr>
          <p:cNvPr id="11" name="Text 9"/>
          <p:cNvSpPr/>
          <p:nvPr/>
        </p:nvSpPr>
        <p:spPr>
          <a:xfrm>
            <a:off x="4617720" y="4892040"/>
            <a:ext cx="3108960" cy="731520"/>
          </a:xfrm>
          <a:prstGeom prst="rect">
            <a:avLst/>
          </a:prstGeom>
          <a:noFill/>
          <a:ln/>
        </p:spPr>
        <p:txBody>
          <a:bodyPr wrap="square" rtlCol="0" anchor="ctr"/>
          <a:lstStyle/>
          <a:p>
            <a:pPr indent="0" marL="0">
              <a:lnSpc>
                <a:spcPct val="130000"/>
              </a:lnSpc>
              <a:buNone/>
            </a:pPr>
            <a:r>
              <a:rPr lang="en-US" sz="1200" dirty="0">
                <a:solidFill>
                  <a:srgbClr val="8E89A6"/>
                </a:solidFill>
                <a:latin typeface="Calibri" pitchFamily="34" charset="0"/>
                <a:ea typeface="Calibri" pitchFamily="34" charset="-122"/>
                <a:cs typeface="Calibri" pitchFamily="34" charset="-120"/>
              </a:rPr>
              <a:t>Em busca ativa de estágio/trainee/1º emprego</a:t>
            </a:r>
            <a:endParaRPr lang="en-US" sz="1200" dirty="0"/>
          </a:p>
        </p:txBody>
      </p:sp>
      <p:sp>
        <p:nvSpPr>
          <p:cNvPr id="12" name="Shape 10"/>
          <p:cNvSpPr/>
          <p:nvPr/>
        </p:nvSpPr>
        <p:spPr>
          <a:xfrm>
            <a:off x="8138160" y="2743200"/>
            <a:ext cx="3566160" cy="2926080"/>
          </a:xfrm>
          <a:prstGeom prst="roundRect">
            <a:avLst>
              <a:gd name="adj" fmla="val 5625"/>
            </a:avLst>
          </a:prstGeom>
          <a:solidFill>
            <a:srgbClr val="14101E"/>
          </a:solidFill>
          <a:ln w="25400">
            <a:solidFill>
              <a:srgbClr val="C7F94E"/>
            </a:solidFill>
            <a:prstDash val="solid"/>
          </a:ln>
        </p:spPr>
      </p:sp>
      <p:sp>
        <p:nvSpPr>
          <p:cNvPr id="13" name="Text 11"/>
          <p:cNvSpPr/>
          <p:nvPr/>
        </p:nvSpPr>
        <p:spPr>
          <a:xfrm>
            <a:off x="8412480" y="3017520"/>
            <a:ext cx="1828800" cy="365760"/>
          </a:xfrm>
          <a:prstGeom prst="rect">
            <a:avLst/>
          </a:prstGeom>
          <a:noFill/>
          <a:ln/>
        </p:spPr>
        <p:txBody>
          <a:bodyPr wrap="square" rtlCol="0" anchor="ctr"/>
          <a:lstStyle/>
          <a:p>
            <a:pPr indent="0" marL="0">
              <a:buNone/>
            </a:pPr>
            <a:r>
              <a:rPr lang="en-US" sz="1100" b="1" spc="400" kern="0" dirty="0">
                <a:solidFill>
                  <a:srgbClr val="C7F94E"/>
                </a:solidFill>
                <a:latin typeface="Calibri" pitchFamily="34" charset="0"/>
                <a:ea typeface="Calibri" pitchFamily="34" charset="-122"/>
                <a:cs typeface="Calibri" pitchFamily="34" charset="-120"/>
              </a:rPr>
              <a:t>SOM</a:t>
            </a:r>
            <a:endParaRPr lang="en-US" sz="1100" dirty="0"/>
          </a:p>
        </p:txBody>
      </p:sp>
      <p:sp>
        <p:nvSpPr>
          <p:cNvPr id="14" name="Text 12"/>
          <p:cNvSpPr/>
          <p:nvPr/>
        </p:nvSpPr>
        <p:spPr>
          <a:xfrm>
            <a:off x="8412480" y="3520440"/>
            <a:ext cx="3108960" cy="1280160"/>
          </a:xfrm>
          <a:prstGeom prst="rect">
            <a:avLst/>
          </a:prstGeom>
          <a:noFill/>
          <a:ln/>
        </p:spPr>
        <p:txBody>
          <a:bodyPr wrap="square" rtlCol="0" anchor="ctr"/>
          <a:lstStyle/>
          <a:p>
            <a:pPr indent="0" marL="0">
              <a:buNone/>
            </a:pPr>
            <a:r>
              <a:rPr lang="en-US" sz="8000" b="1" spc="-300" kern="0" dirty="0">
                <a:solidFill>
                  <a:srgbClr val="F4F2FA"/>
                </a:solidFill>
                <a:latin typeface="Calibri" pitchFamily="34" charset="0"/>
                <a:ea typeface="Calibri" pitchFamily="34" charset="-122"/>
                <a:cs typeface="Calibri" pitchFamily="34" charset="-120"/>
              </a:rPr>
              <a:t>300K+</a:t>
            </a:r>
            <a:endParaRPr lang="en-US" sz="8000" dirty="0"/>
          </a:p>
        </p:txBody>
      </p:sp>
      <p:sp>
        <p:nvSpPr>
          <p:cNvPr id="15" name="Text 13"/>
          <p:cNvSpPr/>
          <p:nvPr/>
        </p:nvSpPr>
        <p:spPr>
          <a:xfrm>
            <a:off x="8412480" y="4892040"/>
            <a:ext cx="3108960" cy="731520"/>
          </a:xfrm>
          <a:prstGeom prst="rect">
            <a:avLst/>
          </a:prstGeom>
          <a:noFill/>
          <a:ln/>
        </p:spPr>
        <p:txBody>
          <a:bodyPr wrap="square" rtlCol="0" anchor="ctr"/>
          <a:lstStyle/>
          <a:p>
            <a:pPr indent="0" marL="0">
              <a:lnSpc>
                <a:spcPct val="130000"/>
              </a:lnSpc>
              <a:buNone/>
            </a:pPr>
            <a:r>
              <a:rPr lang="en-US" sz="1200" dirty="0">
                <a:solidFill>
                  <a:srgbClr val="8E89A6"/>
                </a:solidFill>
                <a:latin typeface="Calibri" pitchFamily="34" charset="0"/>
                <a:ea typeface="Calibri" pitchFamily="34" charset="-122"/>
                <a:cs typeface="Calibri" pitchFamily="34" charset="-120"/>
              </a:rPr>
              <a:t>MAU plausível em 3 anos (5% do SAM)</a:t>
            </a:r>
            <a:endParaRPr lang="en-US" sz="1200" dirty="0"/>
          </a:p>
        </p:txBody>
      </p:sp>
      <p:sp>
        <p:nvSpPr>
          <p:cNvPr id="16" name="Text 14"/>
          <p:cNvSpPr/>
          <p:nvPr/>
        </p:nvSpPr>
        <p:spPr>
          <a:xfrm>
            <a:off x="548640" y="5897880"/>
            <a:ext cx="10972800" cy="365760"/>
          </a:xfrm>
          <a:prstGeom prst="rect">
            <a:avLst/>
          </a:prstGeom>
          <a:noFill/>
          <a:ln/>
        </p:spPr>
        <p:txBody>
          <a:bodyPr wrap="square" rtlCol="0" anchor="ctr"/>
          <a:lstStyle/>
          <a:p>
            <a:pPr indent="0" marL="0">
              <a:buNone/>
            </a:pPr>
            <a:r>
              <a:rPr lang="en-US" sz="1300" i="1" dirty="0">
                <a:solidFill>
                  <a:srgbClr val="8E89A6"/>
                </a:solidFill>
                <a:latin typeface="Calibri" pitchFamily="34" charset="0"/>
                <a:ea typeface="Calibri" pitchFamily="34" charset="-122"/>
                <a:cs typeface="Calibri" pitchFamily="34" charset="-120"/>
              </a:rPr>
              <a:t>Mercado de estágios ativo: 800K vagas / 50K trainees abertos por ano.</a:t>
            </a:r>
            <a:endParaRPr lang="en-US" sz="1300" dirty="0"/>
          </a:p>
        </p:txBody>
      </p:sp>
      <p:sp>
        <p:nvSpPr>
          <p:cNvPr id="17" name="Text 15"/>
          <p:cNvSpPr/>
          <p:nvPr/>
        </p:nvSpPr>
        <p:spPr>
          <a:xfrm>
            <a:off x="548640" y="6355080"/>
            <a:ext cx="3657600" cy="274320"/>
          </a:xfrm>
          <a:prstGeom prst="rect">
            <a:avLst/>
          </a:prstGeom>
          <a:noFill/>
          <a:ln/>
        </p:spPr>
        <p:txBody>
          <a:bodyPr wrap="square" rtlCol="0" anchor="ctr"/>
          <a:lstStyle/>
          <a:p>
            <a:pPr indent="0" marL="0">
              <a:buNone/>
            </a:pPr>
            <a:r>
              <a:rPr lang="en-US" sz="900" spc="300" kern="0" dirty="0">
                <a:solidFill>
                  <a:srgbClr val="564F71"/>
                </a:solidFill>
                <a:latin typeface="Calibri" pitchFamily="34" charset="0"/>
                <a:ea typeface="Calibri" pitchFamily="34" charset="-122"/>
                <a:cs typeface="Calibri" pitchFamily="34" charset="-120"/>
              </a:rPr>
              <a:t>HIRLY · CONFIDENCIAL</a:t>
            </a:r>
            <a:endParaRPr lang="en-US" sz="900" dirty="0"/>
          </a:p>
        </p:txBody>
      </p:sp>
      <p:sp>
        <p:nvSpPr>
          <p:cNvPr id="18" name="Text 16"/>
          <p:cNvSpPr/>
          <p:nvPr/>
        </p:nvSpPr>
        <p:spPr>
          <a:xfrm>
            <a:off x="10972800" y="6355080"/>
            <a:ext cx="1097280" cy="274320"/>
          </a:xfrm>
          <a:prstGeom prst="rect">
            <a:avLst/>
          </a:prstGeom>
          <a:noFill/>
          <a:ln/>
        </p:spPr>
        <p:txBody>
          <a:bodyPr wrap="square" rtlCol="0" anchor="ctr"/>
          <a:lstStyle/>
          <a:p>
            <a:pPr algn="r" indent="0" marL="0">
              <a:buNone/>
            </a:pPr>
            <a:r>
              <a:rPr lang="en-US" sz="900" spc="300" kern="0" dirty="0">
                <a:solidFill>
                  <a:srgbClr val="564F71"/>
                </a:solidFill>
                <a:latin typeface="Calibri" pitchFamily="34" charset="0"/>
                <a:ea typeface="Calibri" pitchFamily="34" charset="-122"/>
                <a:cs typeface="Calibri" pitchFamily="34" charset="-120"/>
              </a:rPr>
              <a:t>03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40E"/>
        </a:solidFill>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indent="0" marL="0">
              <a:buNone/>
            </a:pPr>
            <a:r>
              <a:rPr lang="en-US" sz="1000" b="1" spc="400" kern="0" dirty="0">
                <a:solidFill>
                  <a:srgbClr val="22D3EE"/>
                </a:solidFill>
                <a:latin typeface="Calibri" pitchFamily="34" charset="0"/>
                <a:ea typeface="Calibri" pitchFamily="34" charset="-122"/>
                <a:cs typeface="Calibri" pitchFamily="34" charset="-120"/>
              </a:rPr>
              <a:t>03 · SOLUÇÃO</a:t>
            </a:r>
            <a:endParaRPr lang="en-US" sz="1000" dirty="0"/>
          </a:p>
        </p:txBody>
      </p:sp>
      <p:sp>
        <p:nvSpPr>
          <p:cNvPr id="3" name="Text 1"/>
          <p:cNvSpPr/>
          <p:nvPr/>
        </p:nvSpPr>
        <p:spPr>
          <a:xfrm>
            <a:off x="548640" y="777240"/>
            <a:ext cx="10515600" cy="1554480"/>
          </a:xfrm>
          <a:prstGeom prst="rect">
            <a:avLst/>
          </a:prstGeom>
          <a:noFill/>
          <a:ln/>
        </p:spPr>
        <p:txBody>
          <a:bodyPr wrap="square" rtlCol="0" anchor="ctr"/>
          <a:lstStyle/>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Hirly. Mobile-first.</a:t>
            </a:r>
            <a:endParaRPr lang="en-US" sz="3800" dirty="0"/>
          </a:p>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Swipe-native. IA-assistido.</a:t>
            </a:r>
            <a:endParaRPr lang="en-US" sz="3800" dirty="0"/>
          </a:p>
        </p:txBody>
      </p:sp>
      <p:sp>
        <p:nvSpPr>
          <p:cNvPr id="4" name="Shape 2"/>
          <p:cNvSpPr/>
          <p:nvPr/>
        </p:nvSpPr>
        <p:spPr>
          <a:xfrm>
            <a:off x="548640" y="2743200"/>
            <a:ext cx="5440680" cy="1508760"/>
          </a:xfrm>
          <a:prstGeom prst="roundRect">
            <a:avLst>
              <a:gd name="adj" fmla="val 7273"/>
            </a:avLst>
          </a:prstGeom>
          <a:solidFill>
            <a:srgbClr val="14101E"/>
          </a:solidFill>
          <a:ln w="12700">
            <a:solidFill>
              <a:srgbClr val="231A38"/>
            </a:solidFill>
            <a:prstDash val="solid"/>
          </a:ln>
        </p:spPr>
      </p:sp>
      <p:sp>
        <p:nvSpPr>
          <p:cNvPr id="5" name="Text 3"/>
          <p:cNvSpPr/>
          <p:nvPr/>
        </p:nvSpPr>
        <p:spPr>
          <a:xfrm>
            <a:off x="822960" y="2971800"/>
            <a:ext cx="640080" cy="914400"/>
          </a:xfrm>
          <a:prstGeom prst="rect">
            <a:avLst/>
          </a:prstGeom>
          <a:noFill/>
          <a:ln/>
        </p:spPr>
        <p:txBody>
          <a:bodyPr wrap="square" rtlCol="0" anchor="ctr"/>
          <a:lstStyle/>
          <a:p>
            <a:pPr indent="0" marL="0">
              <a:buNone/>
            </a:pPr>
            <a:r>
              <a:rPr lang="en-US" sz="3600" b="1" dirty="0">
                <a:solidFill>
                  <a:srgbClr val="7B5CFF"/>
                </a:solidFill>
                <a:latin typeface="Calibri" pitchFamily="34" charset="0"/>
                <a:ea typeface="Calibri" pitchFamily="34" charset="-122"/>
                <a:cs typeface="Calibri" pitchFamily="34" charset="-120"/>
              </a:rPr>
              <a:t>①</a:t>
            </a:r>
            <a:endParaRPr lang="en-US" sz="3600" dirty="0"/>
          </a:p>
        </p:txBody>
      </p:sp>
      <p:sp>
        <p:nvSpPr>
          <p:cNvPr id="6" name="Text 4"/>
          <p:cNvSpPr/>
          <p:nvPr/>
        </p:nvSpPr>
        <p:spPr>
          <a:xfrm>
            <a:off x="1508760" y="2907792"/>
            <a:ext cx="4297680" cy="411480"/>
          </a:xfrm>
          <a:prstGeom prst="rect">
            <a:avLst/>
          </a:prstGeom>
          <a:noFill/>
          <a:ln/>
        </p:spPr>
        <p:txBody>
          <a:bodyPr wrap="square" rtlCol="0" anchor="ctr"/>
          <a:lstStyle/>
          <a:p>
            <a:pPr indent="0" marL="0">
              <a:buNone/>
            </a:pPr>
            <a:r>
              <a:rPr lang="en-US" sz="1600" b="1" spc="-40" kern="0" dirty="0">
                <a:solidFill>
                  <a:srgbClr val="F4F2FA"/>
                </a:solidFill>
                <a:latin typeface="Calibri" pitchFamily="34" charset="0"/>
                <a:ea typeface="Calibri" pitchFamily="34" charset="-122"/>
                <a:cs typeface="Calibri" pitchFamily="34" charset="-120"/>
              </a:rPr>
              <a:t>Onboarding 60s + IA</a:t>
            </a:r>
            <a:endParaRPr lang="en-US" sz="1600" dirty="0"/>
          </a:p>
        </p:txBody>
      </p:sp>
      <p:sp>
        <p:nvSpPr>
          <p:cNvPr id="7" name="Text 5"/>
          <p:cNvSpPr/>
          <p:nvPr/>
        </p:nvSpPr>
        <p:spPr>
          <a:xfrm>
            <a:off x="1508760" y="3337560"/>
            <a:ext cx="4297680" cy="914400"/>
          </a:xfrm>
          <a:prstGeom prst="rect">
            <a:avLst/>
          </a:prstGeom>
          <a:noFill/>
          <a:ln/>
        </p:spPr>
        <p:txBody>
          <a:bodyPr wrap="square" rtlCol="0" anchor="ctr"/>
          <a:lstStyle/>
          <a:p>
            <a:pPr indent="0" marL="0">
              <a:lnSpc>
                <a:spcPct val="130000"/>
              </a:lnSpc>
              <a:buNone/>
            </a:pPr>
            <a:r>
              <a:rPr lang="en-US" sz="1150" dirty="0">
                <a:solidFill>
                  <a:srgbClr val="8E89A6"/>
                </a:solidFill>
                <a:latin typeface="Calibri" pitchFamily="34" charset="0"/>
                <a:ea typeface="Calibri" pitchFamily="34" charset="-122"/>
                <a:cs typeface="Calibri" pitchFamily="34" charset="-120"/>
              </a:rPr>
              <a:t>Sobe o CV em PDF. Claude extrai nome, curso, skills, idiomas, experiências. Confirma campos com 1 tap.</a:t>
            </a:r>
            <a:endParaRPr lang="en-US" sz="1150" dirty="0"/>
          </a:p>
        </p:txBody>
      </p:sp>
      <p:sp>
        <p:nvSpPr>
          <p:cNvPr id="8" name="Shape 6"/>
          <p:cNvSpPr/>
          <p:nvPr/>
        </p:nvSpPr>
        <p:spPr>
          <a:xfrm>
            <a:off x="6172200" y="2743200"/>
            <a:ext cx="5440680" cy="1508760"/>
          </a:xfrm>
          <a:prstGeom prst="roundRect">
            <a:avLst>
              <a:gd name="adj" fmla="val 7273"/>
            </a:avLst>
          </a:prstGeom>
          <a:solidFill>
            <a:srgbClr val="14101E"/>
          </a:solidFill>
          <a:ln w="12700">
            <a:solidFill>
              <a:srgbClr val="231A38"/>
            </a:solidFill>
            <a:prstDash val="solid"/>
          </a:ln>
        </p:spPr>
      </p:sp>
      <p:sp>
        <p:nvSpPr>
          <p:cNvPr id="9" name="Text 7"/>
          <p:cNvSpPr/>
          <p:nvPr/>
        </p:nvSpPr>
        <p:spPr>
          <a:xfrm>
            <a:off x="6446520" y="2971800"/>
            <a:ext cx="640080" cy="914400"/>
          </a:xfrm>
          <a:prstGeom prst="rect">
            <a:avLst/>
          </a:prstGeom>
          <a:noFill/>
          <a:ln/>
        </p:spPr>
        <p:txBody>
          <a:bodyPr wrap="square" rtlCol="0" anchor="ctr"/>
          <a:lstStyle/>
          <a:p>
            <a:pPr indent="0" marL="0">
              <a:buNone/>
            </a:pPr>
            <a:r>
              <a:rPr lang="en-US" sz="3600" b="1" dirty="0">
                <a:solidFill>
                  <a:srgbClr val="7B5CFF"/>
                </a:solidFill>
                <a:latin typeface="Calibri" pitchFamily="34" charset="0"/>
                <a:ea typeface="Calibri" pitchFamily="34" charset="-122"/>
                <a:cs typeface="Calibri" pitchFamily="34" charset="-120"/>
              </a:rPr>
              <a:t>②</a:t>
            </a:r>
            <a:endParaRPr lang="en-US" sz="3600" dirty="0"/>
          </a:p>
        </p:txBody>
      </p:sp>
      <p:sp>
        <p:nvSpPr>
          <p:cNvPr id="10" name="Text 8"/>
          <p:cNvSpPr/>
          <p:nvPr/>
        </p:nvSpPr>
        <p:spPr>
          <a:xfrm>
            <a:off x="7132320" y="2907792"/>
            <a:ext cx="4297680" cy="411480"/>
          </a:xfrm>
          <a:prstGeom prst="rect">
            <a:avLst/>
          </a:prstGeom>
          <a:noFill/>
          <a:ln/>
        </p:spPr>
        <p:txBody>
          <a:bodyPr wrap="square" rtlCol="0" anchor="ctr"/>
          <a:lstStyle/>
          <a:p>
            <a:pPr indent="0" marL="0">
              <a:buNone/>
            </a:pPr>
            <a:r>
              <a:rPr lang="en-US" sz="1600" b="1" spc="-40" kern="0" dirty="0">
                <a:solidFill>
                  <a:srgbClr val="F4F2FA"/>
                </a:solidFill>
                <a:latin typeface="Calibri" pitchFamily="34" charset="0"/>
                <a:ea typeface="Calibri" pitchFamily="34" charset="-122"/>
                <a:cs typeface="Calibri" pitchFamily="34" charset="-120"/>
              </a:rPr>
              <a:t>Feed swipe vertical</a:t>
            </a:r>
            <a:endParaRPr lang="en-US" sz="1600" dirty="0"/>
          </a:p>
        </p:txBody>
      </p:sp>
      <p:sp>
        <p:nvSpPr>
          <p:cNvPr id="11" name="Text 9"/>
          <p:cNvSpPr/>
          <p:nvPr/>
        </p:nvSpPr>
        <p:spPr>
          <a:xfrm>
            <a:off x="7132320" y="3337560"/>
            <a:ext cx="4297680" cy="914400"/>
          </a:xfrm>
          <a:prstGeom prst="rect">
            <a:avLst/>
          </a:prstGeom>
          <a:noFill/>
          <a:ln/>
        </p:spPr>
        <p:txBody>
          <a:bodyPr wrap="square" rtlCol="0" anchor="ctr"/>
          <a:lstStyle/>
          <a:p>
            <a:pPr indent="0" marL="0">
              <a:lnSpc>
                <a:spcPct val="130000"/>
              </a:lnSpc>
              <a:buNone/>
            </a:pPr>
            <a:r>
              <a:rPr lang="en-US" sz="1150" dirty="0">
                <a:solidFill>
                  <a:srgbClr val="8E89A6"/>
                </a:solidFill>
                <a:latin typeface="Calibri" pitchFamily="34" charset="0"/>
                <a:ea typeface="Calibri" pitchFamily="34" charset="-122"/>
                <a:cs typeface="Calibri" pitchFamily="34" charset="-120"/>
              </a:rPr>
              <a:t>TikTok pra vagas. Match score visível (0–100). Double-tap pra curtir. Swipe pra próxima. Candidatura num toque.</a:t>
            </a:r>
            <a:endParaRPr lang="en-US" sz="1150" dirty="0"/>
          </a:p>
        </p:txBody>
      </p:sp>
      <p:sp>
        <p:nvSpPr>
          <p:cNvPr id="12" name="Shape 10"/>
          <p:cNvSpPr/>
          <p:nvPr/>
        </p:nvSpPr>
        <p:spPr>
          <a:xfrm>
            <a:off x="548640" y="4434840"/>
            <a:ext cx="5440680" cy="1508760"/>
          </a:xfrm>
          <a:prstGeom prst="roundRect">
            <a:avLst>
              <a:gd name="adj" fmla="val 7273"/>
            </a:avLst>
          </a:prstGeom>
          <a:solidFill>
            <a:srgbClr val="14101E"/>
          </a:solidFill>
          <a:ln w="12700">
            <a:solidFill>
              <a:srgbClr val="231A38"/>
            </a:solidFill>
            <a:prstDash val="solid"/>
          </a:ln>
        </p:spPr>
      </p:sp>
      <p:sp>
        <p:nvSpPr>
          <p:cNvPr id="13" name="Text 11"/>
          <p:cNvSpPr/>
          <p:nvPr/>
        </p:nvSpPr>
        <p:spPr>
          <a:xfrm>
            <a:off x="822960" y="4663440"/>
            <a:ext cx="640080" cy="914400"/>
          </a:xfrm>
          <a:prstGeom prst="rect">
            <a:avLst/>
          </a:prstGeom>
          <a:noFill/>
          <a:ln/>
        </p:spPr>
        <p:txBody>
          <a:bodyPr wrap="square" rtlCol="0" anchor="ctr"/>
          <a:lstStyle/>
          <a:p>
            <a:pPr indent="0" marL="0">
              <a:buNone/>
            </a:pPr>
            <a:r>
              <a:rPr lang="en-US" sz="3600" b="1" dirty="0">
                <a:solidFill>
                  <a:srgbClr val="7B5CFF"/>
                </a:solidFill>
                <a:latin typeface="Calibri" pitchFamily="34" charset="0"/>
                <a:ea typeface="Calibri" pitchFamily="34" charset="-122"/>
                <a:cs typeface="Calibri" pitchFamily="34" charset="-120"/>
              </a:rPr>
              <a:t>③</a:t>
            </a:r>
            <a:endParaRPr lang="en-US" sz="3600" dirty="0"/>
          </a:p>
        </p:txBody>
      </p:sp>
      <p:sp>
        <p:nvSpPr>
          <p:cNvPr id="14" name="Text 12"/>
          <p:cNvSpPr/>
          <p:nvPr/>
        </p:nvSpPr>
        <p:spPr>
          <a:xfrm>
            <a:off x="1508760" y="4599432"/>
            <a:ext cx="4297680" cy="411480"/>
          </a:xfrm>
          <a:prstGeom prst="rect">
            <a:avLst/>
          </a:prstGeom>
          <a:noFill/>
          <a:ln/>
        </p:spPr>
        <p:txBody>
          <a:bodyPr wrap="square" rtlCol="0" anchor="ctr"/>
          <a:lstStyle/>
          <a:p>
            <a:pPr indent="0" marL="0">
              <a:buNone/>
            </a:pPr>
            <a:r>
              <a:rPr lang="en-US" sz="1600" b="1" spc="-40" kern="0" dirty="0">
                <a:solidFill>
                  <a:srgbClr val="F4F2FA"/>
                </a:solidFill>
                <a:latin typeface="Calibri" pitchFamily="34" charset="0"/>
                <a:ea typeface="Calibri" pitchFamily="34" charset="-122"/>
                <a:cs typeface="Calibri" pitchFamily="34" charset="-120"/>
              </a:rPr>
              <a:t>Suite de IA completa</a:t>
            </a:r>
            <a:endParaRPr lang="en-US" sz="1600" dirty="0"/>
          </a:p>
        </p:txBody>
      </p:sp>
      <p:sp>
        <p:nvSpPr>
          <p:cNvPr id="15" name="Text 13"/>
          <p:cNvSpPr/>
          <p:nvPr/>
        </p:nvSpPr>
        <p:spPr>
          <a:xfrm>
            <a:off x="1508760" y="5029200"/>
            <a:ext cx="4297680" cy="914400"/>
          </a:xfrm>
          <a:prstGeom prst="rect">
            <a:avLst/>
          </a:prstGeom>
          <a:noFill/>
          <a:ln/>
        </p:spPr>
        <p:txBody>
          <a:bodyPr wrap="square" rtlCol="0" anchor="ctr"/>
          <a:lstStyle/>
          <a:p>
            <a:pPr indent="0" marL="0">
              <a:lnSpc>
                <a:spcPct val="130000"/>
              </a:lnSpc>
              <a:buNone/>
            </a:pPr>
            <a:r>
              <a:rPr lang="en-US" sz="1150" dirty="0">
                <a:solidFill>
                  <a:srgbClr val="8E89A6"/>
                </a:solidFill>
                <a:latin typeface="Calibri" pitchFamily="34" charset="0"/>
                <a:ea typeface="Calibri" pitchFamily="34" charset="-122"/>
                <a:cs typeface="Calibri" pitchFamily="34" charset="-120"/>
              </a:rPr>
              <a:t>Match explainer · Pitch generator (cover letter + WhatsApp) · TLDR · Coach de CV · Mock interview · Red-flag detector.</a:t>
            </a:r>
            <a:endParaRPr lang="en-US" sz="1150" dirty="0"/>
          </a:p>
        </p:txBody>
      </p:sp>
      <p:sp>
        <p:nvSpPr>
          <p:cNvPr id="16" name="Shape 14"/>
          <p:cNvSpPr/>
          <p:nvPr/>
        </p:nvSpPr>
        <p:spPr>
          <a:xfrm>
            <a:off x="6172200" y="4434840"/>
            <a:ext cx="5440680" cy="1508760"/>
          </a:xfrm>
          <a:prstGeom prst="roundRect">
            <a:avLst>
              <a:gd name="adj" fmla="val 7273"/>
            </a:avLst>
          </a:prstGeom>
          <a:solidFill>
            <a:srgbClr val="14101E"/>
          </a:solidFill>
          <a:ln w="12700">
            <a:solidFill>
              <a:srgbClr val="231A38"/>
            </a:solidFill>
            <a:prstDash val="solid"/>
          </a:ln>
        </p:spPr>
      </p:sp>
      <p:sp>
        <p:nvSpPr>
          <p:cNvPr id="17" name="Text 15"/>
          <p:cNvSpPr/>
          <p:nvPr/>
        </p:nvSpPr>
        <p:spPr>
          <a:xfrm>
            <a:off x="6446520" y="4663440"/>
            <a:ext cx="640080" cy="914400"/>
          </a:xfrm>
          <a:prstGeom prst="rect">
            <a:avLst/>
          </a:prstGeom>
          <a:noFill/>
          <a:ln/>
        </p:spPr>
        <p:txBody>
          <a:bodyPr wrap="square" rtlCol="0" anchor="ctr"/>
          <a:lstStyle/>
          <a:p>
            <a:pPr indent="0" marL="0">
              <a:buNone/>
            </a:pPr>
            <a:r>
              <a:rPr lang="en-US" sz="3600" b="1" dirty="0">
                <a:solidFill>
                  <a:srgbClr val="7B5CFF"/>
                </a:solidFill>
                <a:latin typeface="Calibri" pitchFamily="34" charset="0"/>
                <a:ea typeface="Calibri" pitchFamily="34" charset="-122"/>
                <a:cs typeface="Calibri" pitchFamily="34" charset="-120"/>
              </a:rPr>
              <a:t>④</a:t>
            </a:r>
            <a:endParaRPr lang="en-US" sz="3600" dirty="0"/>
          </a:p>
        </p:txBody>
      </p:sp>
      <p:sp>
        <p:nvSpPr>
          <p:cNvPr id="18" name="Text 16"/>
          <p:cNvSpPr/>
          <p:nvPr/>
        </p:nvSpPr>
        <p:spPr>
          <a:xfrm>
            <a:off x="7132320" y="4599432"/>
            <a:ext cx="4297680" cy="411480"/>
          </a:xfrm>
          <a:prstGeom prst="rect">
            <a:avLst/>
          </a:prstGeom>
          <a:noFill/>
          <a:ln/>
        </p:spPr>
        <p:txBody>
          <a:bodyPr wrap="square" rtlCol="0" anchor="ctr"/>
          <a:lstStyle/>
          <a:p>
            <a:pPr indent="0" marL="0">
              <a:buNone/>
            </a:pPr>
            <a:r>
              <a:rPr lang="en-US" sz="1600" b="1" spc="-40" kern="0" dirty="0">
                <a:solidFill>
                  <a:srgbClr val="F4F2FA"/>
                </a:solidFill>
                <a:latin typeface="Calibri" pitchFamily="34" charset="0"/>
                <a:ea typeface="Calibri" pitchFamily="34" charset="-122"/>
                <a:cs typeface="Calibri" pitchFamily="34" charset="-120"/>
              </a:rPr>
              <a:t>Curado pra 18–28 anos</a:t>
            </a:r>
            <a:endParaRPr lang="en-US" sz="1600" dirty="0"/>
          </a:p>
        </p:txBody>
      </p:sp>
      <p:sp>
        <p:nvSpPr>
          <p:cNvPr id="19" name="Text 17"/>
          <p:cNvSpPr/>
          <p:nvPr/>
        </p:nvSpPr>
        <p:spPr>
          <a:xfrm>
            <a:off x="7132320" y="5029200"/>
            <a:ext cx="4297680" cy="914400"/>
          </a:xfrm>
          <a:prstGeom prst="rect">
            <a:avLst/>
          </a:prstGeom>
          <a:noFill/>
          <a:ln/>
        </p:spPr>
        <p:txBody>
          <a:bodyPr wrap="square" rtlCol="0" anchor="ctr"/>
          <a:lstStyle/>
          <a:p>
            <a:pPr indent="0" marL="0">
              <a:lnSpc>
                <a:spcPct val="130000"/>
              </a:lnSpc>
              <a:buNone/>
            </a:pPr>
            <a:r>
              <a:rPr lang="en-US" sz="1150" dirty="0">
                <a:solidFill>
                  <a:srgbClr val="8E89A6"/>
                </a:solidFill>
                <a:latin typeface="Calibri" pitchFamily="34" charset="0"/>
                <a:ea typeface="Calibri" pitchFamily="34" charset="-122"/>
                <a:cs typeface="Calibri" pitchFamily="34" charset="-120"/>
              </a:rPr>
              <a:t>Só vagas de estágio, trainee e 1º emprego. Sem sênior. Sem vagas em SP que pedem 10 anos de XP pra "júnior".</a:t>
            </a:r>
            <a:endParaRPr lang="en-US" sz="1150" dirty="0"/>
          </a:p>
        </p:txBody>
      </p:sp>
      <p:sp>
        <p:nvSpPr>
          <p:cNvPr id="20" name="Text 18"/>
          <p:cNvSpPr/>
          <p:nvPr/>
        </p:nvSpPr>
        <p:spPr>
          <a:xfrm>
            <a:off x="548640" y="6355080"/>
            <a:ext cx="3657600" cy="274320"/>
          </a:xfrm>
          <a:prstGeom prst="rect">
            <a:avLst/>
          </a:prstGeom>
          <a:noFill/>
          <a:ln/>
        </p:spPr>
        <p:txBody>
          <a:bodyPr wrap="square" rtlCol="0" anchor="ctr"/>
          <a:lstStyle/>
          <a:p>
            <a:pPr indent="0" marL="0">
              <a:buNone/>
            </a:pPr>
            <a:r>
              <a:rPr lang="en-US" sz="900" spc="300" kern="0" dirty="0">
                <a:solidFill>
                  <a:srgbClr val="564F71"/>
                </a:solidFill>
                <a:latin typeface="Calibri" pitchFamily="34" charset="0"/>
                <a:ea typeface="Calibri" pitchFamily="34" charset="-122"/>
                <a:cs typeface="Calibri" pitchFamily="34" charset="-120"/>
              </a:rPr>
              <a:t>HIRLY · CONFIDENCIAL</a:t>
            </a:r>
            <a:endParaRPr lang="en-US" sz="900" dirty="0"/>
          </a:p>
        </p:txBody>
      </p:sp>
      <p:sp>
        <p:nvSpPr>
          <p:cNvPr id="21" name="Text 19"/>
          <p:cNvSpPr/>
          <p:nvPr/>
        </p:nvSpPr>
        <p:spPr>
          <a:xfrm>
            <a:off x="10972800" y="6355080"/>
            <a:ext cx="1097280" cy="274320"/>
          </a:xfrm>
          <a:prstGeom prst="rect">
            <a:avLst/>
          </a:prstGeom>
          <a:noFill/>
          <a:ln/>
        </p:spPr>
        <p:txBody>
          <a:bodyPr wrap="square" rtlCol="0" anchor="ctr"/>
          <a:lstStyle/>
          <a:p>
            <a:pPr algn="r" indent="0" marL="0">
              <a:buNone/>
            </a:pPr>
            <a:r>
              <a:rPr lang="en-US" sz="900" spc="300" kern="0" dirty="0">
                <a:solidFill>
                  <a:srgbClr val="564F71"/>
                </a:solidFill>
                <a:latin typeface="Calibri" pitchFamily="34" charset="0"/>
                <a:ea typeface="Calibri" pitchFamily="34" charset="-122"/>
                <a:cs typeface="Calibri" pitchFamily="34" charset="-120"/>
              </a:rPr>
              <a:t>04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40E"/>
        </a:solidFill>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indent="0" marL="0">
              <a:buNone/>
            </a:pPr>
            <a:r>
              <a:rPr lang="en-US" sz="1000" b="1" spc="400" kern="0" dirty="0">
                <a:solidFill>
                  <a:srgbClr val="22D3EE"/>
                </a:solidFill>
                <a:latin typeface="Calibri" pitchFamily="34" charset="0"/>
                <a:ea typeface="Calibri" pitchFamily="34" charset="-122"/>
                <a:cs typeface="Calibri" pitchFamily="34" charset="-120"/>
              </a:rPr>
              <a:t>04 · PRODUTO</a:t>
            </a:r>
            <a:endParaRPr lang="en-US" sz="1000" dirty="0"/>
          </a:p>
        </p:txBody>
      </p:sp>
      <p:sp>
        <p:nvSpPr>
          <p:cNvPr id="3" name="Text 1"/>
          <p:cNvSpPr/>
          <p:nvPr/>
        </p:nvSpPr>
        <p:spPr>
          <a:xfrm>
            <a:off x="548640" y="777240"/>
            <a:ext cx="10515600" cy="1554480"/>
          </a:xfrm>
          <a:prstGeom prst="rect">
            <a:avLst/>
          </a:prstGeom>
          <a:noFill/>
          <a:ln/>
        </p:spPr>
        <p:txBody>
          <a:bodyPr wrap="square" rtlCol="0" anchor="ctr"/>
          <a:lstStyle/>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Já tá pronto.</a:t>
            </a:r>
            <a:endParaRPr lang="en-US" sz="3800" dirty="0"/>
          </a:p>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Não é só slide.</a:t>
            </a:r>
            <a:endParaRPr lang="en-US" sz="3800" dirty="0"/>
          </a:p>
        </p:txBody>
      </p:sp>
      <p:sp>
        <p:nvSpPr>
          <p:cNvPr id="4" name="Shape 2"/>
          <p:cNvSpPr/>
          <p:nvPr/>
        </p:nvSpPr>
        <p:spPr>
          <a:xfrm>
            <a:off x="914400" y="2606040"/>
            <a:ext cx="3108960" cy="3657600"/>
          </a:xfrm>
          <a:prstGeom prst="roundRect">
            <a:avLst>
              <a:gd name="adj" fmla="val 10294"/>
            </a:avLst>
          </a:prstGeom>
          <a:solidFill>
            <a:srgbClr val="0F0A1F"/>
          </a:solidFill>
          <a:ln w="25400">
            <a:solidFill>
              <a:srgbClr val="7B5CFF"/>
            </a:solidFill>
            <a:prstDash val="solid"/>
          </a:ln>
        </p:spPr>
      </p:sp>
      <p:sp>
        <p:nvSpPr>
          <p:cNvPr id="5" name="Shape 3"/>
          <p:cNvSpPr/>
          <p:nvPr/>
        </p:nvSpPr>
        <p:spPr>
          <a:xfrm>
            <a:off x="1078992" y="2834640"/>
            <a:ext cx="2779776" cy="2103120"/>
          </a:xfrm>
          <a:prstGeom prst="roundRect">
            <a:avLst>
              <a:gd name="adj" fmla="val 8696"/>
            </a:avLst>
          </a:prstGeom>
          <a:solidFill>
            <a:srgbClr val="7B5CFF">
              <a:alpha val="70000"/>
            </a:srgbClr>
          </a:solidFill>
          <a:ln/>
        </p:spPr>
      </p:sp>
      <p:sp>
        <p:nvSpPr>
          <p:cNvPr id="6" name="Shape 4"/>
          <p:cNvSpPr/>
          <p:nvPr/>
        </p:nvSpPr>
        <p:spPr>
          <a:xfrm>
            <a:off x="2329891" y="2834640"/>
            <a:ext cx="1528877" cy="2103120"/>
          </a:xfrm>
          <a:prstGeom prst="roundRect">
            <a:avLst>
              <a:gd name="adj" fmla="val 11962"/>
            </a:avLst>
          </a:prstGeom>
          <a:solidFill>
            <a:srgbClr val="22D3EE">
              <a:alpha val="65000"/>
            </a:srgbClr>
          </a:solidFill>
          <a:ln/>
        </p:spPr>
      </p:sp>
      <p:sp>
        <p:nvSpPr>
          <p:cNvPr id="7" name="Text 5"/>
          <p:cNvSpPr/>
          <p:nvPr/>
        </p:nvSpPr>
        <p:spPr>
          <a:xfrm>
            <a:off x="1280160" y="3794760"/>
            <a:ext cx="2377440" cy="640080"/>
          </a:xfrm>
          <a:prstGeom prst="rect">
            <a:avLst/>
          </a:prstGeom>
          <a:noFill/>
          <a:ln/>
        </p:spPr>
        <p:txBody>
          <a:bodyPr wrap="square" rtlCol="0" anchor="ctr"/>
          <a:lstStyle/>
          <a:p>
            <a:pPr indent="0" marL="0">
              <a:buNone/>
            </a:pPr>
            <a:r>
              <a:rPr lang="en-US" sz="1300" b="1" spc="-30" kern="0" dirty="0">
                <a:solidFill>
                  <a:srgbClr val="F4F2FA"/>
                </a:solidFill>
                <a:latin typeface="Calibri" pitchFamily="34" charset="0"/>
                <a:ea typeface="Calibri" pitchFamily="34" charset="-122"/>
                <a:cs typeface="Calibri" pitchFamily="34" charset="-120"/>
              </a:rPr>
              <a:t>Estágio · Marketing</a:t>
            </a:r>
            <a:endParaRPr lang="en-US" sz="1300" dirty="0"/>
          </a:p>
          <a:p>
            <a:pPr indent="0" marL="0">
              <a:buNone/>
            </a:pPr>
            <a:r>
              <a:rPr lang="en-US" sz="1300" b="1" spc="-30" kern="0" dirty="0">
                <a:solidFill>
                  <a:srgbClr val="F4F2FA"/>
                </a:solidFill>
                <a:latin typeface="Calibri" pitchFamily="34" charset="0"/>
                <a:ea typeface="Calibri" pitchFamily="34" charset="-122"/>
                <a:cs typeface="Calibri" pitchFamily="34" charset="-120"/>
              </a:rPr>
              <a:t>Nubank · Remoto</a:t>
            </a:r>
            <a:endParaRPr lang="en-US" sz="1300" dirty="0"/>
          </a:p>
        </p:txBody>
      </p:sp>
      <p:sp>
        <p:nvSpPr>
          <p:cNvPr id="8" name="Shape 6"/>
          <p:cNvSpPr/>
          <p:nvPr/>
        </p:nvSpPr>
        <p:spPr>
          <a:xfrm>
            <a:off x="3108960" y="3108960"/>
            <a:ext cx="640080" cy="640080"/>
          </a:xfrm>
          <a:prstGeom prst="ellipse">
            <a:avLst/>
          </a:prstGeom>
          <a:ln w="50800">
            <a:solidFill>
              <a:srgbClr val="C7F94E"/>
            </a:solidFill>
            <a:prstDash val="solid"/>
          </a:ln>
        </p:spPr>
      </p:sp>
      <p:sp>
        <p:nvSpPr>
          <p:cNvPr id="9" name="Text 7"/>
          <p:cNvSpPr/>
          <p:nvPr/>
        </p:nvSpPr>
        <p:spPr>
          <a:xfrm>
            <a:off x="3108960" y="3172968"/>
            <a:ext cx="640080" cy="502920"/>
          </a:xfrm>
          <a:prstGeom prst="rect">
            <a:avLst/>
          </a:prstGeom>
          <a:noFill/>
          <a:ln/>
        </p:spPr>
        <p:txBody>
          <a:bodyPr wrap="square" rtlCol="0" anchor="ctr"/>
          <a:lstStyle/>
          <a:p>
            <a:pPr algn="ctr" indent="0" marL="0">
              <a:buNone/>
            </a:pPr>
            <a:r>
              <a:rPr lang="en-US" sz="1800" b="1" dirty="0">
                <a:solidFill>
                  <a:srgbClr val="C7F94E"/>
                </a:solidFill>
                <a:latin typeface="Calibri" pitchFamily="34" charset="0"/>
                <a:ea typeface="Calibri" pitchFamily="34" charset="-122"/>
                <a:cs typeface="Calibri" pitchFamily="34" charset="-120"/>
              </a:rPr>
              <a:t>92</a:t>
            </a:r>
            <a:endParaRPr lang="en-US" sz="1800" dirty="0"/>
          </a:p>
        </p:txBody>
      </p:sp>
      <p:sp>
        <p:nvSpPr>
          <p:cNvPr id="10" name="Text 8"/>
          <p:cNvSpPr/>
          <p:nvPr/>
        </p:nvSpPr>
        <p:spPr>
          <a:xfrm>
            <a:off x="1188720" y="5120640"/>
            <a:ext cx="2560320" cy="365760"/>
          </a:xfrm>
          <a:prstGeom prst="rect">
            <a:avLst/>
          </a:prstGeom>
          <a:noFill/>
          <a:ln/>
        </p:spPr>
        <p:txBody>
          <a:bodyPr wrap="square" rtlCol="0" anchor="ctr"/>
          <a:lstStyle/>
          <a:p>
            <a:pPr indent="0" marL="0">
              <a:buNone/>
            </a:pPr>
            <a:r>
              <a:rPr lang="en-US" sz="1200" b="1" dirty="0">
                <a:solidFill>
                  <a:srgbClr val="F4F2FA"/>
                </a:solidFill>
                <a:latin typeface="Calibri" pitchFamily="34" charset="0"/>
                <a:ea typeface="Calibri" pitchFamily="34" charset="-122"/>
                <a:cs typeface="Calibri" pitchFamily="34" charset="-120"/>
              </a:rPr>
              <a:t>R$ 2.500/mês · 6h/dia</a:t>
            </a:r>
            <a:endParaRPr lang="en-US" sz="1200" dirty="0"/>
          </a:p>
        </p:txBody>
      </p:sp>
      <p:sp>
        <p:nvSpPr>
          <p:cNvPr id="11" name="Shape 9"/>
          <p:cNvSpPr/>
          <p:nvPr/>
        </p:nvSpPr>
        <p:spPr>
          <a:xfrm>
            <a:off x="1188720" y="5486400"/>
            <a:ext cx="2560320" cy="109728"/>
          </a:xfrm>
          <a:prstGeom prst="roundRect">
            <a:avLst>
              <a:gd name="adj" fmla="val 33333"/>
            </a:avLst>
          </a:prstGeom>
          <a:solidFill>
            <a:srgbClr val="8E89A6">
              <a:alpha val="50000"/>
            </a:srgbClr>
          </a:solidFill>
          <a:ln/>
        </p:spPr>
      </p:sp>
      <p:sp>
        <p:nvSpPr>
          <p:cNvPr id="12" name="Shape 10"/>
          <p:cNvSpPr/>
          <p:nvPr/>
        </p:nvSpPr>
        <p:spPr>
          <a:xfrm>
            <a:off x="1188720" y="5715000"/>
            <a:ext cx="2103120" cy="109728"/>
          </a:xfrm>
          <a:prstGeom prst="roundRect">
            <a:avLst>
              <a:gd name="adj" fmla="val 33333"/>
            </a:avLst>
          </a:prstGeom>
          <a:solidFill>
            <a:srgbClr val="8E89A6">
              <a:alpha val="50000"/>
            </a:srgbClr>
          </a:solidFill>
          <a:ln/>
        </p:spPr>
      </p:sp>
      <p:sp>
        <p:nvSpPr>
          <p:cNvPr id="13" name="Shape 11"/>
          <p:cNvSpPr/>
          <p:nvPr/>
        </p:nvSpPr>
        <p:spPr>
          <a:xfrm>
            <a:off x="1188720" y="5943600"/>
            <a:ext cx="1645920" cy="109728"/>
          </a:xfrm>
          <a:prstGeom prst="roundRect">
            <a:avLst>
              <a:gd name="adj" fmla="val 33333"/>
            </a:avLst>
          </a:prstGeom>
          <a:solidFill>
            <a:srgbClr val="8E89A6">
              <a:alpha val="50000"/>
            </a:srgbClr>
          </a:solidFill>
          <a:ln/>
        </p:spPr>
      </p:sp>
      <p:sp>
        <p:nvSpPr>
          <p:cNvPr id="14" name="Shape 12"/>
          <p:cNvSpPr/>
          <p:nvPr/>
        </p:nvSpPr>
        <p:spPr>
          <a:xfrm>
            <a:off x="1188720" y="5623560"/>
            <a:ext cx="2560320" cy="411480"/>
          </a:xfrm>
          <a:prstGeom prst="roundRect">
            <a:avLst>
              <a:gd name="adj" fmla="val 48889"/>
            </a:avLst>
          </a:prstGeom>
          <a:solidFill>
            <a:srgbClr val="7B5CFF"/>
          </a:solidFill>
          <a:ln/>
        </p:spPr>
      </p:sp>
      <p:sp>
        <p:nvSpPr>
          <p:cNvPr id="15" name="Text 13"/>
          <p:cNvSpPr/>
          <p:nvPr/>
        </p:nvSpPr>
        <p:spPr>
          <a:xfrm>
            <a:off x="1188720" y="5623560"/>
            <a:ext cx="2560320" cy="411480"/>
          </a:xfrm>
          <a:prstGeom prst="rect">
            <a:avLst/>
          </a:prstGeom>
          <a:noFill/>
          <a:ln/>
        </p:spPr>
        <p:txBody>
          <a:bodyPr wrap="square" rtlCol="0" anchor="ctr"/>
          <a:lstStyle/>
          <a:p>
            <a:pPr algn="ctr" indent="0" marL="0">
              <a:buNone/>
            </a:pPr>
            <a:r>
              <a:rPr lang="en-US" sz="1200" b="1" dirty="0">
                <a:solidFill>
                  <a:srgbClr val="F4F2FA"/>
                </a:solidFill>
                <a:latin typeface="Calibri" pitchFamily="34" charset="0"/>
                <a:ea typeface="Calibri" pitchFamily="34" charset="-122"/>
                <a:cs typeface="Calibri" pitchFamily="34" charset="-120"/>
              </a:rPr>
              <a:t>Candidatar-se →</a:t>
            </a:r>
            <a:endParaRPr lang="en-US" sz="1200" dirty="0"/>
          </a:p>
        </p:txBody>
      </p:sp>
      <p:sp>
        <p:nvSpPr>
          <p:cNvPr id="16" name="Text 14"/>
          <p:cNvSpPr/>
          <p:nvPr/>
        </p:nvSpPr>
        <p:spPr>
          <a:xfrm>
            <a:off x="4572000" y="2606040"/>
            <a:ext cx="6858000" cy="365760"/>
          </a:xfrm>
          <a:prstGeom prst="rect">
            <a:avLst/>
          </a:prstGeom>
          <a:noFill/>
          <a:ln/>
        </p:spPr>
        <p:txBody>
          <a:bodyPr wrap="square" rtlCol="0" anchor="ctr"/>
          <a:lstStyle/>
          <a:p>
            <a:pPr indent="0" marL="0">
              <a:buNone/>
            </a:pPr>
            <a:r>
              <a:rPr lang="en-US" sz="1400" b="1" spc="-30" kern="0" dirty="0">
                <a:solidFill>
                  <a:srgbClr val="22D3EE"/>
                </a:solidFill>
                <a:latin typeface="Calibri" pitchFamily="34" charset="0"/>
                <a:ea typeface="Calibri" pitchFamily="34" charset="-122"/>
                <a:cs typeface="Calibri" pitchFamily="34" charset="-120"/>
              </a:rPr>
              <a:t>Status: alpha funcional, pronto pra TestFlight</a:t>
            </a:r>
            <a:endParaRPr lang="en-US" sz="1400" dirty="0"/>
          </a:p>
        </p:txBody>
      </p:sp>
      <p:sp>
        <p:nvSpPr>
          <p:cNvPr id="17" name="Text 15"/>
          <p:cNvSpPr/>
          <p:nvPr/>
        </p:nvSpPr>
        <p:spPr>
          <a:xfrm>
            <a:off x="4572000" y="3063240"/>
            <a:ext cx="6858000" cy="274320"/>
          </a:xfrm>
          <a:prstGeom prst="rect">
            <a:avLst/>
          </a:prstGeom>
          <a:noFill/>
          <a:ln/>
        </p:spPr>
        <p:txBody>
          <a:bodyPr wrap="square" rtlCol="0" anchor="ctr"/>
          <a:lstStyle/>
          <a:p>
            <a:pPr indent="0" marL="0">
              <a:buNone/>
            </a:pPr>
            <a:r>
              <a:rPr lang="en-US" sz="1250" dirty="0">
                <a:solidFill>
                  <a:srgbClr val="F4F2FA"/>
                </a:solidFill>
                <a:latin typeface="Calibri" pitchFamily="34" charset="0"/>
                <a:ea typeface="Calibri" pitchFamily="34" charset="-122"/>
                <a:cs typeface="Calibri" pitchFamily="34" charset="-120"/>
              </a:rPr>
              <a:t>✓  Auth completo (email/senha + verificação)</a:t>
            </a:r>
            <a:endParaRPr lang="en-US" sz="1250" dirty="0"/>
          </a:p>
        </p:txBody>
      </p:sp>
      <p:sp>
        <p:nvSpPr>
          <p:cNvPr id="18" name="Text 16"/>
          <p:cNvSpPr/>
          <p:nvPr/>
        </p:nvSpPr>
        <p:spPr>
          <a:xfrm>
            <a:off x="4572000" y="3355848"/>
            <a:ext cx="6858000" cy="274320"/>
          </a:xfrm>
          <a:prstGeom prst="rect">
            <a:avLst/>
          </a:prstGeom>
          <a:noFill/>
          <a:ln/>
        </p:spPr>
        <p:txBody>
          <a:bodyPr wrap="square" rtlCol="0" anchor="ctr"/>
          <a:lstStyle/>
          <a:p>
            <a:pPr indent="0" marL="0">
              <a:buNone/>
            </a:pPr>
            <a:r>
              <a:rPr lang="en-US" sz="1250" dirty="0">
                <a:solidFill>
                  <a:srgbClr val="F4F2FA"/>
                </a:solidFill>
                <a:latin typeface="Calibri" pitchFamily="34" charset="0"/>
                <a:ea typeface="Calibri" pitchFamily="34" charset="-122"/>
                <a:cs typeface="Calibri" pitchFamily="34" charset="-120"/>
              </a:rPr>
              <a:t>✓  Onboarding 6 telas com Design System v3</a:t>
            </a:r>
            <a:endParaRPr lang="en-US" sz="1250" dirty="0"/>
          </a:p>
        </p:txBody>
      </p:sp>
      <p:sp>
        <p:nvSpPr>
          <p:cNvPr id="19" name="Text 17"/>
          <p:cNvSpPr/>
          <p:nvPr/>
        </p:nvSpPr>
        <p:spPr>
          <a:xfrm>
            <a:off x="4572000" y="3648456"/>
            <a:ext cx="6858000" cy="274320"/>
          </a:xfrm>
          <a:prstGeom prst="rect">
            <a:avLst/>
          </a:prstGeom>
          <a:noFill/>
          <a:ln/>
        </p:spPr>
        <p:txBody>
          <a:bodyPr wrap="square" rtlCol="0" anchor="ctr"/>
          <a:lstStyle/>
          <a:p>
            <a:pPr indent="0" marL="0">
              <a:buNone/>
            </a:pPr>
            <a:r>
              <a:rPr lang="en-US" sz="1250" dirty="0">
                <a:solidFill>
                  <a:srgbClr val="F4F2FA"/>
                </a:solidFill>
                <a:latin typeface="Calibri" pitchFamily="34" charset="0"/>
                <a:ea typeface="Calibri" pitchFamily="34" charset="-122"/>
                <a:cs typeface="Calibri" pitchFamily="34" charset="-120"/>
              </a:rPr>
              <a:t>✓  CV upload pra Firebase Storage (resumable)</a:t>
            </a:r>
            <a:endParaRPr lang="en-US" sz="1250" dirty="0"/>
          </a:p>
        </p:txBody>
      </p:sp>
      <p:sp>
        <p:nvSpPr>
          <p:cNvPr id="20" name="Text 18"/>
          <p:cNvSpPr/>
          <p:nvPr/>
        </p:nvSpPr>
        <p:spPr>
          <a:xfrm>
            <a:off x="4572000" y="3941064"/>
            <a:ext cx="6858000" cy="274320"/>
          </a:xfrm>
          <a:prstGeom prst="rect">
            <a:avLst/>
          </a:prstGeom>
          <a:noFill/>
          <a:ln/>
        </p:spPr>
        <p:txBody>
          <a:bodyPr wrap="square" rtlCol="0" anchor="ctr"/>
          <a:lstStyle/>
          <a:p>
            <a:pPr indent="0" marL="0">
              <a:buNone/>
            </a:pPr>
            <a:r>
              <a:rPr lang="en-US" sz="1250" dirty="0">
                <a:solidFill>
                  <a:srgbClr val="F4F2FA"/>
                </a:solidFill>
                <a:latin typeface="Calibri" pitchFamily="34" charset="0"/>
                <a:ea typeface="Calibri" pitchFamily="34" charset="-122"/>
                <a:cs typeface="Calibri" pitchFamily="34" charset="-120"/>
              </a:rPr>
              <a:t>✓  CV parser IA (Claude Sonnet 4.6 via tool use)</a:t>
            </a:r>
            <a:endParaRPr lang="en-US" sz="1250" dirty="0"/>
          </a:p>
        </p:txBody>
      </p:sp>
      <p:sp>
        <p:nvSpPr>
          <p:cNvPr id="21" name="Text 19"/>
          <p:cNvSpPr/>
          <p:nvPr/>
        </p:nvSpPr>
        <p:spPr>
          <a:xfrm>
            <a:off x="4572000" y="4233672"/>
            <a:ext cx="6858000" cy="274320"/>
          </a:xfrm>
          <a:prstGeom prst="rect">
            <a:avLst/>
          </a:prstGeom>
          <a:noFill/>
          <a:ln/>
        </p:spPr>
        <p:txBody>
          <a:bodyPr wrap="square" rtlCol="0" anchor="ctr"/>
          <a:lstStyle/>
          <a:p>
            <a:pPr indent="0" marL="0">
              <a:buNone/>
            </a:pPr>
            <a:r>
              <a:rPr lang="en-US" sz="1250" dirty="0">
                <a:solidFill>
                  <a:srgbClr val="F4F2FA"/>
                </a:solidFill>
                <a:latin typeface="Calibri" pitchFamily="34" charset="0"/>
                <a:ea typeface="Calibri" pitchFamily="34" charset="-122"/>
                <a:cs typeface="Calibri" pitchFamily="34" charset="-120"/>
              </a:rPr>
              <a:t>✓  Feed swipe + match score animado 60fps</a:t>
            </a:r>
            <a:endParaRPr lang="en-US" sz="1250" dirty="0"/>
          </a:p>
        </p:txBody>
      </p:sp>
      <p:sp>
        <p:nvSpPr>
          <p:cNvPr id="22" name="Text 20"/>
          <p:cNvSpPr/>
          <p:nvPr/>
        </p:nvSpPr>
        <p:spPr>
          <a:xfrm>
            <a:off x="4572000" y="4526280"/>
            <a:ext cx="6858000" cy="274320"/>
          </a:xfrm>
          <a:prstGeom prst="rect">
            <a:avLst/>
          </a:prstGeom>
          <a:noFill/>
          <a:ln/>
        </p:spPr>
        <p:txBody>
          <a:bodyPr wrap="square" rtlCol="0" anchor="ctr"/>
          <a:lstStyle/>
          <a:p>
            <a:pPr indent="0" marL="0">
              <a:buNone/>
            </a:pPr>
            <a:r>
              <a:rPr lang="en-US" sz="1250" dirty="0">
                <a:solidFill>
                  <a:srgbClr val="F4F2FA"/>
                </a:solidFill>
                <a:latin typeface="Calibri" pitchFamily="34" charset="0"/>
                <a:ea typeface="Calibri" pitchFamily="34" charset="-122"/>
                <a:cs typeface="Calibri" pitchFamily="34" charset="-120"/>
              </a:rPr>
              <a:t>✓  Filtros, curtidas, candidaturas marcadas</a:t>
            </a:r>
            <a:endParaRPr lang="en-US" sz="1250" dirty="0"/>
          </a:p>
        </p:txBody>
      </p:sp>
      <p:sp>
        <p:nvSpPr>
          <p:cNvPr id="23" name="Text 21"/>
          <p:cNvSpPr/>
          <p:nvPr/>
        </p:nvSpPr>
        <p:spPr>
          <a:xfrm>
            <a:off x="4572000" y="4818888"/>
            <a:ext cx="6858000" cy="274320"/>
          </a:xfrm>
          <a:prstGeom prst="rect">
            <a:avLst/>
          </a:prstGeom>
          <a:noFill/>
          <a:ln/>
        </p:spPr>
        <p:txBody>
          <a:bodyPr wrap="square" rtlCol="0" anchor="ctr"/>
          <a:lstStyle/>
          <a:p>
            <a:pPr indent="0" marL="0">
              <a:buNone/>
            </a:pPr>
            <a:r>
              <a:rPr lang="en-US" sz="1250" dirty="0">
                <a:solidFill>
                  <a:srgbClr val="F4F2FA"/>
                </a:solidFill>
                <a:latin typeface="Calibri" pitchFamily="34" charset="0"/>
                <a:ea typeface="Calibri" pitchFamily="34" charset="-122"/>
                <a:cs typeface="Calibri" pitchFamily="34" charset="-120"/>
              </a:rPr>
              <a:t>✓  Match Priorities (required/important/nice)</a:t>
            </a:r>
            <a:endParaRPr lang="en-US" sz="1250" dirty="0"/>
          </a:p>
        </p:txBody>
      </p:sp>
      <p:sp>
        <p:nvSpPr>
          <p:cNvPr id="24" name="Text 22"/>
          <p:cNvSpPr/>
          <p:nvPr/>
        </p:nvSpPr>
        <p:spPr>
          <a:xfrm>
            <a:off x="4572000" y="5111496"/>
            <a:ext cx="6858000" cy="274320"/>
          </a:xfrm>
          <a:prstGeom prst="rect">
            <a:avLst/>
          </a:prstGeom>
          <a:noFill/>
          <a:ln/>
        </p:spPr>
        <p:txBody>
          <a:bodyPr wrap="square" rtlCol="0" anchor="ctr"/>
          <a:lstStyle/>
          <a:p>
            <a:pPr indent="0" marL="0">
              <a:buNone/>
            </a:pPr>
            <a:r>
              <a:rPr lang="en-US" sz="1250" dirty="0">
                <a:solidFill>
                  <a:srgbClr val="F4F2FA"/>
                </a:solidFill>
                <a:latin typeface="Calibri" pitchFamily="34" charset="0"/>
                <a:ea typeface="Calibri" pitchFamily="34" charset="-122"/>
                <a:cs typeface="Calibri" pitchFamily="34" charset="-120"/>
              </a:rPr>
              <a:t>✓  Suite IA: explainer · pitch · TLDR · coach · interview</a:t>
            </a:r>
            <a:endParaRPr lang="en-US" sz="1250" dirty="0"/>
          </a:p>
        </p:txBody>
      </p:sp>
      <p:sp>
        <p:nvSpPr>
          <p:cNvPr id="25" name="Text 23"/>
          <p:cNvSpPr/>
          <p:nvPr/>
        </p:nvSpPr>
        <p:spPr>
          <a:xfrm>
            <a:off x="4572000" y="5404104"/>
            <a:ext cx="6858000" cy="274320"/>
          </a:xfrm>
          <a:prstGeom prst="rect">
            <a:avLst/>
          </a:prstGeom>
          <a:noFill/>
          <a:ln/>
        </p:spPr>
        <p:txBody>
          <a:bodyPr wrap="square" rtlCol="0" anchor="ctr"/>
          <a:lstStyle/>
          <a:p>
            <a:pPr indent="0" marL="0">
              <a:buNone/>
            </a:pPr>
            <a:r>
              <a:rPr lang="en-US" sz="1250" dirty="0">
                <a:solidFill>
                  <a:srgbClr val="F4F2FA"/>
                </a:solidFill>
                <a:latin typeface="Calibri" pitchFamily="34" charset="0"/>
                <a:ea typeface="Calibri" pitchFamily="34" charset="-122"/>
                <a:cs typeface="Calibri" pitchFamily="34" charset="-120"/>
              </a:rPr>
              <a:t>✓  70+ vagas reais já no banco (Catho/Vagas/Gupy)</a:t>
            </a:r>
            <a:endParaRPr lang="en-US" sz="1250" dirty="0"/>
          </a:p>
        </p:txBody>
      </p:sp>
      <p:sp>
        <p:nvSpPr>
          <p:cNvPr id="26" name="Text 24"/>
          <p:cNvSpPr/>
          <p:nvPr/>
        </p:nvSpPr>
        <p:spPr>
          <a:xfrm>
            <a:off x="4572000" y="5696712"/>
            <a:ext cx="6858000" cy="274320"/>
          </a:xfrm>
          <a:prstGeom prst="rect">
            <a:avLst/>
          </a:prstGeom>
          <a:noFill/>
          <a:ln/>
        </p:spPr>
        <p:txBody>
          <a:bodyPr wrap="square" rtlCol="0" anchor="ctr"/>
          <a:lstStyle/>
          <a:p>
            <a:pPr indent="0" marL="0">
              <a:buNone/>
            </a:pPr>
            <a:r>
              <a:rPr lang="en-US" sz="1250" dirty="0">
                <a:solidFill>
                  <a:srgbClr val="F4F2FA"/>
                </a:solidFill>
                <a:latin typeface="Calibri" pitchFamily="34" charset="0"/>
                <a:ea typeface="Calibri" pitchFamily="34" charset="-122"/>
                <a:cs typeface="Calibri" pitchFamily="34" charset="-120"/>
              </a:rPr>
              <a:t>✓  Política de Privacidade + Termos LGPD</a:t>
            </a:r>
            <a:endParaRPr lang="en-US" sz="1250" dirty="0"/>
          </a:p>
        </p:txBody>
      </p:sp>
      <p:sp>
        <p:nvSpPr>
          <p:cNvPr id="27" name="Text 25"/>
          <p:cNvSpPr/>
          <p:nvPr/>
        </p:nvSpPr>
        <p:spPr>
          <a:xfrm>
            <a:off x="548640" y="6355080"/>
            <a:ext cx="3657600" cy="274320"/>
          </a:xfrm>
          <a:prstGeom prst="rect">
            <a:avLst/>
          </a:prstGeom>
          <a:noFill/>
          <a:ln/>
        </p:spPr>
        <p:txBody>
          <a:bodyPr wrap="square" rtlCol="0" anchor="ctr"/>
          <a:lstStyle/>
          <a:p>
            <a:pPr indent="0" marL="0">
              <a:buNone/>
            </a:pPr>
            <a:r>
              <a:rPr lang="en-US" sz="900" spc="300" kern="0" dirty="0">
                <a:solidFill>
                  <a:srgbClr val="564F71"/>
                </a:solidFill>
                <a:latin typeface="Calibri" pitchFamily="34" charset="0"/>
                <a:ea typeface="Calibri" pitchFamily="34" charset="-122"/>
                <a:cs typeface="Calibri" pitchFamily="34" charset="-120"/>
              </a:rPr>
              <a:t>HIRLY · CONFIDENCIAL</a:t>
            </a:r>
            <a:endParaRPr lang="en-US" sz="900" dirty="0"/>
          </a:p>
        </p:txBody>
      </p:sp>
      <p:sp>
        <p:nvSpPr>
          <p:cNvPr id="28" name="Text 26"/>
          <p:cNvSpPr/>
          <p:nvPr/>
        </p:nvSpPr>
        <p:spPr>
          <a:xfrm>
            <a:off x="10972800" y="6355080"/>
            <a:ext cx="1097280" cy="274320"/>
          </a:xfrm>
          <a:prstGeom prst="rect">
            <a:avLst/>
          </a:prstGeom>
          <a:noFill/>
          <a:ln/>
        </p:spPr>
        <p:txBody>
          <a:bodyPr wrap="square" rtlCol="0" anchor="ctr"/>
          <a:lstStyle/>
          <a:p>
            <a:pPr algn="r" indent="0" marL="0">
              <a:buNone/>
            </a:pPr>
            <a:r>
              <a:rPr lang="en-US" sz="900" spc="300" kern="0" dirty="0">
                <a:solidFill>
                  <a:srgbClr val="564F71"/>
                </a:solidFill>
                <a:latin typeface="Calibri" pitchFamily="34" charset="0"/>
                <a:ea typeface="Calibri" pitchFamily="34" charset="-122"/>
                <a:cs typeface="Calibri" pitchFamily="34" charset="-120"/>
              </a:rPr>
              <a:t>05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40E"/>
        </a:solidFill>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indent="0" marL="0">
              <a:buNone/>
            </a:pPr>
            <a:r>
              <a:rPr lang="en-US" sz="1000" b="1" spc="400" kern="0" dirty="0">
                <a:solidFill>
                  <a:srgbClr val="22D3EE"/>
                </a:solidFill>
                <a:latin typeface="Calibri" pitchFamily="34" charset="0"/>
                <a:ea typeface="Calibri" pitchFamily="34" charset="-122"/>
                <a:cs typeface="Calibri" pitchFamily="34" charset="-120"/>
              </a:rPr>
              <a:t>05 · COMPETIÇÃO</a:t>
            </a:r>
            <a:endParaRPr lang="en-US" sz="1000" dirty="0"/>
          </a:p>
        </p:txBody>
      </p:sp>
      <p:sp>
        <p:nvSpPr>
          <p:cNvPr id="3" name="Text 1"/>
          <p:cNvSpPr/>
          <p:nvPr/>
        </p:nvSpPr>
        <p:spPr>
          <a:xfrm>
            <a:off x="548640" y="777240"/>
            <a:ext cx="10515600" cy="1554480"/>
          </a:xfrm>
          <a:prstGeom prst="rect">
            <a:avLst/>
          </a:prstGeom>
          <a:noFill/>
          <a:ln/>
        </p:spPr>
        <p:txBody>
          <a:bodyPr wrap="square" rtlCol="0" anchor="ctr"/>
          <a:lstStyle/>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Ninguém faz tudo.</a:t>
            </a:r>
            <a:endParaRPr lang="en-US" sz="3800" dirty="0"/>
          </a:p>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E quem tenta, faz mal.</a:t>
            </a:r>
            <a:endParaRPr lang="en-US" sz="3800" dirty="0"/>
          </a:p>
        </p:txBody>
      </p:sp>
      <p:sp>
        <p:nvSpPr>
          <p:cNvPr id="4" name="Shape 2"/>
          <p:cNvSpPr/>
          <p:nvPr/>
        </p:nvSpPr>
        <p:spPr>
          <a:xfrm>
            <a:off x="548640" y="2697480"/>
            <a:ext cx="2834640" cy="384048"/>
          </a:xfrm>
          <a:prstGeom prst="rect">
            <a:avLst/>
          </a:prstGeom>
          <a:solidFill>
            <a:srgbClr val="07040E"/>
          </a:solidFill>
          <a:ln w="6350">
            <a:solidFill>
              <a:srgbClr val="231A38"/>
            </a:solidFill>
            <a:prstDash val="solid"/>
          </a:ln>
        </p:spPr>
      </p:sp>
      <p:sp>
        <p:nvSpPr>
          <p:cNvPr id="5" name="Text 3"/>
          <p:cNvSpPr/>
          <p:nvPr/>
        </p:nvSpPr>
        <p:spPr>
          <a:xfrm>
            <a:off x="685800" y="2697480"/>
            <a:ext cx="2560320" cy="384048"/>
          </a:xfrm>
          <a:prstGeom prst="rect">
            <a:avLst/>
          </a:prstGeom>
          <a:noFill/>
          <a:ln/>
        </p:spPr>
        <p:txBody>
          <a:bodyPr wrap="square" rtlCol="0" anchor="ctr"/>
          <a:lstStyle/>
          <a:p>
            <a:pPr algn="l" indent="0" marL="0">
              <a:buNone/>
            </a:pPr>
            <a:endParaRPr lang="en-US" sz="1150" dirty="0"/>
          </a:p>
        </p:txBody>
      </p:sp>
      <p:sp>
        <p:nvSpPr>
          <p:cNvPr id="6" name="Shape 4"/>
          <p:cNvSpPr/>
          <p:nvPr/>
        </p:nvSpPr>
        <p:spPr>
          <a:xfrm>
            <a:off x="3383280" y="2697480"/>
            <a:ext cx="1645920" cy="384048"/>
          </a:xfrm>
          <a:prstGeom prst="rect">
            <a:avLst/>
          </a:prstGeom>
          <a:solidFill>
            <a:srgbClr val="07040E"/>
          </a:solidFill>
          <a:ln w="6350">
            <a:solidFill>
              <a:srgbClr val="231A38"/>
            </a:solidFill>
            <a:prstDash val="solid"/>
          </a:ln>
        </p:spPr>
      </p:sp>
      <p:sp>
        <p:nvSpPr>
          <p:cNvPr id="7" name="Text 5"/>
          <p:cNvSpPr/>
          <p:nvPr/>
        </p:nvSpPr>
        <p:spPr>
          <a:xfrm>
            <a:off x="3520440" y="2697480"/>
            <a:ext cx="1371600" cy="384048"/>
          </a:xfrm>
          <a:prstGeom prst="rect">
            <a:avLst/>
          </a:prstGeom>
          <a:noFill/>
          <a:ln/>
        </p:spPr>
        <p:txBody>
          <a:bodyPr wrap="square" rtlCol="0" anchor="ctr"/>
          <a:lstStyle/>
          <a:p>
            <a:pPr algn="ctr" indent="0" marL="0">
              <a:buNone/>
            </a:pPr>
            <a:r>
              <a:rPr lang="en-US" sz="1150" b="1" spc="100" kern="0" dirty="0">
                <a:solidFill>
                  <a:srgbClr val="22D3EE"/>
                </a:solidFill>
                <a:latin typeface="Calibri" pitchFamily="34" charset="0"/>
                <a:ea typeface="Calibri" pitchFamily="34" charset="-122"/>
                <a:cs typeface="Calibri" pitchFamily="34" charset="-120"/>
              </a:rPr>
              <a:t>Hirly</a:t>
            </a:r>
            <a:endParaRPr lang="en-US" sz="1150" dirty="0"/>
          </a:p>
        </p:txBody>
      </p:sp>
      <p:sp>
        <p:nvSpPr>
          <p:cNvPr id="8" name="Shape 6"/>
          <p:cNvSpPr/>
          <p:nvPr/>
        </p:nvSpPr>
        <p:spPr>
          <a:xfrm>
            <a:off x="5029200" y="2697480"/>
            <a:ext cx="1645920" cy="384048"/>
          </a:xfrm>
          <a:prstGeom prst="rect">
            <a:avLst/>
          </a:prstGeom>
          <a:solidFill>
            <a:srgbClr val="07040E"/>
          </a:solidFill>
          <a:ln w="6350">
            <a:solidFill>
              <a:srgbClr val="231A38"/>
            </a:solidFill>
            <a:prstDash val="solid"/>
          </a:ln>
        </p:spPr>
      </p:sp>
      <p:sp>
        <p:nvSpPr>
          <p:cNvPr id="9" name="Text 7"/>
          <p:cNvSpPr/>
          <p:nvPr/>
        </p:nvSpPr>
        <p:spPr>
          <a:xfrm>
            <a:off x="5166360" y="2697480"/>
            <a:ext cx="1371600" cy="384048"/>
          </a:xfrm>
          <a:prstGeom prst="rect">
            <a:avLst/>
          </a:prstGeom>
          <a:noFill/>
          <a:ln/>
        </p:spPr>
        <p:txBody>
          <a:bodyPr wrap="square" rtlCol="0" anchor="ctr"/>
          <a:lstStyle/>
          <a:p>
            <a:pPr algn="ctr" indent="0" marL="0">
              <a:buNone/>
            </a:pPr>
            <a:r>
              <a:rPr lang="en-US" sz="1150" b="1" spc="100" kern="0" dirty="0">
                <a:solidFill>
                  <a:srgbClr val="F4F2FA"/>
                </a:solidFill>
                <a:latin typeface="Calibri" pitchFamily="34" charset="0"/>
                <a:ea typeface="Calibri" pitchFamily="34" charset="-122"/>
                <a:cs typeface="Calibri" pitchFamily="34" charset="-120"/>
              </a:rPr>
              <a:t>LinkedIn</a:t>
            </a:r>
            <a:endParaRPr lang="en-US" sz="1150" dirty="0"/>
          </a:p>
        </p:txBody>
      </p:sp>
      <p:sp>
        <p:nvSpPr>
          <p:cNvPr id="10" name="Shape 8"/>
          <p:cNvSpPr/>
          <p:nvPr/>
        </p:nvSpPr>
        <p:spPr>
          <a:xfrm>
            <a:off x="6675120" y="2697480"/>
            <a:ext cx="2011680" cy="384048"/>
          </a:xfrm>
          <a:prstGeom prst="rect">
            <a:avLst/>
          </a:prstGeom>
          <a:solidFill>
            <a:srgbClr val="07040E"/>
          </a:solidFill>
          <a:ln w="6350">
            <a:solidFill>
              <a:srgbClr val="231A38"/>
            </a:solidFill>
            <a:prstDash val="solid"/>
          </a:ln>
        </p:spPr>
      </p:sp>
      <p:sp>
        <p:nvSpPr>
          <p:cNvPr id="11" name="Text 9"/>
          <p:cNvSpPr/>
          <p:nvPr/>
        </p:nvSpPr>
        <p:spPr>
          <a:xfrm>
            <a:off x="6812280" y="2697480"/>
            <a:ext cx="1737360" cy="384048"/>
          </a:xfrm>
          <a:prstGeom prst="rect">
            <a:avLst/>
          </a:prstGeom>
          <a:noFill/>
          <a:ln/>
        </p:spPr>
        <p:txBody>
          <a:bodyPr wrap="square" rtlCol="0" anchor="ctr"/>
          <a:lstStyle/>
          <a:p>
            <a:pPr algn="ctr" indent="0" marL="0">
              <a:buNone/>
            </a:pPr>
            <a:r>
              <a:rPr lang="en-US" sz="1150" b="1" spc="100" kern="0" dirty="0">
                <a:solidFill>
                  <a:srgbClr val="F4F2FA"/>
                </a:solidFill>
                <a:latin typeface="Calibri" pitchFamily="34" charset="0"/>
                <a:ea typeface="Calibri" pitchFamily="34" charset="-122"/>
                <a:cs typeface="Calibri" pitchFamily="34" charset="-120"/>
              </a:rPr>
              <a:t>Catho/Vagas</a:t>
            </a:r>
            <a:endParaRPr lang="en-US" sz="1150" dirty="0"/>
          </a:p>
        </p:txBody>
      </p:sp>
      <p:sp>
        <p:nvSpPr>
          <p:cNvPr id="12" name="Shape 10"/>
          <p:cNvSpPr/>
          <p:nvPr/>
        </p:nvSpPr>
        <p:spPr>
          <a:xfrm>
            <a:off x="8686800" y="2697480"/>
            <a:ext cx="1645920" cy="384048"/>
          </a:xfrm>
          <a:prstGeom prst="rect">
            <a:avLst/>
          </a:prstGeom>
          <a:solidFill>
            <a:srgbClr val="07040E"/>
          </a:solidFill>
          <a:ln w="6350">
            <a:solidFill>
              <a:srgbClr val="231A38"/>
            </a:solidFill>
            <a:prstDash val="solid"/>
          </a:ln>
        </p:spPr>
      </p:sp>
      <p:sp>
        <p:nvSpPr>
          <p:cNvPr id="13" name="Text 11"/>
          <p:cNvSpPr/>
          <p:nvPr/>
        </p:nvSpPr>
        <p:spPr>
          <a:xfrm>
            <a:off x="8823960" y="2697480"/>
            <a:ext cx="1371600" cy="384048"/>
          </a:xfrm>
          <a:prstGeom prst="rect">
            <a:avLst/>
          </a:prstGeom>
          <a:noFill/>
          <a:ln/>
        </p:spPr>
        <p:txBody>
          <a:bodyPr wrap="square" rtlCol="0" anchor="ctr"/>
          <a:lstStyle/>
          <a:p>
            <a:pPr algn="ctr" indent="0" marL="0">
              <a:buNone/>
            </a:pPr>
            <a:r>
              <a:rPr lang="en-US" sz="1150" b="1" spc="100" kern="0" dirty="0">
                <a:solidFill>
                  <a:srgbClr val="F4F2FA"/>
                </a:solidFill>
                <a:latin typeface="Calibri" pitchFamily="34" charset="0"/>
                <a:ea typeface="Calibri" pitchFamily="34" charset="-122"/>
                <a:cs typeface="Calibri" pitchFamily="34" charset="-120"/>
              </a:rPr>
              <a:t>WhatsApp</a:t>
            </a:r>
            <a:endParaRPr lang="en-US" sz="1150" dirty="0"/>
          </a:p>
        </p:txBody>
      </p:sp>
      <p:sp>
        <p:nvSpPr>
          <p:cNvPr id="14" name="Shape 12"/>
          <p:cNvSpPr/>
          <p:nvPr/>
        </p:nvSpPr>
        <p:spPr>
          <a:xfrm>
            <a:off x="548640" y="3081528"/>
            <a:ext cx="2834640" cy="384048"/>
          </a:xfrm>
          <a:prstGeom prst="rect">
            <a:avLst/>
          </a:prstGeom>
          <a:solidFill>
            <a:srgbClr val="14101E"/>
          </a:solidFill>
          <a:ln w="6350">
            <a:solidFill>
              <a:srgbClr val="231A38"/>
            </a:solidFill>
            <a:prstDash val="solid"/>
          </a:ln>
        </p:spPr>
      </p:sp>
      <p:sp>
        <p:nvSpPr>
          <p:cNvPr id="15" name="Text 13"/>
          <p:cNvSpPr/>
          <p:nvPr/>
        </p:nvSpPr>
        <p:spPr>
          <a:xfrm>
            <a:off x="685800" y="3081528"/>
            <a:ext cx="2560320" cy="384048"/>
          </a:xfrm>
          <a:prstGeom prst="rect">
            <a:avLst/>
          </a:prstGeom>
          <a:noFill/>
          <a:ln/>
        </p:spPr>
        <p:txBody>
          <a:bodyPr wrap="square" rtlCol="0" anchor="ctr"/>
          <a:lstStyle/>
          <a:p>
            <a:pPr algn="l" indent="0" marL="0">
              <a:buNone/>
            </a:pPr>
            <a:r>
              <a:rPr lang="en-US" sz="1150" b="1" dirty="0">
                <a:solidFill>
                  <a:srgbClr val="F4F2FA"/>
                </a:solidFill>
                <a:latin typeface="Calibri" pitchFamily="34" charset="0"/>
                <a:ea typeface="Calibri" pitchFamily="34" charset="-122"/>
                <a:cs typeface="Calibri" pitchFamily="34" charset="-120"/>
              </a:rPr>
              <a:t>Feed swipe vertical</a:t>
            </a:r>
            <a:endParaRPr lang="en-US" sz="1150" dirty="0"/>
          </a:p>
        </p:txBody>
      </p:sp>
      <p:sp>
        <p:nvSpPr>
          <p:cNvPr id="16" name="Shape 14"/>
          <p:cNvSpPr/>
          <p:nvPr/>
        </p:nvSpPr>
        <p:spPr>
          <a:xfrm>
            <a:off x="3383280" y="3081528"/>
            <a:ext cx="1645920" cy="384048"/>
          </a:xfrm>
          <a:prstGeom prst="rect">
            <a:avLst/>
          </a:prstGeom>
          <a:solidFill>
            <a:srgbClr val="1A1230"/>
          </a:solidFill>
          <a:ln w="6350">
            <a:solidFill>
              <a:srgbClr val="231A38"/>
            </a:solidFill>
            <a:prstDash val="solid"/>
          </a:ln>
        </p:spPr>
      </p:sp>
      <p:sp>
        <p:nvSpPr>
          <p:cNvPr id="17" name="Text 15"/>
          <p:cNvSpPr/>
          <p:nvPr/>
        </p:nvSpPr>
        <p:spPr>
          <a:xfrm>
            <a:off x="3520440" y="3081528"/>
            <a:ext cx="1371600" cy="384048"/>
          </a:xfrm>
          <a:prstGeom prst="rect">
            <a:avLst/>
          </a:prstGeom>
          <a:noFill/>
          <a:ln/>
        </p:spPr>
        <p:txBody>
          <a:bodyPr wrap="square" rtlCol="0" anchor="ctr"/>
          <a:lstStyle/>
          <a:p>
            <a:pPr algn="ctr" indent="0" marL="0">
              <a:buNone/>
            </a:pPr>
            <a:r>
              <a:rPr lang="en-US" sz="1150" b="1" dirty="0">
                <a:solidFill>
                  <a:srgbClr val="C7F94E"/>
                </a:solidFill>
                <a:latin typeface="Calibri" pitchFamily="34" charset="0"/>
                <a:ea typeface="Calibri" pitchFamily="34" charset="-122"/>
                <a:cs typeface="Calibri" pitchFamily="34" charset="-120"/>
              </a:rPr>
              <a:t>sim</a:t>
            </a:r>
            <a:endParaRPr lang="en-US" sz="1150" dirty="0"/>
          </a:p>
        </p:txBody>
      </p:sp>
      <p:sp>
        <p:nvSpPr>
          <p:cNvPr id="18" name="Shape 16"/>
          <p:cNvSpPr/>
          <p:nvPr/>
        </p:nvSpPr>
        <p:spPr>
          <a:xfrm>
            <a:off x="5029200" y="3081528"/>
            <a:ext cx="1645920" cy="384048"/>
          </a:xfrm>
          <a:prstGeom prst="rect">
            <a:avLst/>
          </a:prstGeom>
          <a:solidFill>
            <a:srgbClr val="14101E"/>
          </a:solidFill>
          <a:ln w="6350">
            <a:solidFill>
              <a:srgbClr val="231A38"/>
            </a:solidFill>
            <a:prstDash val="solid"/>
          </a:ln>
        </p:spPr>
      </p:sp>
      <p:sp>
        <p:nvSpPr>
          <p:cNvPr id="19" name="Text 17"/>
          <p:cNvSpPr/>
          <p:nvPr/>
        </p:nvSpPr>
        <p:spPr>
          <a:xfrm>
            <a:off x="5166360" y="3081528"/>
            <a:ext cx="1371600" cy="384048"/>
          </a:xfrm>
          <a:prstGeom prst="rect">
            <a:avLst/>
          </a:prstGeom>
          <a:noFill/>
          <a:ln/>
        </p:spPr>
        <p:txBody>
          <a:bodyPr wrap="square" rtlCol="0" anchor="ctr"/>
          <a:lstStyle/>
          <a:p>
            <a:pPr algn="ctr" indent="0" marL="0">
              <a:buNone/>
            </a:pPr>
            <a:r>
              <a:rPr lang="en-US" sz="1150" dirty="0">
                <a:solidFill>
                  <a:srgbClr val="FB7185"/>
                </a:solidFill>
                <a:latin typeface="Calibri" pitchFamily="34" charset="0"/>
                <a:ea typeface="Calibri" pitchFamily="34" charset="-122"/>
                <a:cs typeface="Calibri" pitchFamily="34" charset="-120"/>
              </a:rPr>
              <a:t>não</a:t>
            </a:r>
            <a:endParaRPr lang="en-US" sz="1150" dirty="0"/>
          </a:p>
        </p:txBody>
      </p:sp>
      <p:sp>
        <p:nvSpPr>
          <p:cNvPr id="20" name="Shape 18"/>
          <p:cNvSpPr/>
          <p:nvPr/>
        </p:nvSpPr>
        <p:spPr>
          <a:xfrm>
            <a:off x="6675120" y="3081528"/>
            <a:ext cx="2011680" cy="384048"/>
          </a:xfrm>
          <a:prstGeom prst="rect">
            <a:avLst/>
          </a:prstGeom>
          <a:solidFill>
            <a:srgbClr val="14101E"/>
          </a:solidFill>
          <a:ln w="6350">
            <a:solidFill>
              <a:srgbClr val="231A38"/>
            </a:solidFill>
            <a:prstDash val="solid"/>
          </a:ln>
        </p:spPr>
      </p:sp>
      <p:sp>
        <p:nvSpPr>
          <p:cNvPr id="21" name="Text 19"/>
          <p:cNvSpPr/>
          <p:nvPr/>
        </p:nvSpPr>
        <p:spPr>
          <a:xfrm>
            <a:off x="6812280" y="3081528"/>
            <a:ext cx="1737360" cy="384048"/>
          </a:xfrm>
          <a:prstGeom prst="rect">
            <a:avLst/>
          </a:prstGeom>
          <a:noFill/>
          <a:ln/>
        </p:spPr>
        <p:txBody>
          <a:bodyPr wrap="square" rtlCol="0" anchor="ctr"/>
          <a:lstStyle/>
          <a:p>
            <a:pPr algn="ctr" indent="0" marL="0">
              <a:buNone/>
            </a:pPr>
            <a:r>
              <a:rPr lang="en-US" sz="1150" dirty="0">
                <a:solidFill>
                  <a:srgbClr val="FB7185"/>
                </a:solidFill>
                <a:latin typeface="Calibri" pitchFamily="34" charset="0"/>
                <a:ea typeface="Calibri" pitchFamily="34" charset="-122"/>
                <a:cs typeface="Calibri" pitchFamily="34" charset="-120"/>
              </a:rPr>
              <a:t>não</a:t>
            </a:r>
            <a:endParaRPr lang="en-US" sz="1150" dirty="0"/>
          </a:p>
        </p:txBody>
      </p:sp>
      <p:sp>
        <p:nvSpPr>
          <p:cNvPr id="22" name="Shape 20"/>
          <p:cNvSpPr/>
          <p:nvPr/>
        </p:nvSpPr>
        <p:spPr>
          <a:xfrm>
            <a:off x="8686800" y="3081528"/>
            <a:ext cx="1645920" cy="384048"/>
          </a:xfrm>
          <a:prstGeom prst="rect">
            <a:avLst/>
          </a:prstGeom>
          <a:solidFill>
            <a:srgbClr val="14101E"/>
          </a:solidFill>
          <a:ln w="6350">
            <a:solidFill>
              <a:srgbClr val="231A38"/>
            </a:solidFill>
            <a:prstDash val="solid"/>
          </a:ln>
        </p:spPr>
      </p:sp>
      <p:sp>
        <p:nvSpPr>
          <p:cNvPr id="23" name="Text 21"/>
          <p:cNvSpPr/>
          <p:nvPr/>
        </p:nvSpPr>
        <p:spPr>
          <a:xfrm>
            <a:off x="8823960" y="3081528"/>
            <a:ext cx="1371600" cy="384048"/>
          </a:xfrm>
          <a:prstGeom prst="rect">
            <a:avLst/>
          </a:prstGeom>
          <a:noFill/>
          <a:ln/>
        </p:spPr>
        <p:txBody>
          <a:bodyPr wrap="square" rtlCol="0" anchor="ctr"/>
          <a:lstStyle/>
          <a:p>
            <a:pPr algn="ctr" indent="0" marL="0">
              <a:buNone/>
            </a:pPr>
            <a:r>
              <a:rPr lang="en-US" sz="1150" dirty="0">
                <a:solidFill>
                  <a:srgbClr val="FB7185"/>
                </a:solidFill>
                <a:latin typeface="Calibri" pitchFamily="34" charset="0"/>
                <a:ea typeface="Calibri" pitchFamily="34" charset="-122"/>
                <a:cs typeface="Calibri" pitchFamily="34" charset="-120"/>
              </a:rPr>
              <a:t>não</a:t>
            </a:r>
            <a:endParaRPr lang="en-US" sz="1150" dirty="0"/>
          </a:p>
        </p:txBody>
      </p:sp>
      <p:sp>
        <p:nvSpPr>
          <p:cNvPr id="24" name="Shape 22"/>
          <p:cNvSpPr/>
          <p:nvPr/>
        </p:nvSpPr>
        <p:spPr>
          <a:xfrm>
            <a:off x="548640" y="3465576"/>
            <a:ext cx="2834640" cy="384048"/>
          </a:xfrm>
          <a:prstGeom prst="rect">
            <a:avLst/>
          </a:prstGeom>
          <a:solidFill>
            <a:srgbClr val="14101E"/>
          </a:solidFill>
          <a:ln w="6350">
            <a:solidFill>
              <a:srgbClr val="231A38"/>
            </a:solidFill>
            <a:prstDash val="solid"/>
          </a:ln>
        </p:spPr>
      </p:sp>
      <p:sp>
        <p:nvSpPr>
          <p:cNvPr id="25" name="Text 23"/>
          <p:cNvSpPr/>
          <p:nvPr/>
        </p:nvSpPr>
        <p:spPr>
          <a:xfrm>
            <a:off x="685800" y="3465576"/>
            <a:ext cx="2560320" cy="384048"/>
          </a:xfrm>
          <a:prstGeom prst="rect">
            <a:avLst/>
          </a:prstGeom>
          <a:noFill/>
          <a:ln/>
        </p:spPr>
        <p:txBody>
          <a:bodyPr wrap="square" rtlCol="0" anchor="ctr"/>
          <a:lstStyle/>
          <a:p>
            <a:pPr algn="l" indent="0" marL="0">
              <a:buNone/>
            </a:pPr>
            <a:r>
              <a:rPr lang="en-US" sz="1150" b="1" dirty="0">
                <a:solidFill>
                  <a:srgbClr val="F4F2FA"/>
                </a:solidFill>
                <a:latin typeface="Calibri" pitchFamily="34" charset="0"/>
                <a:ea typeface="Calibri" pitchFamily="34" charset="-122"/>
                <a:cs typeface="Calibri" pitchFamily="34" charset="-120"/>
              </a:rPr>
              <a:t>Match score visível</a:t>
            </a:r>
            <a:endParaRPr lang="en-US" sz="1150" dirty="0"/>
          </a:p>
        </p:txBody>
      </p:sp>
      <p:sp>
        <p:nvSpPr>
          <p:cNvPr id="26" name="Shape 24"/>
          <p:cNvSpPr/>
          <p:nvPr/>
        </p:nvSpPr>
        <p:spPr>
          <a:xfrm>
            <a:off x="3383280" y="3465576"/>
            <a:ext cx="1645920" cy="384048"/>
          </a:xfrm>
          <a:prstGeom prst="rect">
            <a:avLst/>
          </a:prstGeom>
          <a:solidFill>
            <a:srgbClr val="1A1230"/>
          </a:solidFill>
          <a:ln w="6350">
            <a:solidFill>
              <a:srgbClr val="231A38"/>
            </a:solidFill>
            <a:prstDash val="solid"/>
          </a:ln>
        </p:spPr>
      </p:sp>
      <p:sp>
        <p:nvSpPr>
          <p:cNvPr id="27" name="Text 25"/>
          <p:cNvSpPr/>
          <p:nvPr/>
        </p:nvSpPr>
        <p:spPr>
          <a:xfrm>
            <a:off x="3520440" y="3465576"/>
            <a:ext cx="1371600" cy="384048"/>
          </a:xfrm>
          <a:prstGeom prst="rect">
            <a:avLst/>
          </a:prstGeom>
          <a:noFill/>
          <a:ln/>
        </p:spPr>
        <p:txBody>
          <a:bodyPr wrap="square" rtlCol="0" anchor="ctr"/>
          <a:lstStyle/>
          <a:p>
            <a:pPr algn="ctr" indent="0" marL="0">
              <a:buNone/>
            </a:pPr>
            <a:r>
              <a:rPr lang="en-US" sz="1150" b="1" dirty="0">
                <a:solidFill>
                  <a:srgbClr val="C7F94E"/>
                </a:solidFill>
                <a:latin typeface="Calibri" pitchFamily="34" charset="0"/>
                <a:ea typeface="Calibri" pitchFamily="34" charset="-122"/>
                <a:cs typeface="Calibri" pitchFamily="34" charset="-120"/>
              </a:rPr>
              <a:t>sim</a:t>
            </a:r>
            <a:endParaRPr lang="en-US" sz="1150" dirty="0"/>
          </a:p>
        </p:txBody>
      </p:sp>
      <p:sp>
        <p:nvSpPr>
          <p:cNvPr id="28" name="Shape 26"/>
          <p:cNvSpPr/>
          <p:nvPr/>
        </p:nvSpPr>
        <p:spPr>
          <a:xfrm>
            <a:off x="5029200" y="3465576"/>
            <a:ext cx="1645920" cy="384048"/>
          </a:xfrm>
          <a:prstGeom prst="rect">
            <a:avLst/>
          </a:prstGeom>
          <a:solidFill>
            <a:srgbClr val="14101E"/>
          </a:solidFill>
          <a:ln w="6350">
            <a:solidFill>
              <a:srgbClr val="231A38"/>
            </a:solidFill>
            <a:prstDash val="solid"/>
          </a:ln>
        </p:spPr>
      </p:sp>
      <p:sp>
        <p:nvSpPr>
          <p:cNvPr id="29" name="Text 27"/>
          <p:cNvSpPr/>
          <p:nvPr/>
        </p:nvSpPr>
        <p:spPr>
          <a:xfrm>
            <a:off x="5166360" y="3465576"/>
            <a:ext cx="1371600" cy="384048"/>
          </a:xfrm>
          <a:prstGeom prst="rect">
            <a:avLst/>
          </a:prstGeom>
          <a:noFill/>
          <a:ln/>
        </p:spPr>
        <p:txBody>
          <a:bodyPr wrap="square" rtlCol="0" anchor="ctr"/>
          <a:lstStyle/>
          <a:p>
            <a:pPr algn="ctr" indent="0" marL="0">
              <a:buNone/>
            </a:pPr>
            <a:r>
              <a:rPr lang="en-US" sz="1150" dirty="0">
                <a:solidFill>
                  <a:srgbClr val="8E89A6"/>
                </a:solidFill>
                <a:latin typeface="Calibri" pitchFamily="34" charset="0"/>
                <a:ea typeface="Calibri" pitchFamily="34" charset="-122"/>
                <a:cs typeface="Calibri" pitchFamily="34" charset="-120"/>
              </a:rPr>
              <a:t>parcial</a:t>
            </a:r>
            <a:endParaRPr lang="en-US" sz="1150" dirty="0"/>
          </a:p>
        </p:txBody>
      </p:sp>
      <p:sp>
        <p:nvSpPr>
          <p:cNvPr id="30" name="Shape 28"/>
          <p:cNvSpPr/>
          <p:nvPr/>
        </p:nvSpPr>
        <p:spPr>
          <a:xfrm>
            <a:off x="6675120" y="3465576"/>
            <a:ext cx="2011680" cy="384048"/>
          </a:xfrm>
          <a:prstGeom prst="rect">
            <a:avLst/>
          </a:prstGeom>
          <a:solidFill>
            <a:srgbClr val="14101E"/>
          </a:solidFill>
          <a:ln w="6350">
            <a:solidFill>
              <a:srgbClr val="231A38"/>
            </a:solidFill>
            <a:prstDash val="solid"/>
          </a:ln>
        </p:spPr>
      </p:sp>
      <p:sp>
        <p:nvSpPr>
          <p:cNvPr id="31" name="Text 29"/>
          <p:cNvSpPr/>
          <p:nvPr/>
        </p:nvSpPr>
        <p:spPr>
          <a:xfrm>
            <a:off x="6812280" y="3465576"/>
            <a:ext cx="1737360" cy="384048"/>
          </a:xfrm>
          <a:prstGeom prst="rect">
            <a:avLst/>
          </a:prstGeom>
          <a:noFill/>
          <a:ln/>
        </p:spPr>
        <p:txBody>
          <a:bodyPr wrap="square" rtlCol="0" anchor="ctr"/>
          <a:lstStyle/>
          <a:p>
            <a:pPr algn="ctr" indent="0" marL="0">
              <a:buNone/>
            </a:pPr>
            <a:r>
              <a:rPr lang="en-US" sz="1150" dirty="0">
                <a:solidFill>
                  <a:srgbClr val="FB7185"/>
                </a:solidFill>
                <a:latin typeface="Calibri" pitchFamily="34" charset="0"/>
                <a:ea typeface="Calibri" pitchFamily="34" charset="-122"/>
                <a:cs typeface="Calibri" pitchFamily="34" charset="-120"/>
              </a:rPr>
              <a:t>não</a:t>
            </a:r>
            <a:endParaRPr lang="en-US" sz="1150" dirty="0"/>
          </a:p>
        </p:txBody>
      </p:sp>
      <p:sp>
        <p:nvSpPr>
          <p:cNvPr id="32" name="Shape 30"/>
          <p:cNvSpPr/>
          <p:nvPr/>
        </p:nvSpPr>
        <p:spPr>
          <a:xfrm>
            <a:off x="8686800" y="3465576"/>
            <a:ext cx="1645920" cy="384048"/>
          </a:xfrm>
          <a:prstGeom prst="rect">
            <a:avLst/>
          </a:prstGeom>
          <a:solidFill>
            <a:srgbClr val="14101E"/>
          </a:solidFill>
          <a:ln w="6350">
            <a:solidFill>
              <a:srgbClr val="231A38"/>
            </a:solidFill>
            <a:prstDash val="solid"/>
          </a:ln>
        </p:spPr>
      </p:sp>
      <p:sp>
        <p:nvSpPr>
          <p:cNvPr id="33" name="Text 31"/>
          <p:cNvSpPr/>
          <p:nvPr/>
        </p:nvSpPr>
        <p:spPr>
          <a:xfrm>
            <a:off x="8823960" y="3465576"/>
            <a:ext cx="1371600" cy="384048"/>
          </a:xfrm>
          <a:prstGeom prst="rect">
            <a:avLst/>
          </a:prstGeom>
          <a:noFill/>
          <a:ln/>
        </p:spPr>
        <p:txBody>
          <a:bodyPr wrap="square" rtlCol="0" anchor="ctr"/>
          <a:lstStyle/>
          <a:p>
            <a:pPr algn="ctr" indent="0" marL="0">
              <a:buNone/>
            </a:pPr>
            <a:r>
              <a:rPr lang="en-US" sz="1150" dirty="0">
                <a:solidFill>
                  <a:srgbClr val="FB7185"/>
                </a:solidFill>
                <a:latin typeface="Calibri" pitchFamily="34" charset="0"/>
                <a:ea typeface="Calibri" pitchFamily="34" charset="-122"/>
                <a:cs typeface="Calibri" pitchFamily="34" charset="-120"/>
              </a:rPr>
              <a:t>não</a:t>
            </a:r>
            <a:endParaRPr lang="en-US" sz="1150" dirty="0"/>
          </a:p>
        </p:txBody>
      </p:sp>
      <p:sp>
        <p:nvSpPr>
          <p:cNvPr id="34" name="Shape 32"/>
          <p:cNvSpPr/>
          <p:nvPr/>
        </p:nvSpPr>
        <p:spPr>
          <a:xfrm>
            <a:off x="548640" y="3849624"/>
            <a:ext cx="2834640" cy="384048"/>
          </a:xfrm>
          <a:prstGeom prst="rect">
            <a:avLst/>
          </a:prstGeom>
          <a:solidFill>
            <a:srgbClr val="14101E"/>
          </a:solidFill>
          <a:ln w="6350">
            <a:solidFill>
              <a:srgbClr val="231A38"/>
            </a:solidFill>
            <a:prstDash val="solid"/>
          </a:ln>
        </p:spPr>
      </p:sp>
      <p:sp>
        <p:nvSpPr>
          <p:cNvPr id="35" name="Text 33"/>
          <p:cNvSpPr/>
          <p:nvPr/>
        </p:nvSpPr>
        <p:spPr>
          <a:xfrm>
            <a:off x="685800" y="3849624"/>
            <a:ext cx="2560320" cy="384048"/>
          </a:xfrm>
          <a:prstGeom prst="rect">
            <a:avLst/>
          </a:prstGeom>
          <a:noFill/>
          <a:ln/>
        </p:spPr>
        <p:txBody>
          <a:bodyPr wrap="square" rtlCol="0" anchor="ctr"/>
          <a:lstStyle/>
          <a:p>
            <a:pPr algn="l" indent="0" marL="0">
              <a:buNone/>
            </a:pPr>
            <a:r>
              <a:rPr lang="en-US" sz="1150" b="1" dirty="0">
                <a:solidFill>
                  <a:srgbClr val="F4F2FA"/>
                </a:solidFill>
                <a:latin typeface="Calibri" pitchFamily="34" charset="0"/>
                <a:ea typeface="Calibri" pitchFamily="34" charset="-122"/>
                <a:cs typeface="Calibri" pitchFamily="34" charset="-120"/>
              </a:rPr>
              <a:t>IA generativa</a:t>
            </a:r>
            <a:endParaRPr lang="en-US" sz="1150" dirty="0"/>
          </a:p>
        </p:txBody>
      </p:sp>
      <p:sp>
        <p:nvSpPr>
          <p:cNvPr id="36" name="Shape 34"/>
          <p:cNvSpPr/>
          <p:nvPr/>
        </p:nvSpPr>
        <p:spPr>
          <a:xfrm>
            <a:off x="3383280" y="3849624"/>
            <a:ext cx="1645920" cy="384048"/>
          </a:xfrm>
          <a:prstGeom prst="rect">
            <a:avLst/>
          </a:prstGeom>
          <a:solidFill>
            <a:srgbClr val="1A1230"/>
          </a:solidFill>
          <a:ln w="6350">
            <a:solidFill>
              <a:srgbClr val="231A38"/>
            </a:solidFill>
            <a:prstDash val="solid"/>
          </a:ln>
        </p:spPr>
      </p:sp>
      <p:sp>
        <p:nvSpPr>
          <p:cNvPr id="37" name="Text 35"/>
          <p:cNvSpPr/>
          <p:nvPr/>
        </p:nvSpPr>
        <p:spPr>
          <a:xfrm>
            <a:off x="3520440" y="3849624"/>
            <a:ext cx="1371600" cy="384048"/>
          </a:xfrm>
          <a:prstGeom prst="rect">
            <a:avLst/>
          </a:prstGeom>
          <a:noFill/>
          <a:ln/>
        </p:spPr>
        <p:txBody>
          <a:bodyPr wrap="square" rtlCol="0" anchor="ctr"/>
          <a:lstStyle/>
          <a:p>
            <a:pPr algn="ctr" indent="0" marL="0">
              <a:buNone/>
            </a:pPr>
            <a:r>
              <a:rPr lang="en-US" sz="1150" b="1" dirty="0">
                <a:solidFill>
                  <a:srgbClr val="C7F94E"/>
                </a:solidFill>
                <a:latin typeface="Calibri" pitchFamily="34" charset="0"/>
                <a:ea typeface="Calibri" pitchFamily="34" charset="-122"/>
                <a:cs typeface="Calibri" pitchFamily="34" charset="-120"/>
              </a:rPr>
              <a:t>sim</a:t>
            </a:r>
            <a:endParaRPr lang="en-US" sz="1150" dirty="0"/>
          </a:p>
        </p:txBody>
      </p:sp>
      <p:sp>
        <p:nvSpPr>
          <p:cNvPr id="38" name="Shape 36"/>
          <p:cNvSpPr/>
          <p:nvPr/>
        </p:nvSpPr>
        <p:spPr>
          <a:xfrm>
            <a:off x="5029200" y="3849624"/>
            <a:ext cx="1645920" cy="384048"/>
          </a:xfrm>
          <a:prstGeom prst="rect">
            <a:avLst/>
          </a:prstGeom>
          <a:solidFill>
            <a:srgbClr val="14101E"/>
          </a:solidFill>
          <a:ln w="6350">
            <a:solidFill>
              <a:srgbClr val="231A38"/>
            </a:solidFill>
            <a:prstDash val="solid"/>
          </a:ln>
        </p:spPr>
      </p:sp>
      <p:sp>
        <p:nvSpPr>
          <p:cNvPr id="39" name="Text 37"/>
          <p:cNvSpPr/>
          <p:nvPr/>
        </p:nvSpPr>
        <p:spPr>
          <a:xfrm>
            <a:off x="5166360" y="3849624"/>
            <a:ext cx="1371600" cy="384048"/>
          </a:xfrm>
          <a:prstGeom prst="rect">
            <a:avLst/>
          </a:prstGeom>
          <a:noFill/>
          <a:ln/>
        </p:spPr>
        <p:txBody>
          <a:bodyPr wrap="square" rtlCol="0" anchor="ctr"/>
          <a:lstStyle/>
          <a:p>
            <a:pPr algn="ctr" indent="0" marL="0">
              <a:buNone/>
            </a:pPr>
            <a:r>
              <a:rPr lang="en-US" sz="1150" dirty="0">
                <a:solidFill>
                  <a:srgbClr val="8E89A6"/>
                </a:solidFill>
                <a:latin typeface="Calibri" pitchFamily="34" charset="0"/>
                <a:ea typeface="Calibri" pitchFamily="34" charset="-122"/>
                <a:cs typeface="Calibri" pitchFamily="34" charset="-120"/>
              </a:rPr>
              <a:t>parcial</a:t>
            </a:r>
            <a:endParaRPr lang="en-US" sz="1150" dirty="0"/>
          </a:p>
        </p:txBody>
      </p:sp>
      <p:sp>
        <p:nvSpPr>
          <p:cNvPr id="40" name="Shape 38"/>
          <p:cNvSpPr/>
          <p:nvPr/>
        </p:nvSpPr>
        <p:spPr>
          <a:xfrm>
            <a:off x="6675120" y="3849624"/>
            <a:ext cx="2011680" cy="384048"/>
          </a:xfrm>
          <a:prstGeom prst="rect">
            <a:avLst/>
          </a:prstGeom>
          <a:solidFill>
            <a:srgbClr val="14101E"/>
          </a:solidFill>
          <a:ln w="6350">
            <a:solidFill>
              <a:srgbClr val="231A38"/>
            </a:solidFill>
            <a:prstDash val="solid"/>
          </a:ln>
        </p:spPr>
      </p:sp>
      <p:sp>
        <p:nvSpPr>
          <p:cNvPr id="41" name="Text 39"/>
          <p:cNvSpPr/>
          <p:nvPr/>
        </p:nvSpPr>
        <p:spPr>
          <a:xfrm>
            <a:off x="6812280" y="3849624"/>
            <a:ext cx="1737360" cy="384048"/>
          </a:xfrm>
          <a:prstGeom prst="rect">
            <a:avLst/>
          </a:prstGeom>
          <a:noFill/>
          <a:ln/>
        </p:spPr>
        <p:txBody>
          <a:bodyPr wrap="square" rtlCol="0" anchor="ctr"/>
          <a:lstStyle/>
          <a:p>
            <a:pPr algn="ctr" indent="0" marL="0">
              <a:buNone/>
            </a:pPr>
            <a:r>
              <a:rPr lang="en-US" sz="1150" dirty="0">
                <a:solidFill>
                  <a:srgbClr val="FB7185"/>
                </a:solidFill>
                <a:latin typeface="Calibri" pitchFamily="34" charset="0"/>
                <a:ea typeface="Calibri" pitchFamily="34" charset="-122"/>
                <a:cs typeface="Calibri" pitchFamily="34" charset="-120"/>
              </a:rPr>
              <a:t>não</a:t>
            </a:r>
            <a:endParaRPr lang="en-US" sz="1150" dirty="0"/>
          </a:p>
        </p:txBody>
      </p:sp>
      <p:sp>
        <p:nvSpPr>
          <p:cNvPr id="42" name="Shape 40"/>
          <p:cNvSpPr/>
          <p:nvPr/>
        </p:nvSpPr>
        <p:spPr>
          <a:xfrm>
            <a:off x="8686800" y="3849624"/>
            <a:ext cx="1645920" cy="384048"/>
          </a:xfrm>
          <a:prstGeom prst="rect">
            <a:avLst/>
          </a:prstGeom>
          <a:solidFill>
            <a:srgbClr val="14101E"/>
          </a:solidFill>
          <a:ln w="6350">
            <a:solidFill>
              <a:srgbClr val="231A38"/>
            </a:solidFill>
            <a:prstDash val="solid"/>
          </a:ln>
        </p:spPr>
      </p:sp>
      <p:sp>
        <p:nvSpPr>
          <p:cNvPr id="43" name="Text 41"/>
          <p:cNvSpPr/>
          <p:nvPr/>
        </p:nvSpPr>
        <p:spPr>
          <a:xfrm>
            <a:off x="8823960" y="3849624"/>
            <a:ext cx="1371600" cy="384048"/>
          </a:xfrm>
          <a:prstGeom prst="rect">
            <a:avLst/>
          </a:prstGeom>
          <a:noFill/>
          <a:ln/>
        </p:spPr>
        <p:txBody>
          <a:bodyPr wrap="square" rtlCol="0" anchor="ctr"/>
          <a:lstStyle/>
          <a:p>
            <a:pPr algn="ctr" indent="0" marL="0">
              <a:buNone/>
            </a:pPr>
            <a:r>
              <a:rPr lang="en-US" sz="1150" dirty="0">
                <a:solidFill>
                  <a:srgbClr val="FB7185"/>
                </a:solidFill>
                <a:latin typeface="Calibri" pitchFamily="34" charset="0"/>
                <a:ea typeface="Calibri" pitchFamily="34" charset="-122"/>
                <a:cs typeface="Calibri" pitchFamily="34" charset="-120"/>
              </a:rPr>
              <a:t>não</a:t>
            </a:r>
            <a:endParaRPr lang="en-US" sz="1150" dirty="0"/>
          </a:p>
        </p:txBody>
      </p:sp>
      <p:sp>
        <p:nvSpPr>
          <p:cNvPr id="44" name="Shape 42"/>
          <p:cNvSpPr/>
          <p:nvPr/>
        </p:nvSpPr>
        <p:spPr>
          <a:xfrm>
            <a:off x="548640" y="4233672"/>
            <a:ext cx="2834640" cy="384048"/>
          </a:xfrm>
          <a:prstGeom prst="rect">
            <a:avLst/>
          </a:prstGeom>
          <a:solidFill>
            <a:srgbClr val="14101E"/>
          </a:solidFill>
          <a:ln w="6350">
            <a:solidFill>
              <a:srgbClr val="231A38"/>
            </a:solidFill>
            <a:prstDash val="solid"/>
          </a:ln>
        </p:spPr>
      </p:sp>
      <p:sp>
        <p:nvSpPr>
          <p:cNvPr id="45" name="Text 43"/>
          <p:cNvSpPr/>
          <p:nvPr/>
        </p:nvSpPr>
        <p:spPr>
          <a:xfrm>
            <a:off x="685800" y="4233672"/>
            <a:ext cx="2560320" cy="384048"/>
          </a:xfrm>
          <a:prstGeom prst="rect">
            <a:avLst/>
          </a:prstGeom>
          <a:noFill/>
          <a:ln/>
        </p:spPr>
        <p:txBody>
          <a:bodyPr wrap="square" rtlCol="0" anchor="ctr"/>
          <a:lstStyle/>
          <a:p>
            <a:pPr algn="l" indent="0" marL="0">
              <a:buNone/>
            </a:pPr>
            <a:r>
              <a:rPr lang="en-US" sz="1150" b="1" dirty="0">
                <a:solidFill>
                  <a:srgbClr val="F4F2FA"/>
                </a:solidFill>
                <a:latin typeface="Calibri" pitchFamily="34" charset="0"/>
                <a:ea typeface="Calibri" pitchFamily="34" charset="-122"/>
                <a:cs typeface="Calibri" pitchFamily="34" charset="-120"/>
              </a:rPr>
              <a:t>Foco em 18–28 anos</a:t>
            </a:r>
            <a:endParaRPr lang="en-US" sz="1150" dirty="0"/>
          </a:p>
        </p:txBody>
      </p:sp>
      <p:sp>
        <p:nvSpPr>
          <p:cNvPr id="46" name="Shape 44"/>
          <p:cNvSpPr/>
          <p:nvPr/>
        </p:nvSpPr>
        <p:spPr>
          <a:xfrm>
            <a:off x="3383280" y="4233672"/>
            <a:ext cx="1645920" cy="384048"/>
          </a:xfrm>
          <a:prstGeom prst="rect">
            <a:avLst/>
          </a:prstGeom>
          <a:solidFill>
            <a:srgbClr val="1A1230"/>
          </a:solidFill>
          <a:ln w="6350">
            <a:solidFill>
              <a:srgbClr val="231A38"/>
            </a:solidFill>
            <a:prstDash val="solid"/>
          </a:ln>
        </p:spPr>
      </p:sp>
      <p:sp>
        <p:nvSpPr>
          <p:cNvPr id="47" name="Text 45"/>
          <p:cNvSpPr/>
          <p:nvPr/>
        </p:nvSpPr>
        <p:spPr>
          <a:xfrm>
            <a:off x="3520440" y="4233672"/>
            <a:ext cx="1371600" cy="384048"/>
          </a:xfrm>
          <a:prstGeom prst="rect">
            <a:avLst/>
          </a:prstGeom>
          <a:noFill/>
          <a:ln/>
        </p:spPr>
        <p:txBody>
          <a:bodyPr wrap="square" rtlCol="0" anchor="ctr"/>
          <a:lstStyle/>
          <a:p>
            <a:pPr algn="ctr" indent="0" marL="0">
              <a:buNone/>
            </a:pPr>
            <a:r>
              <a:rPr lang="en-US" sz="1150" b="1" dirty="0">
                <a:solidFill>
                  <a:srgbClr val="C7F94E"/>
                </a:solidFill>
                <a:latin typeface="Calibri" pitchFamily="34" charset="0"/>
                <a:ea typeface="Calibri" pitchFamily="34" charset="-122"/>
                <a:cs typeface="Calibri" pitchFamily="34" charset="-120"/>
              </a:rPr>
              <a:t>sim</a:t>
            </a:r>
            <a:endParaRPr lang="en-US" sz="1150" dirty="0"/>
          </a:p>
        </p:txBody>
      </p:sp>
      <p:sp>
        <p:nvSpPr>
          <p:cNvPr id="48" name="Shape 46"/>
          <p:cNvSpPr/>
          <p:nvPr/>
        </p:nvSpPr>
        <p:spPr>
          <a:xfrm>
            <a:off x="5029200" y="4233672"/>
            <a:ext cx="1645920" cy="384048"/>
          </a:xfrm>
          <a:prstGeom prst="rect">
            <a:avLst/>
          </a:prstGeom>
          <a:solidFill>
            <a:srgbClr val="14101E"/>
          </a:solidFill>
          <a:ln w="6350">
            <a:solidFill>
              <a:srgbClr val="231A38"/>
            </a:solidFill>
            <a:prstDash val="solid"/>
          </a:ln>
        </p:spPr>
      </p:sp>
      <p:sp>
        <p:nvSpPr>
          <p:cNvPr id="49" name="Text 47"/>
          <p:cNvSpPr/>
          <p:nvPr/>
        </p:nvSpPr>
        <p:spPr>
          <a:xfrm>
            <a:off x="5166360" y="4233672"/>
            <a:ext cx="1371600" cy="384048"/>
          </a:xfrm>
          <a:prstGeom prst="rect">
            <a:avLst/>
          </a:prstGeom>
          <a:noFill/>
          <a:ln/>
        </p:spPr>
        <p:txBody>
          <a:bodyPr wrap="square" rtlCol="0" anchor="ctr"/>
          <a:lstStyle/>
          <a:p>
            <a:pPr algn="ctr" indent="0" marL="0">
              <a:buNone/>
            </a:pPr>
            <a:r>
              <a:rPr lang="en-US" sz="1150" dirty="0">
                <a:solidFill>
                  <a:srgbClr val="FB7185"/>
                </a:solidFill>
                <a:latin typeface="Calibri" pitchFamily="34" charset="0"/>
                <a:ea typeface="Calibri" pitchFamily="34" charset="-122"/>
                <a:cs typeface="Calibri" pitchFamily="34" charset="-120"/>
              </a:rPr>
              <a:t>não</a:t>
            </a:r>
            <a:endParaRPr lang="en-US" sz="1150" dirty="0"/>
          </a:p>
        </p:txBody>
      </p:sp>
      <p:sp>
        <p:nvSpPr>
          <p:cNvPr id="50" name="Shape 48"/>
          <p:cNvSpPr/>
          <p:nvPr/>
        </p:nvSpPr>
        <p:spPr>
          <a:xfrm>
            <a:off x="6675120" y="4233672"/>
            <a:ext cx="2011680" cy="384048"/>
          </a:xfrm>
          <a:prstGeom prst="rect">
            <a:avLst/>
          </a:prstGeom>
          <a:solidFill>
            <a:srgbClr val="14101E"/>
          </a:solidFill>
          <a:ln w="6350">
            <a:solidFill>
              <a:srgbClr val="231A38"/>
            </a:solidFill>
            <a:prstDash val="solid"/>
          </a:ln>
        </p:spPr>
      </p:sp>
      <p:sp>
        <p:nvSpPr>
          <p:cNvPr id="51" name="Text 49"/>
          <p:cNvSpPr/>
          <p:nvPr/>
        </p:nvSpPr>
        <p:spPr>
          <a:xfrm>
            <a:off x="6812280" y="4233672"/>
            <a:ext cx="1737360" cy="384048"/>
          </a:xfrm>
          <a:prstGeom prst="rect">
            <a:avLst/>
          </a:prstGeom>
          <a:noFill/>
          <a:ln/>
        </p:spPr>
        <p:txBody>
          <a:bodyPr wrap="square" rtlCol="0" anchor="ctr"/>
          <a:lstStyle/>
          <a:p>
            <a:pPr algn="ctr" indent="0" marL="0">
              <a:buNone/>
            </a:pPr>
            <a:r>
              <a:rPr lang="en-US" sz="1150" dirty="0">
                <a:solidFill>
                  <a:srgbClr val="FB7185"/>
                </a:solidFill>
                <a:latin typeface="Calibri" pitchFamily="34" charset="0"/>
                <a:ea typeface="Calibri" pitchFamily="34" charset="-122"/>
                <a:cs typeface="Calibri" pitchFamily="34" charset="-120"/>
              </a:rPr>
              <a:t>não</a:t>
            </a:r>
            <a:endParaRPr lang="en-US" sz="1150" dirty="0"/>
          </a:p>
        </p:txBody>
      </p:sp>
      <p:sp>
        <p:nvSpPr>
          <p:cNvPr id="52" name="Shape 50"/>
          <p:cNvSpPr/>
          <p:nvPr/>
        </p:nvSpPr>
        <p:spPr>
          <a:xfrm>
            <a:off x="8686800" y="4233672"/>
            <a:ext cx="1645920" cy="384048"/>
          </a:xfrm>
          <a:prstGeom prst="rect">
            <a:avLst/>
          </a:prstGeom>
          <a:solidFill>
            <a:srgbClr val="14101E"/>
          </a:solidFill>
          <a:ln w="6350">
            <a:solidFill>
              <a:srgbClr val="231A38"/>
            </a:solidFill>
            <a:prstDash val="solid"/>
          </a:ln>
        </p:spPr>
      </p:sp>
      <p:sp>
        <p:nvSpPr>
          <p:cNvPr id="53" name="Text 51"/>
          <p:cNvSpPr/>
          <p:nvPr/>
        </p:nvSpPr>
        <p:spPr>
          <a:xfrm>
            <a:off x="8823960" y="4233672"/>
            <a:ext cx="1371600" cy="384048"/>
          </a:xfrm>
          <a:prstGeom prst="rect">
            <a:avLst/>
          </a:prstGeom>
          <a:noFill/>
          <a:ln/>
        </p:spPr>
        <p:txBody>
          <a:bodyPr wrap="square" rtlCol="0" anchor="ctr"/>
          <a:lstStyle/>
          <a:p>
            <a:pPr algn="ctr" indent="0" marL="0">
              <a:buNone/>
            </a:pPr>
            <a:r>
              <a:rPr lang="en-US" sz="1150" dirty="0">
                <a:solidFill>
                  <a:srgbClr val="FB7185"/>
                </a:solidFill>
                <a:latin typeface="Calibri" pitchFamily="34" charset="0"/>
                <a:ea typeface="Calibri" pitchFamily="34" charset="-122"/>
                <a:cs typeface="Calibri" pitchFamily="34" charset="-120"/>
              </a:rPr>
              <a:t>não</a:t>
            </a:r>
            <a:endParaRPr lang="en-US" sz="1150" dirty="0"/>
          </a:p>
        </p:txBody>
      </p:sp>
      <p:sp>
        <p:nvSpPr>
          <p:cNvPr id="54" name="Shape 52"/>
          <p:cNvSpPr/>
          <p:nvPr/>
        </p:nvSpPr>
        <p:spPr>
          <a:xfrm>
            <a:off x="548640" y="4617720"/>
            <a:ext cx="2834640" cy="384048"/>
          </a:xfrm>
          <a:prstGeom prst="rect">
            <a:avLst/>
          </a:prstGeom>
          <a:solidFill>
            <a:srgbClr val="14101E"/>
          </a:solidFill>
          <a:ln w="6350">
            <a:solidFill>
              <a:srgbClr val="231A38"/>
            </a:solidFill>
            <a:prstDash val="solid"/>
          </a:ln>
        </p:spPr>
      </p:sp>
      <p:sp>
        <p:nvSpPr>
          <p:cNvPr id="55" name="Text 53"/>
          <p:cNvSpPr/>
          <p:nvPr/>
        </p:nvSpPr>
        <p:spPr>
          <a:xfrm>
            <a:off x="685800" y="4617720"/>
            <a:ext cx="2560320" cy="384048"/>
          </a:xfrm>
          <a:prstGeom prst="rect">
            <a:avLst/>
          </a:prstGeom>
          <a:noFill/>
          <a:ln/>
        </p:spPr>
        <p:txBody>
          <a:bodyPr wrap="square" rtlCol="0" anchor="ctr"/>
          <a:lstStyle/>
          <a:p>
            <a:pPr algn="l" indent="0" marL="0">
              <a:buNone/>
            </a:pPr>
            <a:r>
              <a:rPr lang="en-US" sz="1150" b="1" dirty="0">
                <a:solidFill>
                  <a:srgbClr val="F4F2FA"/>
                </a:solidFill>
                <a:latin typeface="Calibri" pitchFamily="34" charset="0"/>
                <a:ea typeface="Calibri" pitchFamily="34" charset="-122"/>
                <a:cs typeface="Calibri" pitchFamily="34" charset="-120"/>
              </a:rPr>
              <a:t>Mobile-first nativo</a:t>
            </a:r>
            <a:endParaRPr lang="en-US" sz="1150" dirty="0"/>
          </a:p>
        </p:txBody>
      </p:sp>
      <p:sp>
        <p:nvSpPr>
          <p:cNvPr id="56" name="Shape 54"/>
          <p:cNvSpPr/>
          <p:nvPr/>
        </p:nvSpPr>
        <p:spPr>
          <a:xfrm>
            <a:off x="3383280" y="4617720"/>
            <a:ext cx="1645920" cy="384048"/>
          </a:xfrm>
          <a:prstGeom prst="rect">
            <a:avLst/>
          </a:prstGeom>
          <a:solidFill>
            <a:srgbClr val="1A1230"/>
          </a:solidFill>
          <a:ln w="6350">
            <a:solidFill>
              <a:srgbClr val="231A38"/>
            </a:solidFill>
            <a:prstDash val="solid"/>
          </a:ln>
        </p:spPr>
      </p:sp>
      <p:sp>
        <p:nvSpPr>
          <p:cNvPr id="57" name="Text 55"/>
          <p:cNvSpPr/>
          <p:nvPr/>
        </p:nvSpPr>
        <p:spPr>
          <a:xfrm>
            <a:off x="3520440" y="4617720"/>
            <a:ext cx="1371600" cy="384048"/>
          </a:xfrm>
          <a:prstGeom prst="rect">
            <a:avLst/>
          </a:prstGeom>
          <a:noFill/>
          <a:ln/>
        </p:spPr>
        <p:txBody>
          <a:bodyPr wrap="square" rtlCol="0" anchor="ctr"/>
          <a:lstStyle/>
          <a:p>
            <a:pPr algn="ctr" indent="0" marL="0">
              <a:buNone/>
            </a:pPr>
            <a:r>
              <a:rPr lang="en-US" sz="1150" b="1" dirty="0">
                <a:solidFill>
                  <a:srgbClr val="C7F94E"/>
                </a:solidFill>
                <a:latin typeface="Calibri" pitchFamily="34" charset="0"/>
                <a:ea typeface="Calibri" pitchFamily="34" charset="-122"/>
                <a:cs typeface="Calibri" pitchFamily="34" charset="-120"/>
              </a:rPr>
              <a:t>sim</a:t>
            </a:r>
            <a:endParaRPr lang="en-US" sz="1150" dirty="0"/>
          </a:p>
        </p:txBody>
      </p:sp>
      <p:sp>
        <p:nvSpPr>
          <p:cNvPr id="58" name="Shape 56"/>
          <p:cNvSpPr/>
          <p:nvPr/>
        </p:nvSpPr>
        <p:spPr>
          <a:xfrm>
            <a:off x="5029200" y="4617720"/>
            <a:ext cx="1645920" cy="384048"/>
          </a:xfrm>
          <a:prstGeom prst="rect">
            <a:avLst/>
          </a:prstGeom>
          <a:solidFill>
            <a:srgbClr val="14101E"/>
          </a:solidFill>
          <a:ln w="6350">
            <a:solidFill>
              <a:srgbClr val="231A38"/>
            </a:solidFill>
            <a:prstDash val="solid"/>
          </a:ln>
        </p:spPr>
      </p:sp>
      <p:sp>
        <p:nvSpPr>
          <p:cNvPr id="59" name="Text 57"/>
          <p:cNvSpPr/>
          <p:nvPr/>
        </p:nvSpPr>
        <p:spPr>
          <a:xfrm>
            <a:off x="5166360" y="4617720"/>
            <a:ext cx="1371600" cy="384048"/>
          </a:xfrm>
          <a:prstGeom prst="rect">
            <a:avLst/>
          </a:prstGeom>
          <a:noFill/>
          <a:ln/>
        </p:spPr>
        <p:txBody>
          <a:bodyPr wrap="square" rtlCol="0" anchor="ctr"/>
          <a:lstStyle/>
          <a:p>
            <a:pPr algn="ctr" indent="0" marL="0">
              <a:buNone/>
            </a:pPr>
            <a:r>
              <a:rPr lang="en-US" sz="1150" dirty="0">
                <a:solidFill>
                  <a:srgbClr val="8E89A6"/>
                </a:solidFill>
                <a:latin typeface="Calibri" pitchFamily="34" charset="0"/>
                <a:ea typeface="Calibri" pitchFamily="34" charset="-122"/>
                <a:cs typeface="Calibri" pitchFamily="34" charset="-120"/>
              </a:rPr>
              <a:t>parcial</a:t>
            </a:r>
            <a:endParaRPr lang="en-US" sz="1150" dirty="0"/>
          </a:p>
        </p:txBody>
      </p:sp>
      <p:sp>
        <p:nvSpPr>
          <p:cNvPr id="60" name="Shape 58"/>
          <p:cNvSpPr/>
          <p:nvPr/>
        </p:nvSpPr>
        <p:spPr>
          <a:xfrm>
            <a:off x="6675120" y="4617720"/>
            <a:ext cx="2011680" cy="384048"/>
          </a:xfrm>
          <a:prstGeom prst="rect">
            <a:avLst/>
          </a:prstGeom>
          <a:solidFill>
            <a:srgbClr val="14101E"/>
          </a:solidFill>
          <a:ln w="6350">
            <a:solidFill>
              <a:srgbClr val="231A38"/>
            </a:solidFill>
            <a:prstDash val="solid"/>
          </a:ln>
        </p:spPr>
      </p:sp>
      <p:sp>
        <p:nvSpPr>
          <p:cNvPr id="61" name="Text 59"/>
          <p:cNvSpPr/>
          <p:nvPr/>
        </p:nvSpPr>
        <p:spPr>
          <a:xfrm>
            <a:off x="6812280" y="4617720"/>
            <a:ext cx="1737360" cy="384048"/>
          </a:xfrm>
          <a:prstGeom prst="rect">
            <a:avLst/>
          </a:prstGeom>
          <a:noFill/>
          <a:ln/>
        </p:spPr>
        <p:txBody>
          <a:bodyPr wrap="square" rtlCol="0" anchor="ctr"/>
          <a:lstStyle/>
          <a:p>
            <a:pPr algn="ctr" indent="0" marL="0">
              <a:buNone/>
            </a:pPr>
            <a:r>
              <a:rPr lang="en-US" sz="1150" dirty="0">
                <a:solidFill>
                  <a:srgbClr val="FB7185"/>
                </a:solidFill>
                <a:latin typeface="Calibri" pitchFamily="34" charset="0"/>
                <a:ea typeface="Calibri" pitchFamily="34" charset="-122"/>
                <a:cs typeface="Calibri" pitchFamily="34" charset="-120"/>
              </a:rPr>
              <a:t>não</a:t>
            </a:r>
            <a:endParaRPr lang="en-US" sz="1150" dirty="0"/>
          </a:p>
        </p:txBody>
      </p:sp>
      <p:sp>
        <p:nvSpPr>
          <p:cNvPr id="62" name="Shape 60"/>
          <p:cNvSpPr/>
          <p:nvPr/>
        </p:nvSpPr>
        <p:spPr>
          <a:xfrm>
            <a:off x="8686800" y="4617720"/>
            <a:ext cx="1645920" cy="384048"/>
          </a:xfrm>
          <a:prstGeom prst="rect">
            <a:avLst/>
          </a:prstGeom>
          <a:solidFill>
            <a:srgbClr val="14101E"/>
          </a:solidFill>
          <a:ln w="6350">
            <a:solidFill>
              <a:srgbClr val="231A38"/>
            </a:solidFill>
            <a:prstDash val="solid"/>
          </a:ln>
        </p:spPr>
      </p:sp>
      <p:sp>
        <p:nvSpPr>
          <p:cNvPr id="63" name="Text 61"/>
          <p:cNvSpPr/>
          <p:nvPr/>
        </p:nvSpPr>
        <p:spPr>
          <a:xfrm>
            <a:off x="8823960" y="4617720"/>
            <a:ext cx="1371600" cy="384048"/>
          </a:xfrm>
          <a:prstGeom prst="rect">
            <a:avLst/>
          </a:prstGeom>
          <a:noFill/>
          <a:ln/>
        </p:spPr>
        <p:txBody>
          <a:bodyPr wrap="square" rtlCol="0" anchor="ctr"/>
          <a:lstStyle/>
          <a:p>
            <a:pPr algn="ctr" indent="0" marL="0">
              <a:buNone/>
            </a:pPr>
            <a:r>
              <a:rPr lang="en-US" sz="1150" b="1" dirty="0">
                <a:solidFill>
                  <a:srgbClr val="C7F94E"/>
                </a:solidFill>
                <a:latin typeface="Calibri" pitchFamily="34" charset="0"/>
                <a:ea typeface="Calibri" pitchFamily="34" charset="-122"/>
                <a:cs typeface="Calibri" pitchFamily="34" charset="-120"/>
              </a:rPr>
              <a:t>sim</a:t>
            </a:r>
            <a:endParaRPr lang="en-US" sz="1150" dirty="0"/>
          </a:p>
        </p:txBody>
      </p:sp>
      <p:sp>
        <p:nvSpPr>
          <p:cNvPr id="64" name="Shape 62"/>
          <p:cNvSpPr/>
          <p:nvPr/>
        </p:nvSpPr>
        <p:spPr>
          <a:xfrm>
            <a:off x="548640" y="5001768"/>
            <a:ext cx="2834640" cy="384048"/>
          </a:xfrm>
          <a:prstGeom prst="rect">
            <a:avLst/>
          </a:prstGeom>
          <a:solidFill>
            <a:srgbClr val="14101E"/>
          </a:solidFill>
          <a:ln w="6350">
            <a:solidFill>
              <a:srgbClr val="231A38"/>
            </a:solidFill>
            <a:prstDash val="solid"/>
          </a:ln>
        </p:spPr>
      </p:sp>
      <p:sp>
        <p:nvSpPr>
          <p:cNvPr id="65" name="Text 63"/>
          <p:cNvSpPr/>
          <p:nvPr/>
        </p:nvSpPr>
        <p:spPr>
          <a:xfrm>
            <a:off x="685800" y="5001768"/>
            <a:ext cx="2560320" cy="384048"/>
          </a:xfrm>
          <a:prstGeom prst="rect">
            <a:avLst/>
          </a:prstGeom>
          <a:noFill/>
          <a:ln/>
        </p:spPr>
        <p:txBody>
          <a:bodyPr wrap="square" rtlCol="0" anchor="ctr"/>
          <a:lstStyle/>
          <a:p>
            <a:pPr algn="l" indent="0" marL="0">
              <a:buNone/>
            </a:pPr>
            <a:r>
              <a:rPr lang="en-US" sz="1150" b="1" dirty="0">
                <a:solidFill>
                  <a:srgbClr val="F4F2FA"/>
                </a:solidFill>
                <a:latin typeface="Calibri" pitchFamily="34" charset="0"/>
                <a:ea typeface="Calibri" pitchFamily="34" charset="-122"/>
                <a:cs typeface="Calibri" pitchFamily="34" charset="-120"/>
              </a:rPr>
              <a:t>Grátis pro candidato</a:t>
            </a:r>
            <a:endParaRPr lang="en-US" sz="1150" dirty="0"/>
          </a:p>
        </p:txBody>
      </p:sp>
      <p:sp>
        <p:nvSpPr>
          <p:cNvPr id="66" name="Shape 64"/>
          <p:cNvSpPr/>
          <p:nvPr/>
        </p:nvSpPr>
        <p:spPr>
          <a:xfrm>
            <a:off x="3383280" y="5001768"/>
            <a:ext cx="1645920" cy="384048"/>
          </a:xfrm>
          <a:prstGeom prst="rect">
            <a:avLst/>
          </a:prstGeom>
          <a:solidFill>
            <a:srgbClr val="1A1230"/>
          </a:solidFill>
          <a:ln w="6350">
            <a:solidFill>
              <a:srgbClr val="231A38"/>
            </a:solidFill>
            <a:prstDash val="solid"/>
          </a:ln>
        </p:spPr>
      </p:sp>
      <p:sp>
        <p:nvSpPr>
          <p:cNvPr id="67" name="Text 65"/>
          <p:cNvSpPr/>
          <p:nvPr/>
        </p:nvSpPr>
        <p:spPr>
          <a:xfrm>
            <a:off x="3520440" y="5001768"/>
            <a:ext cx="1371600" cy="384048"/>
          </a:xfrm>
          <a:prstGeom prst="rect">
            <a:avLst/>
          </a:prstGeom>
          <a:noFill/>
          <a:ln/>
        </p:spPr>
        <p:txBody>
          <a:bodyPr wrap="square" rtlCol="0" anchor="ctr"/>
          <a:lstStyle/>
          <a:p>
            <a:pPr algn="ctr" indent="0" marL="0">
              <a:buNone/>
            </a:pPr>
            <a:r>
              <a:rPr lang="en-US" sz="1150" b="1" dirty="0">
                <a:solidFill>
                  <a:srgbClr val="C7F94E"/>
                </a:solidFill>
                <a:latin typeface="Calibri" pitchFamily="34" charset="0"/>
                <a:ea typeface="Calibri" pitchFamily="34" charset="-122"/>
                <a:cs typeface="Calibri" pitchFamily="34" charset="-120"/>
              </a:rPr>
              <a:t>sim</a:t>
            </a:r>
            <a:endParaRPr lang="en-US" sz="1150" dirty="0"/>
          </a:p>
        </p:txBody>
      </p:sp>
      <p:sp>
        <p:nvSpPr>
          <p:cNvPr id="68" name="Shape 66"/>
          <p:cNvSpPr/>
          <p:nvPr/>
        </p:nvSpPr>
        <p:spPr>
          <a:xfrm>
            <a:off x="5029200" y="5001768"/>
            <a:ext cx="1645920" cy="384048"/>
          </a:xfrm>
          <a:prstGeom prst="rect">
            <a:avLst/>
          </a:prstGeom>
          <a:solidFill>
            <a:srgbClr val="14101E"/>
          </a:solidFill>
          <a:ln w="6350">
            <a:solidFill>
              <a:srgbClr val="231A38"/>
            </a:solidFill>
            <a:prstDash val="solid"/>
          </a:ln>
        </p:spPr>
      </p:sp>
      <p:sp>
        <p:nvSpPr>
          <p:cNvPr id="69" name="Text 67"/>
          <p:cNvSpPr/>
          <p:nvPr/>
        </p:nvSpPr>
        <p:spPr>
          <a:xfrm>
            <a:off x="5166360" y="5001768"/>
            <a:ext cx="1371600" cy="384048"/>
          </a:xfrm>
          <a:prstGeom prst="rect">
            <a:avLst/>
          </a:prstGeom>
          <a:noFill/>
          <a:ln/>
        </p:spPr>
        <p:txBody>
          <a:bodyPr wrap="square" rtlCol="0" anchor="ctr"/>
          <a:lstStyle/>
          <a:p>
            <a:pPr algn="ctr" indent="0" marL="0">
              <a:buNone/>
            </a:pPr>
            <a:r>
              <a:rPr lang="en-US" sz="1150" dirty="0">
                <a:solidFill>
                  <a:srgbClr val="8E89A6"/>
                </a:solidFill>
                <a:latin typeface="Calibri" pitchFamily="34" charset="0"/>
                <a:ea typeface="Calibri" pitchFamily="34" charset="-122"/>
                <a:cs typeface="Calibri" pitchFamily="34" charset="-120"/>
              </a:rPr>
              <a:t>parcial</a:t>
            </a:r>
            <a:endParaRPr lang="en-US" sz="1150" dirty="0"/>
          </a:p>
        </p:txBody>
      </p:sp>
      <p:sp>
        <p:nvSpPr>
          <p:cNvPr id="70" name="Shape 68"/>
          <p:cNvSpPr/>
          <p:nvPr/>
        </p:nvSpPr>
        <p:spPr>
          <a:xfrm>
            <a:off x="6675120" y="5001768"/>
            <a:ext cx="2011680" cy="384048"/>
          </a:xfrm>
          <a:prstGeom prst="rect">
            <a:avLst/>
          </a:prstGeom>
          <a:solidFill>
            <a:srgbClr val="14101E"/>
          </a:solidFill>
          <a:ln w="6350">
            <a:solidFill>
              <a:srgbClr val="231A38"/>
            </a:solidFill>
            <a:prstDash val="solid"/>
          </a:ln>
        </p:spPr>
      </p:sp>
      <p:sp>
        <p:nvSpPr>
          <p:cNvPr id="71" name="Text 69"/>
          <p:cNvSpPr/>
          <p:nvPr/>
        </p:nvSpPr>
        <p:spPr>
          <a:xfrm>
            <a:off x="6812280" y="5001768"/>
            <a:ext cx="1737360" cy="384048"/>
          </a:xfrm>
          <a:prstGeom prst="rect">
            <a:avLst/>
          </a:prstGeom>
          <a:noFill/>
          <a:ln/>
        </p:spPr>
        <p:txBody>
          <a:bodyPr wrap="square" rtlCol="0" anchor="ctr"/>
          <a:lstStyle/>
          <a:p>
            <a:pPr algn="ctr" indent="0" marL="0">
              <a:buNone/>
            </a:pPr>
            <a:r>
              <a:rPr lang="en-US" sz="1150" dirty="0">
                <a:solidFill>
                  <a:srgbClr val="8E89A6"/>
                </a:solidFill>
                <a:latin typeface="Calibri" pitchFamily="34" charset="0"/>
                <a:ea typeface="Calibri" pitchFamily="34" charset="-122"/>
                <a:cs typeface="Calibri" pitchFamily="34" charset="-120"/>
              </a:rPr>
              <a:t>parcial</a:t>
            </a:r>
            <a:endParaRPr lang="en-US" sz="1150" dirty="0"/>
          </a:p>
        </p:txBody>
      </p:sp>
      <p:sp>
        <p:nvSpPr>
          <p:cNvPr id="72" name="Shape 70"/>
          <p:cNvSpPr/>
          <p:nvPr/>
        </p:nvSpPr>
        <p:spPr>
          <a:xfrm>
            <a:off x="8686800" y="5001768"/>
            <a:ext cx="1645920" cy="384048"/>
          </a:xfrm>
          <a:prstGeom prst="rect">
            <a:avLst/>
          </a:prstGeom>
          <a:solidFill>
            <a:srgbClr val="14101E"/>
          </a:solidFill>
          <a:ln w="6350">
            <a:solidFill>
              <a:srgbClr val="231A38"/>
            </a:solidFill>
            <a:prstDash val="solid"/>
          </a:ln>
        </p:spPr>
      </p:sp>
      <p:sp>
        <p:nvSpPr>
          <p:cNvPr id="73" name="Text 71"/>
          <p:cNvSpPr/>
          <p:nvPr/>
        </p:nvSpPr>
        <p:spPr>
          <a:xfrm>
            <a:off x="8823960" y="5001768"/>
            <a:ext cx="1371600" cy="384048"/>
          </a:xfrm>
          <a:prstGeom prst="rect">
            <a:avLst/>
          </a:prstGeom>
          <a:noFill/>
          <a:ln/>
        </p:spPr>
        <p:txBody>
          <a:bodyPr wrap="square" rtlCol="0" anchor="ctr"/>
          <a:lstStyle/>
          <a:p>
            <a:pPr algn="ctr" indent="0" marL="0">
              <a:buNone/>
            </a:pPr>
            <a:r>
              <a:rPr lang="en-US" sz="1150" b="1" dirty="0">
                <a:solidFill>
                  <a:srgbClr val="C7F94E"/>
                </a:solidFill>
                <a:latin typeface="Calibri" pitchFamily="34" charset="0"/>
                <a:ea typeface="Calibri" pitchFamily="34" charset="-122"/>
                <a:cs typeface="Calibri" pitchFamily="34" charset="-120"/>
              </a:rPr>
              <a:t>sim</a:t>
            </a:r>
            <a:endParaRPr lang="en-US" sz="1150" dirty="0"/>
          </a:p>
        </p:txBody>
      </p:sp>
      <p:sp>
        <p:nvSpPr>
          <p:cNvPr id="74" name="Shape 72"/>
          <p:cNvSpPr/>
          <p:nvPr/>
        </p:nvSpPr>
        <p:spPr>
          <a:xfrm>
            <a:off x="548640" y="5385816"/>
            <a:ext cx="2834640" cy="384048"/>
          </a:xfrm>
          <a:prstGeom prst="rect">
            <a:avLst/>
          </a:prstGeom>
          <a:solidFill>
            <a:srgbClr val="14101E"/>
          </a:solidFill>
          <a:ln w="6350">
            <a:solidFill>
              <a:srgbClr val="231A38"/>
            </a:solidFill>
            <a:prstDash val="solid"/>
          </a:ln>
        </p:spPr>
      </p:sp>
      <p:sp>
        <p:nvSpPr>
          <p:cNvPr id="75" name="Text 73"/>
          <p:cNvSpPr/>
          <p:nvPr/>
        </p:nvSpPr>
        <p:spPr>
          <a:xfrm>
            <a:off x="685800" y="5385816"/>
            <a:ext cx="2560320" cy="384048"/>
          </a:xfrm>
          <a:prstGeom prst="rect">
            <a:avLst/>
          </a:prstGeom>
          <a:noFill/>
          <a:ln/>
        </p:spPr>
        <p:txBody>
          <a:bodyPr wrap="square" rtlCol="0" anchor="ctr"/>
          <a:lstStyle/>
          <a:p>
            <a:pPr algn="l" indent="0" marL="0">
              <a:buNone/>
            </a:pPr>
            <a:r>
              <a:rPr lang="en-US" sz="1150" b="1" dirty="0">
                <a:solidFill>
                  <a:srgbClr val="F4F2FA"/>
                </a:solidFill>
                <a:latin typeface="Calibri" pitchFamily="34" charset="0"/>
                <a:ea typeface="Calibri" pitchFamily="34" charset="-122"/>
                <a:cs typeface="Calibri" pitchFamily="34" charset="-120"/>
              </a:rPr>
              <a:t>Anti-fake automático</a:t>
            </a:r>
            <a:endParaRPr lang="en-US" sz="1150" dirty="0"/>
          </a:p>
        </p:txBody>
      </p:sp>
      <p:sp>
        <p:nvSpPr>
          <p:cNvPr id="76" name="Shape 74"/>
          <p:cNvSpPr/>
          <p:nvPr/>
        </p:nvSpPr>
        <p:spPr>
          <a:xfrm>
            <a:off x="3383280" y="5385816"/>
            <a:ext cx="1645920" cy="384048"/>
          </a:xfrm>
          <a:prstGeom prst="rect">
            <a:avLst/>
          </a:prstGeom>
          <a:solidFill>
            <a:srgbClr val="1A1230"/>
          </a:solidFill>
          <a:ln w="6350">
            <a:solidFill>
              <a:srgbClr val="231A38"/>
            </a:solidFill>
            <a:prstDash val="solid"/>
          </a:ln>
        </p:spPr>
      </p:sp>
      <p:sp>
        <p:nvSpPr>
          <p:cNvPr id="77" name="Text 75"/>
          <p:cNvSpPr/>
          <p:nvPr/>
        </p:nvSpPr>
        <p:spPr>
          <a:xfrm>
            <a:off x="3520440" y="5385816"/>
            <a:ext cx="1371600" cy="384048"/>
          </a:xfrm>
          <a:prstGeom prst="rect">
            <a:avLst/>
          </a:prstGeom>
          <a:noFill/>
          <a:ln/>
        </p:spPr>
        <p:txBody>
          <a:bodyPr wrap="square" rtlCol="0" anchor="ctr"/>
          <a:lstStyle/>
          <a:p>
            <a:pPr algn="ctr" indent="0" marL="0">
              <a:buNone/>
            </a:pPr>
            <a:r>
              <a:rPr lang="en-US" sz="1150" b="1" dirty="0">
                <a:solidFill>
                  <a:srgbClr val="C7F94E"/>
                </a:solidFill>
                <a:latin typeface="Calibri" pitchFamily="34" charset="0"/>
                <a:ea typeface="Calibri" pitchFamily="34" charset="-122"/>
                <a:cs typeface="Calibri" pitchFamily="34" charset="-120"/>
              </a:rPr>
              <a:t>sim</a:t>
            </a:r>
            <a:endParaRPr lang="en-US" sz="1150" dirty="0"/>
          </a:p>
        </p:txBody>
      </p:sp>
      <p:sp>
        <p:nvSpPr>
          <p:cNvPr id="78" name="Shape 76"/>
          <p:cNvSpPr/>
          <p:nvPr/>
        </p:nvSpPr>
        <p:spPr>
          <a:xfrm>
            <a:off x="5029200" y="5385816"/>
            <a:ext cx="1645920" cy="384048"/>
          </a:xfrm>
          <a:prstGeom prst="rect">
            <a:avLst/>
          </a:prstGeom>
          <a:solidFill>
            <a:srgbClr val="14101E"/>
          </a:solidFill>
          <a:ln w="6350">
            <a:solidFill>
              <a:srgbClr val="231A38"/>
            </a:solidFill>
            <a:prstDash val="solid"/>
          </a:ln>
        </p:spPr>
      </p:sp>
      <p:sp>
        <p:nvSpPr>
          <p:cNvPr id="79" name="Text 77"/>
          <p:cNvSpPr/>
          <p:nvPr/>
        </p:nvSpPr>
        <p:spPr>
          <a:xfrm>
            <a:off x="5166360" y="5385816"/>
            <a:ext cx="1371600" cy="384048"/>
          </a:xfrm>
          <a:prstGeom prst="rect">
            <a:avLst/>
          </a:prstGeom>
          <a:noFill/>
          <a:ln/>
        </p:spPr>
        <p:txBody>
          <a:bodyPr wrap="square" rtlCol="0" anchor="ctr"/>
          <a:lstStyle/>
          <a:p>
            <a:pPr algn="ctr" indent="0" marL="0">
              <a:buNone/>
            </a:pPr>
            <a:r>
              <a:rPr lang="en-US" sz="1150" dirty="0">
                <a:solidFill>
                  <a:srgbClr val="FB7185"/>
                </a:solidFill>
                <a:latin typeface="Calibri" pitchFamily="34" charset="0"/>
                <a:ea typeface="Calibri" pitchFamily="34" charset="-122"/>
                <a:cs typeface="Calibri" pitchFamily="34" charset="-120"/>
              </a:rPr>
              <a:t>não</a:t>
            </a:r>
            <a:endParaRPr lang="en-US" sz="1150" dirty="0"/>
          </a:p>
        </p:txBody>
      </p:sp>
      <p:sp>
        <p:nvSpPr>
          <p:cNvPr id="80" name="Shape 78"/>
          <p:cNvSpPr/>
          <p:nvPr/>
        </p:nvSpPr>
        <p:spPr>
          <a:xfrm>
            <a:off x="6675120" y="5385816"/>
            <a:ext cx="2011680" cy="384048"/>
          </a:xfrm>
          <a:prstGeom prst="rect">
            <a:avLst/>
          </a:prstGeom>
          <a:solidFill>
            <a:srgbClr val="14101E"/>
          </a:solidFill>
          <a:ln w="6350">
            <a:solidFill>
              <a:srgbClr val="231A38"/>
            </a:solidFill>
            <a:prstDash val="solid"/>
          </a:ln>
        </p:spPr>
      </p:sp>
      <p:sp>
        <p:nvSpPr>
          <p:cNvPr id="81" name="Text 79"/>
          <p:cNvSpPr/>
          <p:nvPr/>
        </p:nvSpPr>
        <p:spPr>
          <a:xfrm>
            <a:off x="6812280" y="5385816"/>
            <a:ext cx="1737360" cy="384048"/>
          </a:xfrm>
          <a:prstGeom prst="rect">
            <a:avLst/>
          </a:prstGeom>
          <a:noFill/>
          <a:ln/>
        </p:spPr>
        <p:txBody>
          <a:bodyPr wrap="square" rtlCol="0" anchor="ctr"/>
          <a:lstStyle/>
          <a:p>
            <a:pPr algn="ctr" indent="0" marL="0">
              <a:buNone/>
            </a:pPr>
            <a:r>
              <a:rPr lang="en-US" sz="1150" dirty="0">
                <a:solidFill>
                  <a:srgbClr val="FB7185"/>
                </a:solidFill>
                <a:latin typeface="Calibri" pitchFamily="34" charset="0"/>
                <a:ea typeface="Calibri" pitchFamily="34" charset="-122"/>
                <a:cs typeface="Calibri" pitchFamily="34" charset="-120"/>
              </a:rPr>
              <a:t>não</a:t>
            </a:r>
            <a:endParaRPr lang="en-US" sz="1150" dirty="0"/>
          </a:p>
        </p:txBody>
      </p:sp>
      <p:sp>
        <p:nvSpPr>
          <p:cNvPr id="82" name="Shape 80"/>
          <p:cNvSpPr/>
          <p:nvPr/>
        </p:nvSpPr>
        <p:spPr>
          <a:xfrm>
            <a:off x="8686800" y="5385816"/>
            <a:ext cx="1645920" cy="384048"/>
          </a:xfrm>
          <a:prstGeom prst="rect">
            <a:avLst/>
          </a:prstGeom>
          <a:solidFill>
            <a:srgbClr val="14101E"/>
          </a:solidFill>
          <a:ln w="6350">
            <a:solidFill>
              <a:srgbClr val="231A38"/>
            </a:solidFill>
            <a:prstDash val="solid"/>
          </a:ln>
        </p:spPr>
      </p:sp>
      <p:sp>
        <p:nvSpPr>
          <p:cNvPr id="83" name="Text 81"/>
          <p:cNvSpPr/>
          <p:nvPr/>
        </p:nvSpPr>
        <p:spPr>
          <a:xfrm>
            <a:off x="8823960" y="5385816"/>
            <a:ext cx="1371600" cy="384048"/>
          </a:xfrm>
          <a:prstGeom prst="rect">
            <a:avLst/>
          </a:prstGeom>
          <a:noFill/>
          <a:ln/>
        </p:spPr>
        <p:txBody>
          <a:bodyPr wrap="square" rtlCol="0" anchor="ctr"/>
          <a:lstStyle/>
          <a:p>
            <a:pPr algn="ctr" indent="0" marL="0">
              <a:buNone/>
            </a:pPr>
            <a:r>
              <a:rPr lang="en-US" sz="1150" dirty="0">
                <a:solidFill>
                  <a:srgbClr val="FB7185"/>
                </a:solidFill>
                <a:latin typeface="Calibri" pitchFamily="34" charset="0"/>
                <a:ea typeface="Calibri" pitchFamily="34" charset="-122"/>
                <a:cs typeface="Calibri" pitchFamily="34" charset="-120"/>
              </a:rPr>
              <a:t>não</a:t>
            </a:r>
            <a:endParaRPr lang="en-US" sz="1150" dirty="0"/>
          </a:p>
        </p:txBody>
      </p:sp>
      <p:sp>
        <p:nvSpPr>
          <p:cNvPr id="84" name="Text 82"/>
          <p:cNvSpPr/>
          <p:nvPr/>
        </p:nvSpPr>
        <p:spPr>
          <a:xfrm>
            <a:off x="548640" y="5852160"/>
            <a:ext cx="10972800" cy="411480"/>
          </a:xfrm>
          <a:prstGeom prst="rect">
            <a:avLst/>
          </a:prstGeom>
          <a:noFill/>
          <a:ln/>
        </p:spPr>
        <p:txBody>
          <a:bodyPr wrap="square" rtlCol="0" anchor="ctr"/>
          <a:lstStyle/>
          <a:p>
            <a:pPr indent="0" marL="0">
              <a:lnSpc>
                <a:spcPct val="130000"/>
              </a:lnSpc>
              <a:buNone/>
            </a:pPr>
            <a:r>
              <a:rPr lang="en-US" sz="1250" i="1" dirty="0">
                <a:solidFill>
                  <a:srgbClr val="8E89A6"/>
                </a:solidFill>
                <a:latin typeface="Calibri" pitchFamily="34" charset="0"/>
                <a:ea typeface="Calibri" pitchFamily="34" charset="-122"/>
                <a:cs typeface="Calibri" pitchFamily="34" charset="-120"/>
              </a:rPr>
              <a:t>Nosso fosso: combinação UX TikTok + curadoria nicho + IA generativa nativa. Cada concorrente teria que reescrever do zero.</a:t>
            </a:r>
            <a:endParaRPr lang="en-US" sz="1250" dirty="0"/>
          </a:p>
        </p:txBody>
      </p:sp>
      <p:sp>
        <p:nvSpPr>
          <p:cNvPr id="85" name="Text 83"/>
          <p:cNvSpPr/>
          <p:nvPr/>
        </p:nvSpPr>
        <p:spPr>
          <a:xfrm>
            <a:off x="548640" y="6355080"/>
            <a:ext cx="3657600" cy="274320"/>
          </a:xfrm>
          <a:prstGeom prst="rect">
            <a:avLst/>
          </a:prstGeom>
          <a:noFill/>
          <a:ln/>
        </p:spPr>
        <p:txBody>
          <a:bodyPr wrap="square" rtlCol="0" anchor="ctr"/>
          <a:lstStyle/>
          <a:p>
            <a:pPr indent="0" marL="0">
              <a:buNone/>
            </a:pPr>
            <a:r>
              <a:rPr lang="en-US" sz="900" spc="300" kern="0" dirty="0">
                <a:solidFill>
                  <a:srgbClr val="564F71"/>
                </a:solidFill>
                <a:latin typeface="Calibri" pitchFamily="34" charset="0"/>
                <a:ea typeface="Calibri" pitchFamily="34" charset="-122"/>
                <a:cs typeface="Calibri" pitchFamily="34" charset="-120"/>
              </a:rPr>
              <a:t>HIRLY · CONFIDENCIAL</a:t>
            </a:r>
            <a:endParaRPr lang="en-US" sz="900" dirty="0"/>
          </a:p>
        </p:txBody>
      </p:sp>
      <p:sp>
        <p:nvSpPr>
          <p:cNvPr id="86" name="Text 84"/>
          <p:cNvSpPr/>
          <p:nvPr/>
        </p:nvSpPr>
        <p:spPr>
          <a:xfrm>
            <a:off x="10972800" y="6355080"/>
            <a:ext cx="1097280" cy="274320"/>
          </a:xfrm>
          <a:prstGeom prst="rect">
            <a:avLst/>
          </a:prstGeom>
          <a:noFill/>
          <a:ln/>
        </p:spPr>
        <p:txBody>
          <a:bodyPr wrap="square" rtlCol="0" anchor="ctr"/>
          <a:lstStyle/>
          <a:p>
            <a:pPr algn="r" indent="0" marL="0">
              <a:buNone/>
            </a:pPr>
            <a:r>
              <a:rPr lang="en-US" sz="900" spc="300" kern="0" dirty="0">
                <a:solidFill>
                  <a:srgbClr val="564F71"/>
                </a:solidFill>
                <a:latin typeface="Calibri" pitchFamily="34" charset="0"/>
                <a:ea typeface="Calibri" pitchFamily="34" charset="-122"/>
                <a:cs typeface="Calibri" pitchFamily="34" charset="-120"/>
              </a:rPr>
              <a:t>06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40E"/>
        </a:solidFill>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indent="0" marL="0">
              <a:buNone/>
            </a:pPr>
            <a:r>
              <a:rPr lang="en-US" sz="1000" b="1" spc="400" kern="0" dirty="0">
                <a:solidFill>
                  <a:srgbClr val="22D3EE"/>
                </a:solidFill>
                <a:latin typeface="Calibri" pitchFamily="34" charset="0"/>
                <a:ea typeface="Calibri" pitchFamily="34" charset="-122"/>
                <a:cs typeface="Calibri" pitchFamily="34" charset="-120"/>
              </a:rPr>
              <a:t>06 · MODELO DE RECEITA</a:t>
            </a:r>
            <a:endParaRPr lang="en-US" sz="1000" dirty="0"/>
          </a:p>
        </p:txBody>
      </p:sp>
      <p:sp>
        <p:nvSpPr>
          <p:cNvPr id="3" name="Text 1"/>
          <p:cNvSpPr/>
          <p:nvPr/>
        </p:nvSpPr>
        <p:spPr>
          <a:xfrm>
            <a:off x="548640" y="777240"/>
            <a:ext cx="10515600" cy="1554480"/>
          </a:xfrm>
          <a:prstGeom prst="rect">
            <a:avLst/>
          </a:prstGeom>
          <a:noFill/>
          <a:ln/>
        </p:spPr>
        <p:txBody>
          <a:bodyPr wrap="square" rtlCol="0" anchor="ctr"/>
          <a:lstStyle/>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Candidato nunca paga.</a:t>
            </a:r>
            <a:endParaRPr lang="en-US" sz="3800" dirty="0"/>
          </a:p>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B2B híbrido — 4 tiers.</a:t>
            </a:r>
            <a:endParaRPr lang="en-US" sz="3800" dirty="0"/>
          </a:p>
        </p:txBody>
      </p:sp>
      <p:sp>
        <p:nvSpPr>
          <p:cNvPr id="4" name="Shape 2"/>
          <p:cNvSpPr/>
          <p:nvPr/>
        </p:nvSpPr>
        <p:spPr>
          <a:xfrm>
            <a:off x="548640" y="2697480"/>
            <a:ext cx="2697480" cy="3383280"/>
          </a:xfrm>
          <a:prstGeom prst="roundRect">
            <a:avLst>
              <a:gd name="adj" fmla="val 4068"/>
            </a:avLst>
          </a:prstGeom>
          <a:solidFill>
            <a:srgbClr val="14101E"/>
          </a:solidFill>
          <a:ln w="12700">
            <a:solidFill>
              <a:srgbClr val="231A38"/>
            </a:solidFill>
            <a:prstDash val="solid"/>
          </a:ln>
        </p:spPr>
      </p:sp>
      <p:sp>
        <p:nvSpPr>
          <p:cNvPr id="5" name="Text 3"/>
          <p:cNvSpPr/>
          <p:nvPr/>
        </p:nvSpPr>
        <p:spPr>
          <a:xfrm>
            <a:off x="777240" y="2926080"/>
            <a:ext cx="2240280" cy="365760"/>
          </a:xfrm>
          <a:prstGeom prst="rect">
            <a:avLst/>
          </a:prstGeom>
          <a:noFill/>
          <a:ln/>
        </p:spPr>
        <p:txBody>
          <a:bodyPr wrap="square" rtlCol="0" anchor="ctr"/>
          <a:lstStyle/>
          <a:p>
            <a:pPr indent="0" marL="0">
              <a:buNone/>
            </a:pPr>
            <a:r>
              <a:rPr lang="en-US" sz="1400" b="1" spc="-30" kern="0" dirty="0">
                <a:solidFill>
                  <a:srgbClr val="F4F2FA"/>
                </a:solidFill>
                <a:latin typeface="Calibri" pitchFamily="34" charset="0"/>
                <a:ea typeface="Calibri" pitchFamily="34" charset="-122"/>
                <a:cs typeface="Calibri" pitchFamily="34" charset="-120"/>
              </a:rPr>
              <a:t>Free</a:t>
            </a:r>
            <a:endParaRPr lang="en-US" sz="1400" dirty="0"/>
          </a:p>
        </p:txBody>
      </p:sp>
      <p:sp>
        <p:nvSpPr>
          <p:cNvPr id="6" name="Text 4"/>
          <p:cNvSpPr/>
          <p:nvPr/>
        </p:nvSpPr>
        <p:spPr>
          <a:xfrm>
            <a:off x="777240" y="3337560"/>
            <a:ext cx="2240280" cy="822960"/>
          </a:xfrm>
          <a:prstGeom prst="rect">
            <a:avLst/>
          </a:prstGeom>
          <a:noFill/>
          <a:ln/>
        </p:spPr>
        <p:txBody>
          <a:bodyPr wrap="square" rtlCol="0" anchor="ctr"/>
          <a:lstStyle/>
          <a:p>
            <a:pPr indent="0" marL="0">
              <a:buNone/>
            </a:pPr>
            <a:r>
              <a:rPr lang="en-US" sz="3600" b="1" spc="-150" kern="0" dirty="0">
                <a:solidFill>
                  <a:srgbClr val="F4F2FA"/>
                </a:solidFill>
                <a:latin typeface="Calibri" pitchFamily="34" charset="0"/>
                <a:ea typeface="Calibri" pitchFamily="34" charset="-122"/>
                <a:cs typeface="Calibri" pitchFamily="34" charset="-120"/>
              </a:rPr>
              <a:t>R$ 0</a:t>
            </a:r>
            <a:endParaRPr lang="en-US" sz="3600" dirty="0"/>
          </a:p>
        </p:txBody>
      </p:sp>
      <p:sp>
        <p:nvSpPr>
          <p:cNvPr id="7" name="Text 5"/>
          <p:cNvSpPr/>
          <p:nvPr/>
        </p:nvSpPr>
        <p:spPr>
          <a:xfrm>
            <a:off x="777240" y="4114800"/>
            <a:ext cx="2240280" cy="274320"/>
          </a:xfrm>
          <a:prstGeom prst="rect">
            <a:avLst/>
          </a:prstGeom>
          <a:noFill/>
          <a:ln/>
        </p:spPr>
        <p:txBody>
          <a:bodyPr wrap="square" rtlCol="0" anchor="ctr"/>
          <a:lstStyle/>
          <a:p>
            <a:pPr indent="0" marL="0">
              <a:buNone/>
            </a:pPr>
            <a:r>
              <a:rPr lang="en-US" sz="1100" spc="150" kern="0" dirty="0">
                <a:solidFill>
                  <a:srgbClr val="8E89A6"/>
                </a:solidFill>
                <a:latin typeface="Calibri" pitchFamily="34" charset="0"/>
                <a:ea typeface="Calibri" pitchFamily="34" charset="-122"/>
                <a:cs typeface="Calibri" pitchFamily="34" charset="-120"/>
              </a:rPr>
              <a:t>Trial</a:t>
            </a:r>
            <a:endParaRPr lang="en-US" sz="1100" dirty="0"/>
          </a:p>
        </p:txBody>
      </p:sp>
      <p:sp>
        <p:nvSpPr>
          <p:cNvPr id="8" name="Text 6"/>
          <p:cNvSpPr/>
          <p:nvPr/>
        </p:nvSpPr>
        <p:spPr>
          <a:xfrm>
            <a:off x="777240" y="4526280"/>
            <a:ext cx="224028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 1 vaga ativa</a:t>
            </a:r>
            <a:endParaRPr lang="en-US" sz="1100" dirty="0"/>
          </a:p>
        </p:txBody>
      </p:sp>
      <p:sp>
        <p:nvSpPr>
          <p:cNvPr id="9" name="Text 7"/>
          <p:cNvSpPr/>
          <p:nvPr/>
        </p:nvSpPr>
        <p:spPr>
          <a:xfrm>
            <a:off x="777240" y="4818888"/>
            <a:ext cx="224028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 Página pública</a:t>
            </a:r>
            <a:endParaRPr lang="en-US" sz="1100" dirty="0"/>
          </a:p>
        </p:txBody>
      </p:sp>
      <p:sp>
        <p:nvSpPr>
          <p:cNvPr id="10" name="Text 8"/>
          <p:cNvSpPr/>
          <p:nvPr/>
        </p:nvSpPr>
        <p:spPr>
          <a:xfrm>
            <a:off x="777240" y="5111496"/>
            <a:ext cx="224028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 Branding Hirly</a:t>
            </a:r>
            <a:endParaRPr lang="en-US" sz="1100" dirty="0"/>
          </a:p>
        </p:txBody>
      </p:sp>
      <p:sp>
        <p:nvSpPr>
          <p:cNvPr id="11" name="Shape 9"/>
          <p:cNvSpPr/>
          <p:nvPr/>
        </p:nvSpPr>
        <p:spPr>
          <a:xfrm>
            <a:off x="3337560" y="2697480"/>
            <a:ext cx="2697480" cy="3383280"/>
          </a:xfrm>
          <a:prstGeom prst="roundRect">
            <a:avLst>
              <a:gd name="adj" fmla="val 4068"/>
            </a:avLst>
          </a:prstGeom>
          <a:solidFill>
            <a:srgbClr val="14101E"/>
          </a:solidFill>
          <a:ln w="12700">
            <a:solidFill>
              <a:srgbClr val="231A38"/>
            </a:solidFill>
            <a:prstDash val="solid"/>
          </a:ln>
        </p:spPr>
      </p:sp>
      <p:sp>
        <p:nvSpPr>
          <p:cNvPr id="12" name="Text 10"/>
          <p:cNvSpPr/>
          <p:nvPr/>
        </p:nvSpPr>
        <p:spPr>
          <a:xfrm>
            <a:off x="3566160" y="2926080"/>
            <a:ext cx="2240280" cy="365760"/>
          </a:xfrm>
          <a:prstGeom prst="rect">
            <a:avLst/>
          </a:prstGeom>
          <a:noFill/>
          <a:ln/>
        </p:spPr>
        <p:txBody>
          <a:bodyPr wrap="square" rtlCol="0" anchor="ctr"/>
          <a:lstStyle/>
          <a:p>
            <a:pPr indent="0" marL="0">
              <a:buNone/>
            </a:pPr>
            <a:r>
              <a:rPr lang="en-US" sz="1400" b="1" spc="-30" kern="0" dirty="0">
                <a:solidFill>
                  <a:srgbClr val="F4F2FA"/>
                </a:solidFill>
                <a:latin typeface="Calibri" pitchFamily="34" charset="0"/>
                <a:ea typeface="Calibri" pitchFamily="34" charset="-122"/>
                <a:cs typeface="Calibri" pitchFamily="34" charset="-120"/>
              </a:rPr>
              <a:t>Starter</a:t>
            </a:r>
            <a:endParaRPr lang="en-US" sz="1400" dirty="0"/>
          </a:p>
        </p:txBody>
      </p:sp>
      <p:sp>
        <p:nvSpPr>
          <p:cNvPr id="13" name="Text 11"/>
          <p:cNvSpPr/>
          <p:nvPr/>
        </p:nvSpPr>
        <p:spPr>
          <a:xfrm>
            <a:off x="3566160" y="3337560"/>
            <a:ext cx="2240280" cy="822960"/>
          </a:xfrm>
          <a:prstGeom prst="rect">
            <a:avLst/>
          </a:prstGeom>
          <a:noFill/>
          <a:ln/>
        </p:spPr>
        <p:txBody>
          <a:bodyPr wrap="square" rtlCol="0" anchor="ctr"/>
          <a:lstStyle/>
          <a:p>
            <a:pPr indent="0" marL="0">
              <a:buNone/>
            </a:pPr>
            <a:r>
              <a:rPr lang="en-US" sz="3600" b="1" spc="-150" kern="0" dirty="0">
                <a:solidFill>
                  <a:srgbClr val="F4F2FA"/>
                </a:solidFill>
                <a:latin typeface="Calibri" pitchFamily="34" charset="0"/>
                <a:ea typeface="Calibri" pitchFamily="34" charset="-122"/>
                <a:cs typeface="Calibri" pitchFamily="34" charset="-120"/>
              </a:rPr>
              <a:t>R$ 299</a:t>
            </a:r>
            <a:endParaRPr lang="en-US" sz="3600" dirty="0"/>
          </a:p>
        </p:txBody>
      </p:sp>
      <p:sp>
        <p:nvSpPr>
          <p:cNvPr id="14" name="Text 12"/>
          <p:cNvSpPr/>
          <p:nvPr/>
        </p:nvSpPr>
        <p:spPr>
          <a:xfrm>
            <a:off x="3566160" y="4114800"/>
            <a:ext cx="2240280" cy="274320"/>
          </a:xfrm>
          <a:prstGeom prst="rect">
            <a:avLst/>
          </a:prstGeom>
          <a:noFill/>
          <a:ln/>
        </p:spPr>
        <p:txBody>
          <a:bodyPr wrap="square" rtlCol="0" anchor="ctr"/>
          <a:lstStyle/>
          <a:p>
            <a:pPr indent="0" marL="0">
              <a:buNone/>
            </a:pPr>
            <a:r>
              <a:rPr lang="en-US" sz="1100" spc="150" kern="0" dirty="0">
                <a:solidFill>
                  <a:srgbClr val="8E89A6"/>
                </a:solidFill>
                <a:latin typeface="Calibri" pitchFamily="34" charset="0"/>
                <a:ea typeface="Calibri" pitchFamily="34" charset="-122"/>
                <a:cs typeface="Calibri" pitchFamily="34" charset="-120"/>
              </a:rPr>
              <a:t>/mês</a:t>
            </a:r>
            <a:endParaRPr lang="en-US" sz="1100" dirty="0"/>
          </a:p>
        </p:txBody>
      </p:sp>
      <p:sp>
        <p:nvSpPr>
          <p:cNvPr id="15" name="Text 13"/>
          <p:cNvSpPr/>
          <p:nvPr/>
        </p:nvSpPr>
        <p:spPr>
          <a:xfrm>
            <a:off x="3566160" y="4526280"/>
            <a:ext cx="224028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 10 vagas ativas</a:t>
            </a:r>
            <a:endParaRPr lang="en-US" sz="1100" dirty="0"/>
          </a:p>
        </p:txBody>
      </p:sp>
      <p:sp>
        <p:nvSpPr>
          <p:cNvPr id="16" name="Text 14"/>
          <p:cNvSpPr/>
          <p:nvPr/>
        </p:nvSpPr>
        <p:spPr>
          <a:xfrm>
            <a:off x="3566160" y="4818888"/>
            <a:ext cx="224028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 Filtragem básica</a:t>
            </a:r>
            <a:endParaRPr lang="en-US" sz="1100" dirty="0"/>
          </a:p>
        </p:txBody>
      </p:sp>
      <p:sp>
        <p:nvSpPr>
          <p:cNvPr id="17" name="Text 15"/>
          <p:cNvSpPr/>
          <p:nvPr/>
        </p:nvSpPr>
        <p:spPr>
          <a:xfrm>
            <a:off x="3566160" y="5111496"/>
            <a:ext cx="224028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 Dashboard candidatos</a:t>
            </a:r>
            <a:endParaRPr lang="en-US" sz="1100" dirty="0"/>
          </a:p>
        </p:txBody>
      </p:sp>
      <p:sp>
        <p:nvSpPr>
          <p:cNvPr id="18" name="Shape 16"/>
          <p:cNvSpPr/>
          <p:nvPr/>
        </p:nvSpPr>
        <p:spPr>
          <a:xfrm>
            <a:off x="6126480" y="2697480"/>
            <a:ext cx="2697480" cy="3383280"/>
          </a:xfrm>
          <a:prstGeom prst="roundRect">
            <a:avLst>
              <a:gd name="adj" fmla="val 4068"/>
            </a:avLst>
          </a:prstGeom>
          <a:solidFill>
            <a:srgbClr val="1A1230"/>
          </a:solidFill>
          <a:ln w="25400">
            <a:solidFill>
              <a:srgbClr val="7B5CFF"/>
            </a:solidFill>
            <a:prstDash val="solid"/>
          </a:ln>
        </p:spPr>
      </p:sp>
      <p:sp>
        <p:nvSpPr>
          <p:cNvPr id="19" name="Shape 17"/>
          <p:cNvSpPr/>
          <p:nvPr/>
        </p:nvSpPr>
        <p:spPr>
          <a:xfrm>
            <a:off x="7635240" y="2532888"/>
            <a:ext cx="1097280" cy="329184"/>
          </a:xfrm>
          <a:prstGeom prst="roundRect">
            <a:avLst>
              <a:gd name="adj" fmla="val 50000"/>
            </a:avLst>
          </a:prstGeom>
          <a:solidFill>
            <a:srgbClr val="C7F94E"/>
          </a:solidFill>
          <a:ln/>
        </p:spPr>
      </p:sp>
      <p:sp>
        <p:nvSpPr>
          <p:cNvPr id="20" name="Text 18"/>
          <p:cNvSpPr/>
          <p:nvPr/>
        </p:nvSpPr>
        <p:spPr>
          <a:xfrm>
            <a:off x="7635240" y="2532888"/>
            <a:ext cx="1097280" cy="329184"/>
          </a:xfrm>
          <a:prstGeom prst="rect">
            <a:avLst/>
          </a:prstGeom>
          <a:noFill/>
          <a:ln/>
        </p:spPr>
        <p:txBody>
          <a:bodyPr wrap="square" rtlCol="0" anchor="ctr"/>
          <a:lstStyle/>
          <a:p>
            <a:pPr algn="ctr" indent="0" marL="0">
              <a:buNone/>
            </a:pPr>
            <a:r>
              <a:rPr lang="en-US" sz="800" b="1" spc="150" kern="0" dirty="0">
                <a:solidFill>
                  <a:srgbClr val="07040E"/>
                </a:solidFill>
                <a:latin typeface="Calibri" pitchFamily="34" charset="0"/>
                <a:ea typeface="Calibri" pitchFamily="34" charset="-122"/>
                <a:cs typeface="Calibri" pitchFamily="34" charset="-120"/>
              </a:rPr>
              <a:t>SWEET SPOT</a:t>
            </a:r>
            <a:endParaRPr lang="en-US" sz="800" dirty="0"/>
          </a:p>
        </p:txBody>
      </p:sp>
      <p:sp>
        <p:nvSpPr>
          <p:cNvPr id="21" name="Text 19"/>
          <p:cNvSpPr/>
          <p:nvPr/>
        </p:nvSpPr>
        <p:spPr>
          <a:xfrm>
            <a:off x="6355080" y="2926080"/>
            <a:ext cx="2240280" cy="365760"/>
          </a:xfrm>
          <a:prstGeom prst="rect">
            <a:avLst/>
          </a:prstGeom>
          <a:noFill/>
          <a:ln/>
        </p:spPr>
        <p:txBody>
          <a:bodyPr wrap="square" rtlCol="0" anchor="ctr"/>
          <a:lstStyle/>
          <a:p>
            <a:pPr indent="0" marL="0">
              <a:buNone/>
            </a:pPr>
            <a:r>
              <a:rPr lang="en-US" sz="1400" b="1" spc="-30" kern="0" dirty="0">
                <a:solidFill>
                  <a:srgbClr val="F4F2FA"/>
                </a:solidFill>
                <a:latin typeface="Calibri" pitchFamily="34" charset="0"/>
                <a:ea typeface="Calibri" pitchFamily="34" charset="-122"/>
                <a:cs typeface="Calibri" pitchFamily="34" charset="-120"/>
              </a:rPr>
              <a:t>Growth</a:t>
            </a:r>
            <a:endParaRPr lang="en-US" sz="1400" dirty="0"/>
          </a:p>
        </p:txBody>
      </p:sp>
      <p:sp>
        <p:nvSpPr>
          <p:cNvPr id="22" name="Text 20"/>
          <p:cNvSpPr/>
          <p:nvPr/>
        </p:nvSpPr>
        <p:spPr>
          <a:xfrm>
            <a:off x="6355080" y="3337560"/>
            <a:ext cx="2240280" cy="822960"/>
          </a:xfrm>
          <a:prstGeom prst="rect">
            <a:avLst/>
          </a:prstGeom>
          <a:noFill/>
          <a:ln/>
        </p:spPr>
        <p:txBody>
          <a:bodyPr wrap="square" rtlCol="0" anchor="ctr"/>
          <a:lstStyle/>
          <a:p>
            <a:pPr indent="0" marL="0">
              <a:buNone/>
            </a:pPr>
            <a:r>
              <a:rPr lang="en-US" sz="3600" b="1" spc="-150" kern="0" dirty="0">
                <a:solidFill>
                  <a:srgbClr val="7B5CFF"/>
                </a:solidFill>
                <a:latin typeface="Calibri" pitchFamily="34" charset="0"/>
                <a:ea typeface="Calibri" pitchFamily="34" charset="-122"/>
                <a:cs typeface="Calibri" pitchFamily="34" charset="-120"/>
              </a:rPr>
              <a:t>R$ 899</a:t>
            </a:r>
            <a:endParaRPr lang="en-US" sz="3600" dirty="0"/>
          </a:p>
        </p:txBody>
      </p:sp>
      <p:sp>
        <p:nvSpPr>
          <p:cNvPr id="23" name="Text 21"/>
          <p:cNvSpPr/>
          <p:nvPr/>
        </p:nvSpPr>
        <p:spPr>
          <a:xfrm>
            <a:off x="6355080" y="4114800"/>
            <a:ext cx="2240280" cy="274320"/>
          </a:xfrm>
          <a:prstGeom prst="rect">
            <a:avLst/>
          </a:prstGeom>
          <a:noFill/>
          <a:ln/>
        </p:spPr>
        <p:txBody>
          <a:bodyPr wrap="square" rtlCol="0" anchor="ctr"/>
          <a:lstStyle/>
          <a:p>
            <a:pPr indent="0" marL="0">
              <a:buNone/>
            </a:pPr>
            <a:r>
              <a:rPr lang="en-US" sz="1100" spc="150" kern="0" dirty="0">
                <a:solidFill>
                  <a:srgbClr val="8E89A6"/>
                </a:solidFill>
                <a:latin typeface="Calibri" pitchFamily="34" charset="0"/>
                <a:ea typeface="Calibri" pitchFamily="34" charset="-122"/>
                <a:cs typeface="Calibri" pitchFamily="34" charset="-120"/>
              </a:rPr>
              <a:t>/mês</a:t>
            </a:r>
            <a:endParaRPr lang="en-US" sz="1100" dirty="0"/>
          </a:p>
        </p:txBody>
      </p:sp>
      <p:sp>
        <p:nvSpPr>
          <p:cNvPr id="24" name="Text 22"/>
          <p:cNvSpPr/>
          <p:nvPr/>
        </p:nvSpPr>
        <p:spPr>
          <a:xfrm>
            <a:off x="6355080" y="4526280"/>
            <a:ext cx="224028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 Vagas ilimitadas</a:t>
            </a:r>
            <a:endParaRPr lang="en-US" sz="1100" dirty="0"/>
          </a:p>
        </p:txBody>
      </p:sp>
      <p:sp>
        <p:nvSpPr>
          <p:cNvPr id="25" name="Text 23"/>
          <p:cNvSpPr/>
          <p:nvPr/>
        </p:nvSpPr>
        <p:spPr>
          <a:xfrm>
            <a:off x="6355080" y="4818888"/>
            <a:ext cx="224028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 IA matching reverso</a:t>
            </a:r>
            <a:endParaRPr lang="en-US" sz="1100" dirty="0"/>
          </a:p>
        </p:txBody>
      </p:sp>
      <p:sp>
        <p:nvSpPr>
          <p:cNvPr id="26" name="Text 24"/>
          <p:cNvSpPr/>
          <p:nvPr/>
        </p:nvSpPr>
        <p:spPr>
          <a:xfrm>
            <a:off x="6355080" y="5111496"/>
            <a:ext cx="224028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 Export CSV + analytics</a:t>
            </a:r>
            <a:endParaRPr lang="en-US" sz="1100" dirty="0"/>
          </a:p>
        </p:txBody>
      </p:sp>
      <p:sp>
        <p:nvSpPr>
          <p:cNvPr id="27" name="Text 25"/>
          <p:cNvSpPr/>
          <p:nvPr/>
        </p:nvSpPr>
        <p:spPr>
          <a:xfrm>
            <a:off x="6355080" y="5404104"/>
            <a:ext cx="224028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 Suporte priority</a:t>
            </a:r>
            <a:endParaRPr lang="en-US" sz="1100" dirty="0"/>
          </a:p>
        </p:txBody>
      </p:sp>
      <p:sp>
        <p:nvSpPr>
          <p:cNvPr id="28" name="Shape 26"/>
          <p:cNvSpPr/>
          <p:nvPr/>
        </p:nvSpPr>
        <p:spPr>
          <a:xfrm>
            <a:off x="8915400" y="2697480"/>
            <a:ext cx="2697480" cy="3383280"/>
          </a:xfrm>
          <a:prstGeom prst="roundRect">
            <a:avLst>
              <a:gd name="adj" fmla="val 4068"/>
            </a:avLst>
          </a:prstGeom>
          <a:solidFill>
            <a:srgbClr val="14101E"/>
          </a:solidFill>
          <a:ln w="12700">
            <a:solidFill>
              <a:srgbClr val="231A38"/>
            </a:solidFill>
            <a:prstDash val="solid"/>
          </a:ln>
        </p:spPr>
      </p:sp>
      <p:sp>
        <p:nvSpPr>
          <p:cNvPr id="29" name="Text 27"/>
          <p:cNvSpPr/>
          <p:nvPr/>
        </p:nvSpPr>
        <p:spPr>
          <a:xfrm>
            <a:off x="9144000" y="2926080"/>
            <a:ext cx="2240280" cy="365760"/>
          </a:xfrm>
          <a:prstGeom prst="rect">
            <a:avLst/>
          </a:prstGeom>
          <a:noFill/>
          <a:ln/>
        </p:spPr>
        <p:txBody>
          <a:bodyPr wrap="square" rtlCol="0" anchor="ctr"/>
          <a:lstStyle/>
          <a:p>
            <a:pPr indent="0" marL="0">
              <a:buNone/>
            </a:pPr>
            <a:r>
              <a:rPr lang="en-US" sz="1400" b="1" spc="-30" kern="0" dirty="0">
                <a:solidFill>
                  <a:srgbClr val="F4F2FA"/>
                </a:solidFill>
                <a:latin typeface="Calibri" pitchFamily="34" charset="0"/>
                <a:ea typeface="Calibri" pitchFamily="34" charset="-122"/>
                <a:cs typeface="Calibri" pitchFamily="34" charset="-120"/>
              </a:rPr>
              <a:t>Enterprise</a:t>
            </a:r>
            <a:endParaRPr lang="en-US" sz="1400" dirty="0"/>
          </a:p>
        </p:txBody>
      </p:sp>
      <p:sp>
        <p:nvSpPr>
          <p:cNvPr id="30" name="Text 28"/>
          <p:cNvSpPr/>
          <p:nvPr/>
        </p:nvSpPr>
        <p:spPr>
          <a:xfrm>
            <a:off x="9144000" y="3337560"/>
            <a:ext cx="2240280" cy="822960"/>
          </a:xfrm>
          <a:prstGeom prst="rect">
            <a:avLst/>
          </a:prstGeom>
          <a:noFill/>
          <a:ln/>
        </p:spPr>
        <p:txBody>
          <a:bodyPr wrap="square" rtlCol="0" anchor="ctr"/>
          <a:lstStyle/>
          <a:p>
            <a:pPr indent="0" marL="0">
              <a:buNone/>
            </a:pPr>
            <a:r>
              <a:rPr lang="en-US" sz="3600" b="1" spc="-150" kern="0" dirty="0">
                <a:solidFill>
                  <a:srgbClr val="F4F2FA"/>
                </a:solidFill>
                <a:latin typeface="Calibri" pitchFamily="34" charset="0"/>
                <a:ea typeface="Calibri" pitchFamily="34" charset="-122"/>
                <a:cs typeface="Calibri" pitchFamily="34" charset="-120"/>
              </a:rPr>
              <a:t>R$ 5k+</a:t>
            </a:r>
            <a:endParaRPr lang="en-US" sz="3600" dirty="0"/>
          </a:p>
        </p:txBody>
      </p:sp>
      <p:sp>
        <p:nvSpPr>
          <p:cNvPr id="31" name="Text 29"/>
          <p:cNvSpPr/>
          <p:nvPr/>
        </p:nvSpPr>
        <p:spPr>
          <a:xfrm>
            <a:off x="9144000" y="4114800"/>
            <a:ext cx="2240280" cy="274320"/>
          </a:xfrm>
          <a:prstGeom prst="rect">
            <a:avLst/>
          </a:prstGeom>
          <a:noFill/>
          <a:ln/>
        </p:spPr>
        <p:txBody>
          <a:bodyPr wrap="square" rtlCol="0" anchor="ctr"/>
          <a:lstStyle/>
          <a:p>
            <a:pPr indent="0" marL="0">
              <a:buNone/>
            </a:pPr>
            <a:r>
              <a:rPr lang="en-US" sz="1100" spc="150" kern="0" dirty="0">
                <a:solidFill>
                  <a:srgbClr val="8E89A6"/>
                </a:solidFill>
                <a:latin typeface="Calibri" pitchFamily="34" charset="0"/>
                <a:ea typeface="Calibri" pitchFamily="34" charset="-122"/>
                <a:cs typeface="Calibri" pitchFamily="34" charset="-120"/>
              </a:rPr>
              <a:t>/mês</a:t>
            </a:r>
            <a:endParaRPr lang="en-US" sz="1100" dirty="0"/>
          </a:p>
        </p:txBody>
      </p:sp>
      <p:sp>
        <p:nvSpPr>
          <p:cNvPr id="32" name="Text 30"/>
          <p:cNvSpPr/>
          <p:nvPr/>
        </p:nvSpPr>
        <p:spPr>
          <a:xfrm>
            <a:off x="9144000" y="4526280"/>
            <a:ext cx="224028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 API + ATS integração</a:t>
            </a:r>
            <a:endParaRPr lang="en-US" sz="1100" dirty="0"/>
          </a:p>
        </p:txBody>
      </p:sp>
      <p:sp>
        <p:nvSpPr>
          <p:cNvPr id="33" name="Text 31"/>
          <p:cNvSpPr/>
          <p:nvPr/>
        </p:nvSpPr>
        <p:spPr>
          <a:xfrm>
            <a:off x="9144000" y="4818888"/>
            <a:ext cx="224028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 BI dedicado</a:t>
            </a:r>
            <a:endParaRPr lang="en-US" sz="1100" dirty="0"/>
          </a:p>
        </p:txBody>
      </p:sp>
      <p:sp>
        <p:nvSpPr>
          <p:cNvPr id="34" name="Text 32"/>
          <p:cNvSpPr/>
          <p:nvPr/>
        </p:nvSpPr>
        <p:spPr>
          <a:xfrm>
            <a:off x="9144000" y="5111496"/>
            <a:ext cx="224028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 Account manager</a:t>
            </a:r>
            <a:endParaRPr lang="en-US" sz="1100" dirty="0"/>
          </a:p>
        </p:txBody>
      </p:sp>
      <p:sp>
        <p:nvSpPr>
          <p:cNvPr id="35" name="Text 33"/>
          <p:cNvSpPr/>
          <p:nvPr/>
        </p:nvSpPr>
        <p:spPr>
          <a:xfrm>
            <a:off x="9144000" y="5404104"/>
            <a:ext cx="224028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 SLA 4h</a:t>
            </a:r>
            <a:endParaRPr lang="en-US" sz="1100" dirty="0"/>
          </a:p>
        </p:txBody>
      </p:sp>
      <p:sp>
        <p:nvSpPr>
          <p:cNvPr id="36" name="Text 34"/>
          <p:cNvSpPr/>
          <p:nvPr/>
        </p:nvSpPr>
        <p:spPr>
          <a:xfrm>
            <a:off x="548640" y="5897880"/>
            <a:ext cx="10972800" cy="365760"/>
          </a:xfrm>
          <a:prstGeom prst="rect">
            <a:avLst/>
          </a:prstGeom>
          <a:noFill/>
          <a:ln/>
        </p:spPr>
        <p:txBody>
          <a:bodyPr wrap="square" rtlCol="0" anchor="ctr"/>
          <a:lstStyle/>
          <a:p>
            <a:pPr indent="0" marL="0">
              <a:buNone/>
            </a:pPr>
            <a:r>
              <a:rPr lang="en-US" sz="1200" i="1" dirty="0">
                <a:solidFill>
                  <a:srgbClr val="8E89A6"/>
                </a:solidFill>
                <a:latin typeface="Calibri" pitchFamily="34" charset="0"/>
                <a:ea typeface="Calibri" pitchFamily="34" charset="-122"/>
                <a:cs typeface="Calibri" pitchFamily="34" charset="-120"/>
              </a:rPr>
              <a:t>LTV/CAC esperado em Growth tier: 3–7x. Hirly Pro pra candidato (R$ 19/mês) só após 50k MAU.</a:t>
            </a:r>
            <a:endParaRPr lang="en-US" sz="1200" dirty="0"/>
          </a:p>
        </p:txBody>
      </p:sp>
      <p:sp>
        <p:nvSpPr>
          <p:cNvPr id="37" name="Text 35"/>
          <p:cNvSpPr/>
          <p:nvPr/>
        </p:nvSpPr>
        <p:spPr>
          <a:xfrm>
            <a:off x="548640" y="6355080"/>
            <a:ext cx="3657600" cy="274320"/>
          </a:xfrm>
          <a:prstGeom prst="rect">
            <a:avLst/>
          </a:prstGeom>
          <a:noFill/>
          <a:ln/>
        </p:spPr>
        <p:txBody>
          <a:bodyPr wrap="square" rtlCol="0" anchor="ctr"/>
          <a:lstStyle/>
          <a:p>
            <a:pPr indent="0" marL="0">
              <a:buNone/>
            </a:pPr>
            <a:r>
              <a:rPr lang="en-US" sz="900" spc="300" kern="0" dirty="0">
                <a:solidFill>
                  <a:srgbClr val="564F71"/>
                </a:solidFill>
                <a:latin typeface="Calibri" pitchFamily="34" charset="0"/>
                <a:ea typeface="Calibri" pitchFamily="34" charset="-122"/>
                <a:cs typeface="Calibri" pitchFamily="34" charset="-120"/>
              </a:rPr>
              <a:t>HIRLY · CONFIDENCIAL</a:t>
            </a:r>
            <a:endParaRPr lang="en-US" sz="900" dirty="0"/>
          </a:p>
        </p:txBody>
      </p:sp>
      <p:sp>
        <p:nvSpPr>
          <p:cNvPr id="38" name="Text 36"/>
          <p:cNvSpPr/>
          <p:nvPr/>
        </p:nvSpPr>
        <p:spPr>
          <a:xfrm>
            <a:off x="10972800" y="6355080"/>
            <a:ext cx="1097280" cy="274320"/>
          </a:xfrm>
          <a:prstGeom prst="rect">
            <a:avLst/>
          </a:prstGeom>
          <a:noFill/>
          <a:ln/>
        </p:spPr>
        <p:txBody>
          <a:bodyPr wrap="square" rtlCol="0" anchor="ctr"/>
          <a:lstStyle/>
          <a:p>
            <a:pPr algn="r" indent="0" marL="0">
              <a:buNone/>
            </a:pPr>
            <a:r>
              <a:rPr lang="en-US" sz="900" spc="300" kern="0" dirty="0">
                <a:solidFill>
                  <a:srgbClr val="564F71"/>
                </a:solidFill>
                <a:latin typeface="Calibri" pitchFamily="34" charset="0"/>
                <a:ea typeface="Calibri" pitchFamily="34" charset="-122"/>
                <a:cs typeface="Calibri" pitchFamily="34" charset="-120"/>
              </a:rPr>
              <a:t>07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40E"/>
        </a:solidFill>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indent="0" marL="0">
              <a:buNone/>
            </a:pPr>
            <a:r>
              <a:rPr lang="en-US" sz="1000" b="1" spc="400" kern="0" dirty="0">
                <a:solidFill>
                  <a:srgbClr val="22D3EE"/>
                </a:solidFill>
                <a:latin typeface="Calibri" pitchFamily="34" charset="0"/>
                <a:ea typeface="Calibri" pitchFamily="34" charset="-122"/>
                <a:cs typeface="Calibri" pitchFamily="34" charset="-120"/>
              </a:rPr>
              <a:t>07 · GO-TO-MARKET</a:t>
            </a:r>
            <a:endParaRPr lang="en-US" sz="1000" dirty="0"/>
          </a:p>
        </p:txBody>
      </p:sp>
      <p:sp>
        <p:nvSpPr>
          <p:cNvPr id="3" name="Text 1"/>
          <p:cNvSpPr/>
          <p:nvPr/>
        </p:nvSpPr>
        <p:spPr>
          <a:xfrm>
            <a:off x="548640" y="777240"/>
            <a:ext cx="10515600" cy="1554480"/>
          </a:xfrm>
          <a:prstGeom prst="rect">
            <a:avLst/>
          </a:prstGeom>
          <a:noFill/>
          <a:ln/>
        </p:spPr>
        <p:txBody>
          <a:bodyPr wrap="square" rtlCol="0" anchor="ctr"/>
          <a:lstStyle/>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Geração Z tá no TikTok.</a:t>
            </a:r>
            <a:endParaRPr lang="en-US" sz="3800" dirty="0"/>
          </a:p>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Vamos aonde ela tá.</a:t>
            </a:r>
            <a:endParaRPr lang="en-US" sz="3800" dirty="0"/>
          </a:p>
        </p:txBody>
      </p:sp>
      <p:sp>
        <p:nvSpPr>
          <p:cNvPr id="4" name="Shape 2"/>
          <p:cNvSpPr/>
          <p:nvPr/>
        </p:nvSpPr>
        <p:spPr>
          <a:xfrm>
            <a:off x="548640" y="2697480"/>
            <a:ext cx="11064240" cy="1005840"/>
          </a:xfrm>
          <a:prstGeom prst="roundRect">
            <a:avLst>
              <a:gd name="adj" fmla="val 10909"/>
            </a:avLst>
          </a:prstGeom>
          <a:solidFill>
            <a:srgbClr val="14101E"/>
          </a:solidFill>
          <a:ln w="12700">
            <a:solidFill>
              <a:srgbClr val="231A38"/>
            </a:solidFill>
            <a:prstDash val="solid"/>
          </a:ln>
        </p:spPr>
      </p:sp>
      <p:sp>
        <p:nvSpPr>
          <p:cNvPr id="5" name="Shape 3"/>
          <p:cNvSpPr/>
          <p:nvPr/>
        </p:nvSpPr>
        <p:spPr>
          <a:xfrm>
            <a:off x="548640" y="2697480"/>
            <a:ext cx="164592" cy="1005840"/>
          </a:xfrm>
          <a:prstGeom prst="roundRect">
            <a:avLst>
              <a:gd name="adj" fmla="val 33333"/>
            </a:avLst>
          </a:prstGeom>
          <a:solidFill>
            <a:srgbClr val="7B5CFF"/>
          </a:solidFill>
          <a:ln/>
        </p:spPr>
      </p:sp>
      <p:sp>
        <p:nvSpPr>
          <p:cNvPr id="6" name="Text 4"/>
          <p:cNvSpPr/>
          <p:nvPr/>
        </p:nvSpPr>
        <p:spPr>
          <a:xfrm>
            <a:off x="914400" y="2834640"/>
            <a:ext cx="2743200" cy="274320"/>
          </a:xfrm>
          <a:prstGeom prst="rect">
            <a:avLst/>
          </a:prstGeom>
          <a:noFill/>
          <a:ln/>
        </p:spPr>
        <p:txBody>
          <a:bodyPr wrap="square" rtlCol="0" anchor="ctr"/>
          <a:lstStyle/>
          <a:p>
            <a:pPr indent="0" marL="0">
              <a:buNone/>
            </a:pPr>
            <a:r>
              <a:rPr lang="en-US" sz="1000" b="1" spc="300" kern="0" dirty="0">
                <a:solidFill>
                  <a:srgbClr val="7B5CFF"/>
                </a:solidFill>
                <a:latin typeface="Calibri" pitchFamily="34" charset="0"/>
                <a:ea typeface="Calibri" pitchFamily="34" charset="-122"/>
                <a:cs typeface="Calibri" pitchFamily="34" charset="-120"/>
              </a:rPr>
              <a:t>FASE 1 · 0–6m</a:t>
            </a:r>
            <a:endParaRPr lang="en-US" sz="1000" dirty="0"/>
          </a:p>
        </p:txBody>
      </p:sp>
      <p:sp>
        <p:nvSpPr>
          <p:cNvPr id="7" name="Text 5"/>
          <p:cNvSpPr/>
          <p:nvPr/>
        </p:nvSpPr>
        <p:spPr>
          <a:xfrm>
            <a:off x="914400" y="3063240"/>
            <a:ext cx="3657600" cy="411480"/>
          </a:xfrm>
          <a:prstGeom prst="rect">
            <a:avLst/>
          </a:prstGeom>
          <a:noFill/>
          <a:ln/>
        </p:spPr>
        <p:txBody>
          <a:bodyPr wrap="square" rtlCol="0" anchor="ctr"/>
          <a:lstStyle/>
          <a:p>
            <a:pPr indent="0" marL="0">
              <a:buNone/>
            </a:pPr>
            <a:r>
              <a:rPr lang="en-US" sz="1800" b="1" spc="-40" kern="0" dirty="0">
                <a:solidFill>
                  <a:srgbClr val="F4F2FA"/>
                </a:solidFill>
                <a:latin typeface="Calibri" pitchFamily="34" charset="0"/>
                <a:ea typeface="Calibri" pitchFamily="34" charset="-122"/>
                <a:cs typeface="Calibri" pitchFamily="34" charset="-120"/>
              </a:rPr>
              <a:t>Founder-led</a:t>
            </a:r>
            <a:endParaRPr lang="en-US" sz="1800" dirty="0"/>
          </a:p>
        </p:txBody>
      </p:sp>
      <p:sp>
        <p:nvSpPr>
          <p:cNvPr id="8" name="Text 6"/>
          <p:cNvSpPr/>
          <p:nvPr/>
        </p:nvSpPr>
        <p:spPr>
          <a:xfrm>
            <a:off x="4572000" y="2834640"/>
            <a:ext cx="6858000" cy="777240"/>
          </a:xfrm>
          <a:prstGeom prst="rect">
            <a:avLst/>
          </a:prstGeom>
          <a:noFill/>
          <a:ln/>
        </p:spPr>
        <p:txBody>
          <a:bodyPr wrap="square" rtlCol="0" anchor="ctr"/>
          <a:lstStyle/>
          <a:p>
            <a:pPr indent="0" marL="0">
              <a:lnSpc>
                <a:spcPct val="140000"/>
              </a:lnSpc>
              <a:buNone/>
            </a:pPr>
            <a:r>
              <a:rPr lang="en-US" sz="1200" dirty="0">
                <a:solidFill>
                  <a:srgbClr val="8E89A6"/>
                </a:solidFill>
                <a:latin typeface="Calibri" pitchFamily="34" charset="0"/>
                <a:ea typeface="Calibri" pitchFamily="34" charset="-122"/>
                <a:cs typeface="Calibri" pitchFamily="34" charset="-120"/>
              </a:rPr>
              <a:t>Conteúdo orgânico TikTok/Instagram · 20 universidades SP · 100 empresas-alvo · 5k MAU + 20 empresas pagantes</a:t>
            </a:r>
            <a:endParaRPr lang="en-US" sz="1200" dirty="0"/>
          </a:p>
        </p:txBody>
      </p:sp>
      <p:sp>
        <p:nvSpPr>
          <p:cNvPr id="9" name="Shape 7"/>
          <p:cNvSpPr/>
          <p:nvPr/>
        </p:nvSpPr>
        <p:spPr>
          <a:xfrm>
            <a:off x="548640" y="3840480"/>
            <a:ext cx="11064240" cy="1005840"/>
          </a:xfrm>
          <a:prstGeom prst="roundRect">
            <a:avLst>
              <a:gd name="adj" fmla="val 10909"/>
            </a:avLst>
          </a:prstGeom>
          <a:solidFill>
            <a:srgbClr val="14101E"/>
          </a:solidFill>
          <a:ln w="12700">
            <a:solidFill>
              <a:srgbClr val="231A38"/>
            </a:solidFill>
            <a:prstDash val="solid"/>
          </a:ln>
        </p:spPr>
      </p:sp>
      <p:sp>
        <p:nvSpPr>
          <p:cNvPr id="10" name="Shape 8"/>
          <p:cNvSpPr/>
          <p:nvPr/>
        </p:nvSpPr>
        <p:spPr>
          <a:xfrm>
            <a:off x="548640" y="3840480"/>
            <a:ext cx="164592" cy="1005840"/>
          </a:xfrm>
          <a:prstGeom prst="roundRect">
            <a:avLst>
              <a:gd name="adj" fmla="val 33333"/>
            </a:avLst>
          </a:prstGeom>
          <a:solidFill>
            <a:srgbClr val="22D3EE"/>
          </a:solidFill>
          <a:ln/>
        </p:spPr>
      </p:sp>
      <p:sp>
        <p:nvSpPr>
          <p:cNvPr id="11" name="Text 9"/>
          <p:cNvSpPr/>
          <p:nvPr/>
        </p:nvSpPr>
        <p:spPr>
          <a:xfrm>
            <a:off x="914400" y="3977640"/>
            <a:ext cx="2743200" cy="274320"/>
          </a:xfrm>
          <a:prstGeom prst="rect">
            <a:avLst/>
          </a:prstGeom>
          <a:noFill/>
          <a:ln/>
        </p:spPr>
        <p:txBody>
          <a:bodyPr wrap="square" rtlCol="0" anchor="ctr"/>
          <a:lstStyle/>
          <a:p>
            <a:pPr indent="0" marL="0">
              <a:buNone/>
            </a:pPr>
            <a:r>
              <a:rPr lang="en-US" sz="1000" b="1" spc="300" kern="0" dirty="0">
                <a:solidFill>
                  <a:srgbClr val="22D3EE"/>
                </a:solidFill>
                <a:latin typeface="Calibri" pitchFamily="34" charset="0"/>
                <a:ea typeface="Calibri" pitchFamily="34" charset="-122"/>
                <a:cs typeface="Calibri" pitchFamily="34" charset="-120"/>
              </a:rPr>
              <a:t>FASE 2 · 6–12m</a:t>
            </a:r>
            <a:endParaRPr lang="en-US" sz="1000" dirty="0"/>
          </a:p>
        </p:txBody>
      </p:sp>
      <p:sp>
        <p:nvSpPr>
          <p:cNvPr id="12" name="Text 10"/>
          <p:cNvSpPr/>
          <p:nvPr/>
        </p:nvSpPr>
        <p:spPr>
          <a:xfrm>
            <a:off x="914400" y="4206240"/>
            <a:ext cx="3657600" cy="411480"/>
          </a:xfrm>
          <a:prstGeom prst="rect">
            <a:avLst/>
          </a:prstGeom>
          <a:noFill/>
          <a:ln/>
        </p:spPr>
        <p:txBody>
          <a:bodyPr wrap="square" rtlCol="0" anchor="ctr"/>
          <a:lstStyle/>
          <a:p>
            <a:pPr indent="0" marL="0">
              <a:buNone/>
            </a:pPr>
            <a:r>
              <a:rPr lang="en-US" sz="1800" b="1" spc="-40" kern="0" dirty="0">
                <a:solidFill>
                  <a:srgbClr val="F4F2FA"/>
                </a:solidFill>
                <a:latin typeface="Calibri" pitchFamily="34" charset="0"/>
                <a:ea typeface="Calibri" pitchFamily="34" charset="-122"/>
                <a:cs typeface="Calibri" pitchFamily="34" charset="-120"/>
              </a:rPr>
              <a:t>Inside sales</a:t>
            </a:r>
            <a:endParaRPr lang="en-US" sz="1800" dirty="0"/>
          </a:p>
        </p:txBody>
      </p:sp>
      <p:sp>
        <p:nvSpPr>
          <p:cNvPr id="13" name="Text 11"/>
          <p:cNvSpPr/>
          <p:nvPr/>
        </p:nvSpPr>
        <p:spPr>
          <a:xfrm>
            <a:off x="4572000" y="3977640"/>
            <a:ext cx="6858000" cy="777240"/>
          </a:xfrm>
          <a:prstGeom prst="rect">
            <a:avLst/>
          </a:prstGeom>
          <a:noFill/>
          <a:ln/>
        </p:spPr>
        <p:txBody>
          <a:bodyPr wrap="square" rtlCol="0" anchor="ctr"/>
          <a:lstStyle/>
          <a:p>
            <a:pPr indent="0" marL="0">
              <a:lnSpc>
                <a:spcPct val="140000"/>
              </a:lnSpc>
              <a:buNone/>
            </a:pPr>
            <a:r>
              <a:rPr lang="en-US" sz="1200" dirty="0">
                <a:solidFill>
                  <a:srgbClr val="8E89A6"/>
                </a:solidFill>
                <a:latin typeface="Calibri" pitchFamily="34" charset="0"/>
                <a:ea typeface="Calibri" pitchFamily="34" charset="-122"/>
                <a:cs typeface="Calibri" pitchFamily="34" charset="-120"/>
              </a:rPr>
              <a:t>Time SDR/AE pra B2B · Ads paid R$ 5–15k/mês · 25k MAU + 100 empresas Growth · PR (Exame, UOL, Forbes)</a:t>
            </a:r>
            <a:endParaRPr lang="en-US" sz="1200" dirty="0"/>
          </a:p>
        </p:txBody>
      </p:sp>
      <p:sp>
        <p:nvSpPr>
          <p:cNvPr id="14" name="Shape 12"/>
          <p:cNvSpPr/>
          <p:nvPr/>
        </p:nvSpPr>
        <p:spPr>
          <a:xfrm>
            <a:off x="548640" y="4983480"/>
            <a:ext cx="11064240" cy="1005840"/>
          </a:xfrm>
          <a:prstGeom prst="roundRect">
            <a:avLst>
              <a:gd name="adj" fmla="val 10909"/>
            </a:avLst>
          </a:prstGeom>
          <a:solidFill>
            <a:srgbClr val="14101E"/>
          </a:solidFill>
          <a:ln w="12700">
            <a:solidFill>
              <a:srgbClr val="231A38"/>
            </a:solidFill>
            <a:prstDash val="solid"/>
          </a:ln>
        </p:spPr>
      </p:sp>
      <p:sp>
        <p:nvSpPr>
          <p:cNvPr id="15" name="Shape 13"/>
          <p:cNvSpPr/>
          <p:nvPr/>
        </p:nvSpPr>
        <p:spPr>
          <a:xfrm>
            <a:off x="548640" y="4983480"/>
            <a:ext cx="164592" cy="1005840"/>
          </a:xfrm>
          <a:prstGeom prst="roundRect">
            <a:avLst>
              <a:gd name="adj" fmla="val 33333"/>
            </a:avLst>
          </a:prstGeom>
          <a:solidFill>
            <a:srgbClr val="C7F94E"/>
          </a:solidFill>
          <a:ln/>
        </p:spPr>
      </p:sp>
      <p:sp>
        <p:nvSpPr>
          <p:cNvPr id="16" name="Text 14"/>
          <p:cNvSpPr/>
          <p:nvPr/>
        </p:nvSpPr>
        <p:spPr>
          <a:xfrm>
            <a:off x="914400" y="5120640"/>
            <a:ext cx="2743200" cy="274320"/>
          </a:xfrm>
          <a:prstGeom prst="rect">
            <a:avLst/>
          </a:prstGeom>
          <a:noFill/>
          <a:ln/>
        </p:spPr>
        <p:txBody>
          <a:bodyPr wrap="square" rtlCol="0" anchor="ctr"/>
          <a:lstStyle/>
          <a:p>
            <a:pPr indent="0" marL="0">
              <a:buNone/>
            </a:pPr>
            <a:r>
              <a:rPr lang="en-US" sz="1000" b="1" spc="300" kern="0" dirty="0">
                <a:solidFill>
                  <a:srgbClr val="C7F94E"/>
                </a:solidFill>
                <a:latin typeface="Calibri" pitchFamily="34" charset="0"/>
                <a:ea typeface="Calibri" pitchFamily="34" charset="-122"/>
                <a:cs typeface="Calibri" pitchFamily="34" charset="-120"/>
              </a:rPr>
              <a:t>FASE 3 · 12m+</a:t>
            </a:r>
            <a:endParaRPr lang="en-US" sz="1000" dirty="0"/>
          </a:p>
        </p:txBody>
      </p:sp>
      <p:sp>
        <p:nvSpPr>
          <p:cNvPr id="17" name="Text 15"/>
          <p:cNvSpPr/>
          <p:nvPr/>
        </p:nvSpPr>
        <p:spPr>
          <a:xfrm>
            <a:off x="914400" y="5349240"/>
            <a:ext cx="3657600" cy="411480"/>
          </a:xfrm>
          <a:prstGeom prst="rect">
            <a:avLst/>
          </a:prstGeom>
          <a:noFill/>
          <a:ln/>
        </p:spPr>
        <p:txBody>
          <a:bodyPr wrap="square" rtlCol="0" anchor="ctr"/>
          <a:lstStyle/>
          <a:p>
            <a:pPr indent="0" marL="0">
              <a:buNone/>
            </a:pPr>
            <a:r>
              <a:rPr lang="en-US" sz="1800" b="1" spc="-40" kern="0" dirty="0">
                <a:solidFill>
                  <a:srgbClr val="F4F2FA"/>
                </a:solidFill>
                <a:latin typeface="Calibri" pitchFamily="34" charset="0"/>
                <a:ea typeface="Calibri" pitchFamily="34" charset="-122"/>
                <a:cs typeface="Calibri" pitchFamily="34" charset="-120"/>
              </a:rPr>
              <a:t>Self-serve + Enterprise</a:t>
            </a:r>
            <a:endParaRPr lang="en-US" sz="1800" dirty="0"/>
          </a:p>
        </p:txBody>
      </p:sp>
      <p:sp>
        <p:nvSpPr>
          <p:cNvPr id="18" name="Text 16"/>
          <p:cNvSpPr/>
          <p:nvPr/>
        </p:nvSpPr>
        <p:spPr>
          <a:xfrm>
            <a:off x="4572000" y="5120640"/>
            <a:ext cx="6858000" cy="777240"/>
          </a:xfrm>
          <a:prstGeom prst="rect">
            <a:avLst/>
          </a:prstGeom>
          <a:noFill/>
          <a:ln/>
        </p:spPr>
        <p:txBody>
          <a:bodyPr wrap="square" rtlCol="0" anchor="ctr"/>
          <a:lstStyle/>
          <a:p>
            <a:pPr indent="0" marL="0">
              <a:lnSpc>
                <a:spcPct val="140000"/>
              </a:lnSpc>
              <a:buNone/>
            </a:pPr>
            <a:r>
              <a:rPr lang="en-US" sz="1200" dirty="0">
                <a:solidFill>
                  <a:srgbClr val="8E89A6"/>
                </a:solidFill>
                <a:latin typeface="Calibri" pitchFamily="34" charset="0"/>
                <a:ea typeface="Calibri" pitchFamily="34" charset="-122"/>
                <a:cs typeface="Calibri" pitchFamily="34" charset="-120"/>
              </a:rPr>
              <a:t>Cartão de crédito self-serve · Vendas enterprise grandes contas · 100k MAU + Series A</a:t>
            </a:r>
            <a:endParaRPr lang="en-US" sz="1200" dirty="0"/>
          </a:p>
        </p:txBody>
      </p:sp>
      <p:sp>
        <p:nvSpPr>
          <p:cNvPr id="19" name="Text 17"/>
          <p:cNvSpPr/>
          <p:nvPr/>
        </p:nvSpPr>
        <p:spPr>
          <a:xfrm>
            <a:off x="548640" y="6217920"/>
            <a:ext cx="10972800" cy="320040"/>
          </a:xfrm>
          <a:prstGeom prst="rect">
            <a:avLst/>
          </a:prstGeom>
          <a:noFill/>
          <a:ln/>
        </p:spPr>
        <p:txBody>
          <a:bodyPr wrap="square" rtlCol="0" anchor="ctr"/>
          <a:lstStyle/>
          <a:p>
            <a:pPr indent="0" marL="0">
              <a:buNone/>
            </a:pPr>
            <a:r>
              <a:rPr lang="en-US" sz="1200" i="1" dirty="0">
                <a:solidFill>
                  <a:srgbClr val="8E89A6"/>
                </a:solidFill>
                <a:latin typeface="Calibri" pitchFamily="34" charset="0"/>
                <a:ea typeface="Calibri" pitchFamily="34" charset="-122"/>
                <a:cs typeface="Calibri" pitchFamily="34" charset="-120"/>
              </a:rPr>
              <a:t>CAC esperado: R$ 3–8 por candidato (orgânico TikTok), R$ 500–2.000 por empresa (outbound).</a:t>
            </a:r>
            <a:endParaRPr lang="en-US" sz="1200" dirty="0"/>
          </a:p>
        </p:txBody>
      </p:sp>
      <p:sp>
        <p:nvSpPr>
          <p:cNvPr id="20" name="Text 18"/>
          <p:cNvSpPr/>
          <p:nvPr/>
        </p:nvSpPr>
        <p:spPr>
          <a:xfrm>
            <a:off x="548640" y="6355080"/>
            <a:ext cx="3657600" cy="274320"/>
          </a:xfrm>
          <a:prstGeom prst="rect">
            <a:avLst/>
          </a:prstGeom>
          <a:noFill/>
          <a:ln/>
        </p:spPr>
        <p:txBody>
          <a:bodyPr wrap="square" rtlCol="0" anchor="ctr"/>
          <a:lstStyle/>
          <a:p>
            <a:pPr indent="0" marL="0">
              <a:buNone/>
            </a:pPr>
            <a:r>
              <a:rPr lang="en-US" sz="900" spc="300" kern="0" dirty="0">
                <a:solidFill>
                  <a:srgbClr val="564F71"/>
                </a:solidFill>
                <a:latin typeface="Calibri" pitchFamily="34" charset="0"/>
                <a:ea typeface="Calibri" pitchFamily="34" charset="-122"/>
                <a:cs typeface="Calibri" pitchFamily="34" charset="-120"/>
              </a:rPr>
              <a:t>HIRLY · CONFIDENCIAL</a:t>
            </a:r>
            <a:endParaRPr lang="en-US" sz="900" dirty="0"/>
          </a:p>
        </p:txBody>
      </p:sp>
      <p:sp>
        <p:nvSpPr>
          <p:cNvPr id="21" name="Text 19"/>
          <p:cNvSpPr/>
          <p:nvPr/>
        </p:nvSpPr>
        <p:spPr>
          <a:xfrm>
            <a:off x="10972800" y="6355080"/>
            <a:ext cx="1097280" cy="274320"/>
          </a:xfrm>
          <a:prstGeom prst="rect">
            <a:avLst/>
          </a:prstGeom>
          <a:noFill/>
          <a:ln/>
        </p:spPr>
        <p:txBody>
          <a:bodyPr wrap="square" rtlCol="0" anchor="ctr"/>
          <a:lstStyle/>
          <a:p>
            <a:pPr algn="r" indent="0" marL="0">
              <a:buNone/>
            </a:pPr>
            <a:r>
              <a:rPr lang="en-US" sz="900" spc="300" kern="0" dirty="0">
                <a:solidFill>
                  <a:srgbClr val="564F71"/>
                </a:solidFill>
                <a:latin typeface="Calibri" pitchFamily="34" charset="0"/>
                <a:ea typeface="Calibri" pitchFamily="34" charset="-122"/>
                <a:cs typeface="Calibri" pitchFamily="34" charset="-120"/>
              </a:rPr>
              <a:t>08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40E"/>
        </a:solidFill>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indent="0" marL="0">
              <a:buNone/>
            </a:pPr>
            <a:r>
              <a:rPr lang="en-US" sz="1000" b="1" spc="400" kern="0" dirty="0">
                <a:solidFill>
                  <a:srgbClr val="22D3EE"/>
                </a:solidFill>
                <a:latin typeface="Calibri" pitchFamily="34" charset="0"/>
                <a:ea typeface="Calibri" pitchFamily="34" charset="-122"/>
                <a:cs typeface="Calibri" pitchFamily="34" charset="-120"/>
              </a:rPr>
              <a:t>08 · PROJEÇÕES</a:t>
            </a:r>
            <a:endParaRPr lang="en-US" sz="1000" dirty="0"/>
          </a:p>
        </p:txBody>
      </p:sp>
      <p:sp>
        <p:nvSpPr>
          <p:cNvPr id="3" name="Text 1"/>
          <p:cNvSpPr/>
          <p:nvPr/>
        </p:nvSpPr>
        <p:spPr>
          <a:xfrm>
            <a:off x="548640" y="777240"/>
            <a:ext cx="10515600" cy="1554480"/>
          </a:xfrm>
          <a:prstGeom prst="rect">
            <a:avLst/>
          </a:prstGeom>
          <a:noFill/>
          <a:ln/>
        </p:spPr>
        <p:txBody>
          <a:bodyPr wrap="square" rtlCol="0" anchor="ctr"/>
          <a:lstStyle/>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Break-even no mês 15–18.</a:t>
            </a:r>
            <a:endParaRPr lang="en-US" sz="3800" dirty="0"/>
          </a:p>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MRR R$ 180k no mês 24.</a:t>
            </a:r>
            <a:endParaRPr lang="en-US" sz="3800" dirty="0"/>
          </a:p>
        </p:txBody>
      </p:sp>
      <p:sp>
        <p:nvSpPr>
          <p:cNvPr id="4" name="Shape 2"/>
          <p:cNvSpPr/>
          <p:nvPr/>
        </p:nvSpPr>
        <p:spPr>
          <a:xfrm>
            <a:off x="548640" y="2697480"/>
            <a:ext cx="2926080" cy="384048"/>
          </a:xfrm>
          <a:prstGeom prst="rect">
            <a:avLst/>
          </a:prstGeom>
          <a:solidFill>
            <a:srgbClr val="1A1230"/>
          </a:solidFill>
          <a:ln w="6350">
            <a:solidFill>
              <a:srgbClr val="231A38"/>
            </a:solidFill>
            <a:prstDash val="solid"/>
          </a:ln>
        </p:spPr>
      </p:sp>
      <p:sp>
        <p:nvSpPr>
          <p:cNvPr id="5" name="Text 3"/>
          <p:cNvSpPr/>
          <p:nvPr/>
        </p:nvSpPr>
        <p:spPr>
          <a:xfrm>
            <a:off x="685800" y="2697480"/>
            <a:ext cx="2651760" cy="384048"/>
          </a:xfrm>
          <a:prstGeom prst="rect">
            <a:avLst/>
          </a:prstGeom>
          <a:noFill/>
          <a:ln/>
        </p:spPr>
        <p:txBody>
          <a:bodyPr wrap="square" rtlCol="0" anchor="ctr"/>
          <a:lstStyle/>
          <a:p>
            <a:pPr algn="l" indent="0" marL="0">
              <a:buNone/>
            </a:pPr>
            <a:endParaRPr lang="en-US" sz="1200" dirty="0"/>
          </a:p>
        </p:txBody>
      </p:sp>
      <p:sp>
        <p:nvSpPr>
          <p:cNvPr id="6" name="Shape 4"/>
          <p:cNvSpPr/>
          <p:nvPr/>
        </p:nvSpPr>
        <p:spPr>
          <a:xfrm>
            <a:off x="3474720" y="2697480"/>
            <a:ext cx="2011680" cy="384048"/>
          </a:xfrm>
          <a:prstGeom prst="rect">
            <a:avLst/>
          </a:prstGeom>
          <a:solidFill>
            <a:srgbClr val="1A1230"/>
          </a:solidFill>
          <a:ln w="6350">
            <a:solidFill>
              <a:srgbClr val="231A38"/>
            </a:solidFill>
            <a:prstDash val="solid"/>
          </a:ln>
        </p:spPr>
      </p:sp>
      <p:sp>
        <p:nvSpPr>
          <p:cNvPr id="7" name="Text 5"/>
          <p:cNvSpPr/>
          <p:nvPr/>
        </p:nvSpPr>
        <p:spPr>
          <a:xfrm>
            <a:off x="3611880" y="2697480"/>
            <a:ext cx="1737360" cy="384048"/>
          </a:xfrm>
          <a:prstGeom prst="rect">
            <a:avLst/>
          </a:prstGeom>
          <a:noFill/>
          <a:ln/>
        </p:spPr>
        <p:txBody>
          <a:bodyPr wrap="square" rtlCol="0" anchor="ctr"/>
          <a:lstStyle/>
          <a:p>
            <a:pPr algn="r" indent="0" marL="0">
              <a:buNone/>
            </a:pPr>
            <a:r>
              <a:rPr lang="en-US" sz="1200" b="1" spc="150" kern="0" dirty="0">
                <a:solidFill>
                  <a:srgbClr val="22D3EE"/>
                </a:solidFill>
                <a:latin typeface="Calibri" pitchFamily="34" charset="0"/>
                <a:ea typeface="Calibri" pitchFamily="34" charset="-122"/>
                <a:cs typeface="Calibri" pitchFamily="34" charset="-120"/>
              </a:rPr>
              <a:t>Mês 1</a:t>
            </a:r>
            <a:endParaRPr lang="en-US" sz="1200" dirty="0"/>
          </a:p>
        </p:txBody>
      </p:sp>
      <p:sp>
        <p:nvSpPr>
          <p:cNvPr id="8" name="Shape 6"/>
          <p:cNvSpPr/>
          <p:nvPr/>
        </p:nvSpPr>
        <p:spPr>
          <a:xfrm>
            <a:off x="5486400" y="2697480"/>
            <a:ext cx="2011680" cy="384048"/>
          </a:xfrm>
          <a:prstGeom prst="rect">
            <a:avLst/>
          </a:prstGeom>
          <a:solidFill>
            <a:srgbClr val="1A1230"/>
          </a:solidFill>
          <a:ln w="6350">
            <a:solidFill>
              <a:srgbClr val="231A38"/>
            </a:solidFill>
            <a:prstDash val="solid"/>
          </a:ln>
        </p:spPr>
      </p:sp>
      <p:sp>
        <p:nvSpPr>
          <p:cNvPr id="9" name="Text 7"/>
          <p:cNvSpPr/>
          <p:nvPr/>
        </p:nvSpPr>
        <p:spPr>
          <a:xfrm>
            <a:off x="5623560" y="2697480"/>
            <a:ext cx="1737360" cy="384048"/>
          </a:xfrm>
          <a:prstGeom prst="rect">
            <a:avLst/>
          </a:prstGeom>
          <a:noFill/>
          <a:ln/>
        </p:spPr>
        <p:txBody>
          <a:bodyPr wrap="square" rtlCol="0" anchor="ctr"/>
          <a:lstStyle/>
          <a:p>
            <a:pPr algn="r" indent="0" marL="0">
              <a:buNone/>
            </a:pPr>
            <a:r>
              <a:rPr lang="en-US" sz="1200" b="1" spc="150" kern="0" dirty="0">
                <a:solidFill>
                  <a:srgbClr val="22D3EE"/>
                </a:solidFill>
                <a:latin typeface="Calibri" pitchFamily="34" charset="0"/>
                <a:ea typeface="Calibri" pitchFamily="34" charset="-122"/>
                <a:cs typeface="Calibri" pitchFamily="34" charset="-120"/>
              </a:rPr>
              <a:t>Mês 6</a:t>
            </a:r>
            <a:endParaRPr lang="en-US" sz="1200" dirty="0"/>
          </a:p>
        </p:txBody>
      </p:sp>
      <p:sp>
        <p:nvSpPr>
          <p:cNvPr id="10" name="Shape 8"/>
          <p:cNvSpPr/>
          <p:nvPr/>
        </p:nvSpPr>
        <p:spPr>
          <a:xfrm>
            <a:off x="7498080" y="2697480"/>
            <a:ext cx="2011680" cy="384048"/>
          </a:xfrm>
          <a:prstGeom prst="rect">
            <a:avLst/>
          </a:prstGeom>
          <a:solidFill>
            <a:srgbClr val="1A1230"/>
          </a:solidFill>
          <a:ln w="6350">
            <a:solidFill>
              <a:srgbClr val="231A38"/>
            </a:solidFill>
            <a:prstDash val="solid"/>
          </a:ln>
        </p:spPr>
      </p:sp>
      <p:sp>
        <p:nvSpPr>
          <p:cNvPr id="11" name="Text 9"/>
          <p:cNvSpPr/>
          <p:nvPr/>
        </p:nvSpPr>
        <p:spPr>
          <a:xfrm>
            <a:off x="7635240" y="2697480"/>
            <a:ext cx="1737360" cy="384048"/>
          </a:xfrm>
          <a:prstGeom prst="rect">
            <a:avLst/>
          </a:prstGeom>
          <a:noFill/>
          <a:ln/>
        </p:spPr>
        <p:txBody>
          <a:bodyPr wrap="square" rtlCol="0" anchor="ctr"/>
          <a:lstStyle/>
          <a:p>
            <a:pPr algn="r" indent="0" marL="0">
              <a:buNone/>
            </a:pPr>
            <a:r>
              <a:rPr lang="en-US" sz="1200" b="1" spc="150" kern="0" dirty="0">
                <a:solidFill>
                  <a:srgbClr val="22D3EE"/>
                </a:solidFill>
                <a:latin typeface="Calibri" pitchFamily="34" charset="0"/>
                <a:ea typeface="Calibri" pitchFamily="34" charset="-122"/>
                <a:cs typeface="Calibri" pitchFamily="34" charset="-120"/>
              </a:rPr>
              <a:t>Mês 12</a:t>
            </a:r>
            <a:endParaRPr lang="en-US" sz="1200" dirty="0"/>
          </a:p>
        </p:txBody>
      </p:sp>
      <p:sp>
        <p:nvSpPr>
          <p:cNvPr id="12" name="Shape 10"/>
          <p:cNvSpPr/>
          <p:nvPr/>
        </p:nvSpPr>
        <p:spPr>
          <a:xfrm>
            <a:off x="9509760" y="2697480"/>
            <a:ext cx="2103120" cy="384048"/>
          </a:xfrm>
          <a:prstGeom prst="rect">
            <a:avLst/>
          </a:prstGeom>
          <a:solidFill>
            <a:srgbClr val="1A1230"/>
          </a:solidFill>
          <a:ln w="6350">
            <a:solidFill>
              <a:srgbClr val="231A38"/>
            </a:solidFill>
            <a:prstDash val="solid"/>
          </a:ln>
        </p:spPr>
      </p:sp>
      <p:sp>
        <p:nvSpPr>
          <p:cNvPr id="13" name="Text 11"/>
          <p:cNvSpPr/>
          <p:nvPr/>
        </p:nvSpPr>
        <p:spPr>
          <a:xfrm>
            <a:off x="9646920" y="2697480"/>
            <a:ext cx="1828800" cy="384048"/>
          </a:xfrm>
          <a:prstGeom prst="rect">
            <a:avLst/>
          </a:prstGeom>
          <a:noFill/>
          <a:ln/>
        </p:spPr>
        <p:txBody>
          <a:bodyPr wrap="square" rtlCol="0" anchor="ctr"/>
          <a:lstStyle/>
          <a:p>
            <a:pPr algn="r" indent="0" marL="0">
              <a:buNone/>
            </a:pPr>
            <a:r>
              <a:rPr lang="en-US" sz="1200" b="1" spc="150" kern="0" dirty="0">
                <a:solidFill>
                  <a:srgbClr val="22D3EE"/>
                </a:solidFill>
                <a:latin typeface="Calibri" pitchFamily="34" charset="0"/>
                <a:ea typeface="Calibri" pitchFamily="34" charset="-122"/>
                <a:cs typeface="Calibri" pitchFamily="34" charset="-120"/>
              </a:rPr>
              <a:t>Mês 24</a:t>
            </a:r>
            <a:endParaRPr lang="en-US" sz="1200" dirty="0"/>
          </a:p>
        </p:txBody>
      </p:sp>
      <p:sp>
        <p:nvSpPr>
          <p:cNvPr id="14" name="Shape 12"/>
          <p:cNvSpPr/>
          <p:nvPr/>
        </p:nvSpPr>
        <p:spPr>
          <a:xfrm>
            <a:off x="548640" y="3081528"/>
            <a:ext cx="2926080" cy="384048"/>
          </a:xfrm>
          <a:prstGeom prst="rect">
            <a:avLst/>
          </a:prstGeom>
          <a:solidFill>
            <a:srgbClr val="07040E"/>
          </a:solidFill>
          <a:ln w="6350">
            <a:solidFill>
              <a:srgbClr val="231A38"/>
            </a:solidFill>
            <a:prstDash val="solid"/>
          </a:ln>
        </p:spPr>
      </p:sp>
      <p:sp>
        <p:nvSpPr>
          <p:cNvPr id="15" name="Text 13"/>
          <p:cNvSpPr/>
          <p:nvPr/>
        </p:nvSpPr>
        <p:spPr>
          <a:xfrm>
            <a:off x="685800" y="3081528"/>
            <a:ext cx="2651760" cy="384048"/>
          </a:xfrm>
          <a:prstGeom prst="rect">
            <a:avLst/>
          </a:prstGeom>
          <a:noFill/>
          <a:ln/>
        </p:spPr>
        <p:txBody>
          <a:bodyPr wrap="square" rtlCol="0" anchor="ctr"/>
          <a:lstStyle/>
          <a:p>
            <a:pPr algn="l" indent="0" marL="0">
              <a:buNone/>
            </a:pPr>
            <a:r>
              <a:rPr lang="en-US" sz="1200" b="1" dirty="0">
                <a:solidFill>
                  <a:srgbClr val="F4F2FA"/>
                </a:solidFill>
                <a:latin typeface="Calibri" pitchFamily="34" charset="0"/>
                <a:ea typeface="Calibri" pitchFamily="34" charset="-122"/>
                <a:cs typeface="Calibri" pitchFamily="34" charset="-120"/>
              </a:rPr>
              <a:t>MAU</a:t>
            </a:r>
            <a:endParaRPr lang="en-US" sz="1200" dirty="0"/>
          </a:p>
        </p:txBody>
      </p:sp>
      <p:sp>
        <p:nvSpPr>
          <p:cNvPr id="16" name="Shape 14"/>
          <p:cNvSpPr/>
          <p:nvPr/>
        </p:nvSpPr>
        <p:spPr>
          <a:xfrm>
            <a:off x="3474720" y="3081528"/>
            <a:ext cx="2011680" cy="384048"/>
          </a:xfrm>
          <a:prstGeom prst="rect">
            <a:avLst/>
          </a:prstGeom>
          <a:solidFill>
            <a:srgbClr val="07040E"/>
          </a:solidFill>
          <a:ln w="6350">
            <a:solidFill>
              <a:srgbClr val="231A38"/>
            </a:solidFill>
            <a:prstDash val="solid"/>
          </a:ln>
        </p:spPr>
      </p:sp>
      <p:sp>
        <p:nvSpPr>
          <p:cNvPr id="17" name="Text 15"/>
          <p:cNvSpPr/>
          <p:nvPr/>
        </p:nvSpPr>
        <p:spPr>
          <a:xfrm>
            <a:off x="3611880" y="3081528"/>
            <a:ext cx="173736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50</a:t>
            </a:r>
            <a:endParaRPr lang="en-US" sz="1200" dirty="0"/>
          </a:p>
        </p:txBody>
      </p:sp>
      <p:sp>
        <p:nvSpPr>
          <p:cNvPr id="18" name="Shape 16"/>
          <p:cNvSpPr/>
          <p:nvPr/>
        </p:nvSpPr>
        <p:spPr>
          <a:xfrm>
            <a:off x="5486400" y="3081528"/>
            <a:ext cx="2011680" cy="384048"/>
          </a:xfrm>
          <a:prstGeom prst="rect">
            <a:avLst/>
          </a:prstGeom>
          <a:solidFill>
            <a:srgbClr val="07040E"/>
          </a:solidFill>
          <a:ln w="6350">
            <a:solidFill>
              <a:srgbClr val="231A38"/>
            </a:solidFill>
            <a:prstDash val="solid"/>
          </a:ln>
        </p:spPr>
      </p:sp>
      <p:sp>
        <p:nvSpPr>
          <p:cNvPr id="19" name="Text 17"/>
          <p:cNvSpPr/>
          <p:nvPr/>
        </p:nvSpPr>
        <p:spPr>
          <a:xfrm>
            <a:off x="5623560" y="3081528"/>
            <a:ext cx="173736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5.000</a:t>
            </a:r>
            <a:endParaRPr lang="en-US" sz="1200" dirty="0"/>
          </a:p>
        </p:txBody>
      </p:sp>
      <p:sp>
        <p:nvSpPr>
          <p:cNvPr id="20" name="Shape 18"/>
          <p:cNvSpPr/>
          <p:nvPr/>
        </p:nvSpPr>
        <p:spPr>
          <a:xfrm>
            <a:off x="7498080" y="3081528"/>
            <a:ext cx="2011680" cy="384048"/>
          </a:xfrm>
          <a:prstGeom prst="rect">
            <a:avLst/>
          </a:prstGeom>
          <a:solidFill>
            <a:srgbClr val="07040E"/>
          </a:solidFill>
          <a:ln w="6350">
            <a:solidFill>
              <a:srgbClr val="231A38"/>
            </a:solidFill>
            <a:prstDash val="solid"/>
          </a:ln>
        </p:spPr>
      </p:sp>
      <p:sp>
        <p:nvSpPr>
          <p:cNvPr id="21" name="Text 19"/>
          <p:cNvSpPr/>
          <p:nvPr/>
        </p:nvSpPr>
        <p:spPr>
          <a:xfrm>
            <a:off x="7635240" y="3081528"/>
            <a:ext cx="173736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25.000</a:t>
            </a:r>
            <a:endParaRPr lang="en-US" sz="1200" dirty="0"/>
          </a:p>
        </p:txBody>
      </p:sp>
      <p:sp>
        <p:nvSpPr>
          <p:cNvPr id="22" name="Shape 20"/>
          <p:cNvSpPr/>
          <p:nvPr/>
        </p:nvSpPr>
        <p:spPr>
          <a:xfrm>
            <a:off x="9509760" y="3081528"/>
            <a:ext cx="2103120" cy="384048"/>
          </a:xfrm>
          <a:prstGeom prst="rect">
            <a:avLst/>
          </a:prstGeom>
          <a:solidFill>
            <a:srgbClr val="07040E"/>
          </a:solidFill>
          <a:ln w="6350">
            <a:solidFill>
              <a:srgbClr val="231A38"/>
            </a:solidFill>
            <a:prstDash val="solid"/>
          </a:ln>
        </p:spPr>
      </p:sp>
      <p:sp>
        <p:nvSpPr>
          <p:cNvPr id="23" name="Text 21"/>
          <p:cNvSpPr/>
          <p:nvPr/>
        </p:nvSpPr>
        <p:spPr>
          <a:xfrm>
            <a:off x="9646920" y="3081528"/>
            <a:ext cx="182880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100.000</a:t>
            </a:r>
            <a:endParaRPr lang="en-US" sz="1200" dirty="0"/>
          </a:p>
        </p:txBody>
      </p:sp>
      <p:sp>
        <p:nvSpPr>
          <p:cNvPr id="24" name="Shape 22"/>
          <p:cNvSpPr/>
          <p:nvPr/>
        </p:nvSpPr>
        <p:spPr>
          <a:xfrm>
            <a:off x="548640" y="3465576"/>
            <a:ext cx="2926080" cy="384048"/>
          </a:xfrm>
          <a:prstGeom prst="rect">
            <a:avLst/>
          </a:prstGeom>
          <a:solidFill>
            <a:srgbClr val="14101E"/>
          </a:solidFill>
          <a:ln w="6350">
            <a:solidFill>
              <a:srgbClr val="231A38"/>
            </a:solidFill>
            <a:prstDash val="solid"/>
          </a:ln>
        </p:spPr>
      </p:sp>
      <p:sp>
        <p:nvSpPr>
          <p:cNvPr id="25" name="Text 23"/>
          <p:cNvSpPr/>
          <p:nvPr/>
        </p:nvSpPr>
        <p:spPr>
          <a:xfrm>
            <a:off x="685800" y="3465576"/>
            <a:ext cx="2651760" cy="384048"/>
          </a:xfrm>
          <a:prstGeom prst="rect">
            <a:avLst/>
          </a:prstGeom>
          <a:noFill/>
          <a:ln/>
        </p:spPr>
        <p:txBody>
          <a:bodyPr wrap="square" rtlCol="0" anchor="ctr"/>
          <a:lstStyle/>
          <a:p>
            <a:pPr algn="l" indent="0" marL="0">
              <a:buNone/>
            </a:pPr>
            <a:r>
              <a:rPr lang="en-US" sz="1200" b="1" dirty="0">
                <a:solidFill>
                  <a:srgbClr val="F4F2FA"/>
                </a:solidFill>
                <a:latin typeface="Calibri" pitchFamily="34" charset="0"/>
                <a:ea typeface="Calibri" pitchFamily="34" charset="-122"/>
                <a:cs typeface="Calibri" pitchFamily="34" charset="-120"/>
              </a:rPr>
              <a:t>Empresas Starter</a:t>
            </a:r>
            <a:endParaRPr lang="en-US" sz="1200" dirty="0"/>
          </a:p>
        </p:txBody>
      </p:sp>
      <p:sp>
        <p:nvSpPr>
          <p:cNvPr id="26" name="Shape 24"/>
          <p:cNvSpPr/>
          <p:nvPr/>
        </p:nvSpPr>
        <p:spPr>
          <a:xfrm>
            <a:off x="3474720" y="3465576"/>
            <a:ext cx="2011680" cy="384048"/>
          </a:xfrm>
          <a:prstGeom prst="rect">
            <a:avLst/>
          </a:prstGeom>
          <a:solidFill>
            <a:srgbClr val="14101E"/>
          </a:solidFill>
          <a:ln w="6350">
            <a:solidFill>
              <a:srgbClr val="231A38"/>
            </a:solidFill>
            <a:prstDash val="solid"/>
          </a:ln>
        </p:spPr>
      </p:sp>
      <p:sp>
        <p:nvSpPr>
          <p:cNvPr id="27" name="Text 25"/>
          <p:cNvSpPr/>
          <p:nvPr/>
        </p:nvSpPr>
        <p:spPr>
          <a:xfrm>
            <a:off x="3611880" y="3465576"/>
            <a:ext cx="173736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0</a:t>
            </a:r>
            <a:endParaRPr lang="en-US" sz="1200" dirty="0"/>
          </a:p>
        </p:txBody>
      </p:sp>
      <p:sp>
        <p:nvSpPr>
          <p:cNvPr id="28" name="Shape 26"/>
          <p:cNvSpPr/>
          <p:nvPr/>
        </p:nvSpPr>
        <p:spPr>
          <a:xfrm>
            <a:off x="5486400" y="3465576"/>
            <a:ext cx="2011680" cy="384048"/>
          </a:xfrm>
          <a:prstGeom prst="rect">
            <a:avLst/>
          </a:prstGeom>
          <a:solidFill>
            <a:srgbClr val="14101E"/>
          </a:solidFill>
          <a:ln w="6350">
            <a:solidFill>
              <a:srgbClr val="231A38"/>
            </a:solidFill>
            <a:prstDash val="solid"/>
          </a:ln>
        </p:spPr>
      </p:sp>
      <p:sp>
        <p:nvSpPr>
          <p:cNvPr id="29" name="Text 27"/>
          <p:cNvSpPr/>
          <p:nvPr/>
        </p:nvSpPr>
        <p:spPr>
          <a:xfrm>
            <a:off x="5623560" y="3465576"/>
            <a:ext cx="173736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10</a:t>
            </a:r>
            <a:endParaRPr lang="en-US" sz="1200" dirty="0"/>
          </a:p>
        </p:txBody>
      </p:sp>
      <p:sp>
        <p:nvSpPr>
          <p:cNvPr id="30" name="Shape 28"/>
          <p:cNvSpPr/>
          <p:nvPr/>
        </p:nvSpPr>
        <p:spPr>
          <a:xfrm>
            <a:off x="7498080" y="3465576"/>
            <a:ext cx="2011680" cy="384048"/>
          </a:xfrm>
          <a:prstGeom prst="rect">
            <a:avLst/>
          </a:prstGeom>
          <a:solidFill>
            <a:srgbClr val="14101E"/>
          </a:solidFill>
          <a:ln w="6350">
            <a:solidFill>
              <a:srgbClr val="231A38"/>
            </a:solidFill>
            <a:prstDash val="solid"/>
          </a:ln>
        </p:spPr>
      </p:sp>
      <p:sp>
        <p:nvSpPr>
          <p:cNvPr id="31" name="Text 29"/>
          <p:cNvSpPr/>
          <p:nvPr/>
        </p:nvSpPr>
        <p:spPr>
          <a:xfrm>
            <a:off x="7635240" y="3465576"/>
            <a:ext cx="173736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50</a:t>
            </a:r>
            <a:endParaRPr lang="en-US" sz="1200" dirty="0"/>
          </a:p>
        </p:txBody>
      </p:sp>
      <p:sp>
        <p:nvSpPr>
          <p:cNvPr id="32" name="Shape 30"/>
          <p:cNvSpPr/>
          <p:nvPr/>
        </p:nvSpPr>
        <p:spPr>
          <a:xfrm>
            <a:off x="9509760" y="3465576"/>
            <a:ext cx="2103120" cy="384048"/>
          </a:xfrm>
          <a:prstGeom prst="rect">
            <a:avLst/>
          </a:prstGeom>
          <a:solidFill>
            <a:srgbClr val="14101E"/>
          </a:solidFill>
          <a:ln w="6350">
            <a:solidFill>
              <a:srgbClr val="231A38"/>
            </a:solidFill>
            <a:prstDash val="solid"/>
          </a:ln>
        </p:spPr>
      </p:sp>
      <p:sp>
        <p:nvSpPr>
          <p:cNvPr id="33" name="Text 31"/>
          <p:cNvSpPr/>
          <p:nvPr/>
        </p:nvSpPr>
        <p:spPr>
          <a:xfrm>
            <a:off x="9646920" y="3465576"/>
            <a:ext cx="182880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200</a:t>
            </a:r>
            <a:endParaRPr lang="en-US" sz="1200" dirty="0"/>
          </a:p>
        </p:txBody>
      </p:sp>
      <p:sp>
        <p:nvSpPr>
          <p:cNvPr id="34" name="Shape 32"/>
          <p:cNvSpPr/>
          <p:nvPr/>
        </p:nvSpPr>
        <p:spPr>
          <a:xfrm>
            <a:off x="548640" y="3849624"/>
            <a:ext cx="2926080" cy="384048"/>
          </a:xfrm>
          <a:prstGeom prst="rect">
            <a:avLst/>
          </a:prstGeom>
          <a:solidFill>
            <a:srgbClr val="07040E"/>
          </a:solidFill>
          <a:ln w="6350">
            <a:solidFill>
              <a:srgbClr val="231A38"/>
            </a:solidFill>
            <a:prstDash val="solid"/>
          </a:ln>
        </p:spPr>
      </p:sp>
      <p:sp>
        <p:nvSpPr>
          <p:cNvPr id="35" name="Text 33"/>
          <p:cNvSpPr/>
          <p:nvPr/>
        </p:nvSpPr>
        <p:spPr>
          <a:xfrm>
            <a:off x="685800" y="3849624"/>
            <a:ext cx="2651760" cy="384048"/>
          </a:xfrm>
          <a:prstGeom prst="rect">
            <a:avLst/>
          </a:prstGeom>
          <a:noFill/>
          <a:ln/>
        </p:spPr>
        <p:txBody>
          <a:bodyPr wrap="square" rtlCol="0" anchor="ctr"/>
          <a:lstStyle/>
          <a:p>
            <a:pPr algn="l" indent="0" marL="0">
              <a:buNone/>
            </a:pPr>
            <a:r>
              <a:rPr lang="en-US" sz="1200" b="1" dirty="0">
                <a:solidFill>
                  <a:srgbClr val="F4F2FA"/>
                </a:solidFill>
                <a:latin typeface="Calibri" pitchFamily="34" charset="0"/>
                <a:ea typeface="Calibri" pitchFamily="34" charset="-122"/>
                <a:cs typeface="Calibri" pitchFamily="34" charset="-120"/>
              </a:rPr>
              <a:t>Empresas Growth</a:t>
            </a:r>
            <a:endParaRPr lang="en-US" sz="1200" dirty="0"/>
          </a:p>
        </p:txBody>
      </p:sp>
      <p:sp>
        <p:nvSpPr>
          <p:cNvPr id="36" name="Shape 34"/>
          <p:cNvSpPr/>
          <p:nvPr/>
        </p:nvSpPr>
        <p:spPr>
          <a:xfrm>
            <a:off x="3474720" y="3849624"/>
            <a:ext cx="2011680" cy="384048"/>
          </a:xfrm>
          <a:prstGeom prst="rect">
            <a:avLst/>
          </a:prstGeom>
          <a:solidFill>
            <a:srgbClr val="07040E"/>
          </a:solidFill>
          <a:ln w="6350">
            <a:solidFill>
              <a:srgbClr val="231A38"/>
            </a:solidFill>
            <a:prstDash val="solid"/>
          </a:ln>
        </p:spPr>
      </p:sp>
      <p:sp>
        <p:nvSpPr>
          <p:cNvPr id="37" name="Text 35"/>
          <p:cNvSpPr/>
          <p:nvPr/>
        </p:nvSpPr>
        <p:spPr>
          <a:xfrm>
            <a:off x="3611880" y="3849624"/>
            <a:ext cx="173736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0</a:t>
            </a:r>
            <a:endParaRPr lang="en-US" sz="1200" dirty="0"/>
          </a:p>
        </p:txBody>
      </p:sp>
      <p:sp>
        <p:nvSpPr>
          <p:cNvPr id="38" name="Shape 36"/>
          <p:cNvSpPr/>
          <p:nvPr/>
        </p:nvSpPr>
        <p:spPr>
          <a:xfrm>
            <a:off x="5486400" y="3849624"/>
            <a:ext cx="2011680" cy="384048"/>
          </a:xfrm>
          <a:prstGeom prst="rect">
            <a:avLst/>
          </a:prstGeom>
          <a:solidFill>
            <a:srgbClr val="07040E"/>
          </a:solidFill>
          <a:ln w="6350">
            <a:solidFill>
              <a:srgbClr val="231A38"/>
            </a:solidFill>
            <a:prstDash val="solid"/>
          </a:ln>
        </p:spPr>
      </p:sp>
      <p:sp>
        <p:nvSpPr>
          <p:cNvPr id="39" name="Text 37"/>
          <p:cNvSpPr/>
          <p:nvPr/>
        </p:nvSpPr>
        <p:spPr>
          <a:xfrm>
            <a:off x="5623560" y="3849624"/>
            <a:ext cx="173736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2</a:t>
            </a:r>
            <a:endParaRPr lang="en-US" sz="1200" dirty="0"/>
          </a:p>
        </p:txBody>
      </p:sp>
      <p:sp>
        <p:nvSpPr>
          <p:cNvPr id="40" name="Shape 38"/>
          <p:cNvSpPr/>
          <p:nvPr/>
        </p:nvSpPr>
        <p:spPr>
          <a:xfrm>
            <a:off x="7498080" y="3849624"/>
            <a:ext cx="2011680" cy="384048"/>
          </a:xfrm>
          <a:prstGeom prst="rect">
            <a:avLst/>
          </a:prstGeom>
          <a:solidFill>
            <a:srgbClr val="07040E"/>
          </a:solidFill>
          <a:ln w="6350">
            <a:solidFill>
              <a:srgbClr val="231A38"/>
            </a:solidFill>
            <a:prstDash val="solid"/>
          </a:ln>
        </p:spPr>
      </p:sp>
      <p:sp>
        <p:nvSpPr>
          <p:cNvPr id="41" name="Text 39"/>
          <p:cNvSpPr/>
          <p:nvPr/>
        </p:nvSpPr>
        <p:spPr>
          <a:xfrm>
            <a:off x="7635240" y="3849624"/>
            <a:ext cx="173736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15</a:t>
            </a:r>
            <a:endParaRPr lang="en-US" sz="1200" dirty="0"/>
          </a:p>
        </p:txBody>
      </p:sp>
      <p:sp>
        <p:nvSpPr>
          <p:cNvPr id="42" name="Shape 40"/>
          <p:cNvSpPr/>
          <p:nvPr/>
        </p:nvSpPr>
        <p:spPr>
          <a:xfrm>
            <a:off x="9509760" y="3849624"/>
            <a:ext cx="2103120" cy="384048"/>
          </a:xfrm>
          <a:prstGeom prst="rect">
            <a:avLst/>
          </a:prstGeom>
          <a:solidFill>
            <a:srgbClr val="07040E"/>
          </a:solidFill>
          <a:ln w="6350">
            <a:solidFill>
              <a:srgbClr val="231A38"/>
            </a:solidFill>
            <a:prstDash val="solid"/>
          </a:ln>
        </p:spPr>
      </p:sp>
      <p:sp>
        <p:nvSpPr>
          <p:cNvPr id="43" name="Text 41"/>
          <p:cNvSpPr/>
          <p:nvPr/>
        </p:nvSpPr>
        <p:spPr>
          <a:xfrm>
            <a:off x="9646920" y="3849624"/>
            <a:ext cx="182880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80</a:t>
            </a:r>
            <a:endParaRPr lang="en-US" sz="1200" dirty="0"/>
          </a:p>
        </p:txBody>
      </p:sp>
      <p:sp>
        <p:nvSpPr>
          <p:cNvPr id="44" name="Shape 42"/>
          <p:cNvSpPr/>
          <p:nvPr/>
        </p:nvSpPr>
        <p:spPr>
          <a:xfrm>
            <a:off x="548640" y="4233672"/>
            <a:ext cx="2926080" cy="384048"/>
          </a:xfrm>
          <a:prstGeom prst="rect">
            <a:avLst/>
          </a:prstGeom>
          <a:solidFill>
            <a:srgbClr val="14101E"/>
          </a:solidFill>
          <a:ln w="6350">
            <a:solidFill>
              <a:srgbClr val="231A38"/>
            </a:solidFill>
            <a:prstDash val="solid"/>
          </a:ln>
        </p:spPr>
      </p:sp>
      <p:sp>
        <p:nvSpPr>
          <p:cNvPr id="45" name="Text 43"/>
          <p:cNvSpPr/>
          <p:nvPr/>
        </p:nvSpPr>
        <p:spPr>
          <a:xfrm>
            <a:off x="685800" y="4233672"/>
            <a:ext cx="2651760" cy="384048"/>
          </a:xfrm>
          <a:prstGeom prst="rect">
            <a:avLst/>
          </a:prstGeom>
          <a:noFill/>
          <a:ln/>
        </p:spPr>
        <p:txBody>
          <a:bodyPr wrap="square" rtlCol="0" anchor="ctr"/>
          <a:lstStyle/>
          <a:p>
            <a:pPr algn="l" indent="0" marL="0">
              <a:buNone/>
            </a:pPr>
            <a:r>
              <a:rPr lang="en-US" sz="1200" b="1" dirty="0">
                <a:solidFill>
                  <a:srgbClr val="F4F2FA"/>
                </a:solidFill>
                <a:latin typeface="Calibri" pitchFamily="34" charset="0"/>
                <a:ea typeface="Calibri" pitchFamily="34" charset="-122"/>
                <a:cs typeface="Calibri" pitchFamily="34" charset="-120"/>
              </a:rPr>
              <a:t>Enterprise</a:t>
            </a:r>
            <a:endParaRPr lang="en-US" sz="1200" dirty="0"/>
          </a:p>
        </p:txBody>
      </p:sp>
      <p:sp>
        <p:nvSpPr>
          <p:cNvPr id="46" name="Shape 44"/>
          <p:cNvSpPr/>
          <p:nvPr/>
        </p:nvSpPr>
        <p:spPr>
          <a:xfrm>
            <a:off x="3474720" y="4233672"/>
            <a:ext cx="2011680" cy="384048"/>
          </a:xfrm>
          <a:prstGeom prst="rect">
            <a:avLst/>
          </a:prstGeom>
          <a:solidFill>
            <a:srgbClr val="14101E"/>
          </a:solidFill>
          <a:ln w="6350">
            <a:solidFill>
              <a:srgbClr val="231A38"/>
            </a:solidFill>
            <a:prstDash val="solid"/>
          </a:ln>
        </p:spPr>
      </p:sp>
      <p:sp>
        <p:nvSpPr>
          <p:cNvPr id="47" name="Text 45"/>
          <p:cNvSpPr/>
          <p:nvPr/>
        </p:nvSpPr>
        <p:spPr>
          <a:xfrm>
            <a:off x="3611880" y="4233672"/>
            <a:ext cx="173736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0</a:t>
            </a:r>
            <a:endParaRPr lang="en-US" sz="1200" dirty="0"/>
          </a:p>
        </p:txBody>
      </p:sp>
      <p:sp>
        <p:nvSpPr>
          <p:cNvPr id="48" name="Shape 46"/>
          <p:cNvSpPr/>
          <p:nvPr/>
        </p:nvSpPr>
        <p:spPr>
          <a:xfrm>
            <a:off x="5486400" y="4233672"/>
            <a:ext cx="2011680" cy="384048"/>
          </a:xfrm>
          <a:prstGeom prst="rect">
            <a:avLst/>
          </a:prstGeom>
          <a:solidFill>
            <a:srgbClr val="14101E"/>
          </a:solidFill>
          <a:ln w="6350">
            <a:solidFill>
              <a:srgbClr val="231A38"/>
            </a:solidFill>
            <a:prstDash val="solid"/>
          </a:ln>
        </p:spPr>
      </p:sp>
      <p:sp>
        <p:nvSpPr>
          <p:cNvPr id="49" name="Text 47"/>
          <p:cNvSpPr/>
          <p:nvPr/>
        </p:nvSpPr>
        <p:spPr>
          <a:xfrm>
            <a:off x="5623560" y="4233672"/>
            <a:ext cx="173736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0</a:t>
            </a:r>
            <a:endParaRPr lang="en-US" sz="1200" dirty="0"/>
          </a:p>
        </p:txBody>
      </p:sp>
      <p:sp>
        <p:nvSpPr>
          <p:cNvPr id="50" name="Shape 48"/>
          <p:cNvSpPr/>
          <p:nvPr/>
        </p:nvSpPr>
        <p:spPr>
          <a:xfrm>
            <a:off x="7498080" y="4233672"/>
            <a:ext cx="2011680" cy="384048"/>
          </a:xfrm>
          <a:prstGeom prst="rect">
            <a:avLst/>
          </a:prstGeom>
          <a:solidFill>
            <a:srgbClr val="14101E"/>
          </a:solidFill>
          <a:ln w="6350">
            <a:solidFill>
              <a:srgbClr val="231A38"/>
            </a:solidFill>
            <a:prstDash val="solid"/>
          </a:ln>
        </p:spPr>
      </p:sp>
      <p:sp>
        <p:nvSpPr>
          <p:cNvPr id="51" name="Text 49"/>
          <p:cNvSpPr/>
          <p:nvPr/>
        </p:nvSpPr>
        <p:spPr>
          <a:xfrm>
            <a:off x="7635240" y="4233672"/>
            <a:ext cx="173736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2</a:t>
            </a:r>
            <a:endParaRPr lang="en-US" sz="1200" dirty="0"/>
          </a:p>
        </p:txBody>
      </p:sp>
      <p:sp>
        <p:nvSpPr>
          <p:cNvPr id="52" name="Shape 50"/>
          <p:cNvSpPr/>
          <p:nvPr/>
        </p:nvSpPr>
        <p:spPr>
          <a:xfrm>
            <a:off x="9509760" y="4233672"/>
            <a:ext cx="2103120" cy="384048"/>
          </a:xfrm>
          <a:prstGeom prst="rect">
            <a:avLst/>
          </a:prstGeom>
          <a:solidFill>
            <a:srgbClr val="14101E"/>
          </a:solidFill>
          <a:ln w="6350">
            <a:solidFill>
              <a:srgbClr val="231A38"/>
            </a:solidFill>
            <a:prstDash val="solid"/>
          </a:ln>
        </p:spPr>
      </p:sp>
      <p:sp>
        <p:nvSpPr>
          <p:cNvPr id="53" name="Text 51"/>
          <p:cNvSpPr/>
          <p:nvPr/>
        </p:nvSpPr>
        <p:spPr>
          <a:xfrm>
            <a:off x="9646920" y="4233672"/>
            <a:ext cx="182880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10</a:t>
            </a:r>
            <a:endParaRPr lang="en-US" sz="1200" dirty="0"/>
          </a:p>
        </p:txBody>
      </p:sp>
      <p:sp>
        <p:nvSpPr>
          <p:cNvPr id="54" name="Shape 52"/>
          <p:cNvSpPr/>
          <p:nvPr/>
        </p:nvSpPr>
        <p:spPr>
          <a:xfrm>
            <a:off x="548640" y="4617720"/>
            <a:ext cx="2926080" cy="384048"/>
          </a:xfrm>
          <a:prstGeom prst="rect">
            <a:avLst/>
          </a:prstGeom>
          <a:solidFill>
            <a:srgbClr val="1A2530"/>
          </a:solidFill>
          <a:ln w="6350">
            <a:solidFill>
              <a:srgbClr val="231A38"/>
            </a:solidFill>
            <a:prstDash val="solid"/>
          </a:ln>
        </p:spPr>
      </p:sp>
      <p:sp>
        <p:nvSpPr>
          <p:cNvPr id="55" name="Text 53"/>
          <p:cNvSpPr/>
          <p:nvPr/>
        </p:nvSpPr>
        <p:spPr>
          <a:xfrm>
            <a:off x="685800" y="4617720"/>
            <a:ext cx="2651760" cy="384048"/>
          </a:xfrm>
          <a:prstGeom prst="rect">
            <a:avLst/>
          </a:prstGeom>
          <a:noFill/>
          <a:ln/>
        </p:spPr>
        <p:txBody>
          <a:bodyPr wrap="square" rtlCol="0" anchor="ctr"/>
          <a:lstStyle/>
          <a:p>
            <a:pPr algn="l" indent="0" marL="0">
              <a:buNone/>
            </a:pPr>
            <a:r>
              <a:rPr lang="en-US" sz="1200" b="1" dirty="0">
                <a:solidFill>
                  <a:srgbClr val="F4F2FA"/>
                </a:solidFill>
                <a:latin typeface="Calibri" pitchFamily="34" charset="0"/>
                <a:ea typeface="Calibri" pitchFamily="34" charset="-122"/>
                <a:cs typeface="Calibri" pitchFamily="34" charset="-120"/>
              </a:rPr>
              <a:t>MRR (R$)</a:t>
            </a:r>
            <a:endParaRPr lang="en-US" sz="1200" dirty="0"/>
          </a:p>
        </p:txBody>
      </p:sp>
      <p:sp>
        <p:nvSpPr>
          <p:cNvPr id="56" name="Shape 54"/>
          <p:cNvSpPr/>
          <p:nvPr/>
        </p:nvSpPr>
        <p:spPr>
          <a:xfrm>
            <a:off x="3474720" y="4617720"/>
            <a:ext cx="2011680" cy="384048"/>
          </a:xfrm>
          <a:prstGeom prst="rect">
            <a:avLst/>
          </a:prstGeom>
          <a:solidFill>
            <a:srgbClr val="1A2530"/>
          </a:solidFill>
          <a:ln w="6350">
            <a:solidFill>
              <a:srgbClr val="231A38"/>
            </a:solidFill>
            <a:prstDash val="solid"/>
          </a:ln>
        </p:spPr>
      </p:sp>
      <p:sp>
        <p:nvSpPr>
          <p:cNvPr id="57" name="Text 55"/>
          <p:cNvSpPr/>
          <p:nvPr/>
        </p:nvSpPr>
        <p:spPr>
          <a:xfrm>
            <a:off x="3611880" y="4617720"/>
            <a:ext cx="1737360" cy="384048"/>
          </a:xfrm>
          <a:prstGeom prst="rect">
            <a:avLst/>
          </a:prstGeom>
          <a:noFill/>
          <a:ln/>
        </p:spPr>
        <p:txBody>
          <a:bodyPr wrap="square" rtlCol="0" anchor="ctr"/>
          <a:lstStyle/>
          <a:p>
            <a:pPr algn="r" indent="0" marL="0">
              <a:buNone/>
            </a:pPr>
            <a:r>
              <a:rPr lang="en-US" sz="1200" b="1" dirty="0">
                <a:solidFill>
                  <a:srgbClr val="C7F94E"/>
                </a:solidFill>
                <a:latin typeface="Calibri" pitchFamily="34" charset="0"/>
                <a:ea typeface="Calibri" pitchFamily="34" charset="-122"/>
                <a:cs typeface="Calibri" pitchFamily="34" charset="-120"/>
              </a:rPr>
              <a:t>0</a:t>
            </a:r>
            <a:endParaRPr lang="en-US" sz="1200" dirty="0"/>
          </a:p>
        </p:txBody>
      </p:sp>
      <p:sp>
        <p:nvSpPr>
          <p:cNvPr id="58" name="Shape 56"/>
          <p:cNvSpPr/>
          <p:nvPr/>
        </p:nvSpPr>
        <p:spPr>
          <a:xfrm>
            <a:off x="5486400" y="4617720"/>
            <a:ext cx="2011680" cy="384048"/>
          </a:xfrm>
          <a:prstGeom prst="rect">
            <a:avLst/>
          </a:prstGeom>
          <a:solidFill>
            <a:srgbClr val="1A2530"/>
          </a:solidFill>
          <a:ln w="6350">
            <a:solidFill>
              <a:srgbClr val="231A38"/>
            </a:solidFill>
            <a:prstDash val="solid"/>
          </a:ln>
        </p:spPr>
      </p:sp>
      <p:sp>
        <p:nvSpPr>
          <p:cNvPr id="59" name="Text 57"/>
          <p:cNvSpPr/>
          <p:nvPr/>
        </p:nvSpPr>
        <p:spPr>
          <a:xfrm>
            <a:off x="5623560" y="4617720"/>
            <a:ext cx="1737360" cy="384048"/>
          </a:xfrm>
          <a:prstGeom prst="rect">
            <a:avLst/>
          </a:prstGeom>
          <a:noFill/>
          <a:ln/>
        </p:spPr>
        <p:txBody>
          <a:bodyPr wrap="square" rtlCol="0" anchor="ctr"/>
          <a:lstStyle/>
          <a:p>
            <a:pPr algn="r" indent="0" marL="0">
              <a:buNone/>
            </a:pPr>
            <a:r>
              <a:rPr lang="en-US" sz="1200" b="1" dirty="0">
                <a:solidFill>
                  <a:srgbClr val="C7F94E"/>
                </a:solidFill>
                <a:latin typeface="Calibri" pitchFamily="34" charset="0"/>
                <a:ea typeface="Calibri" pitchFamily="34" charset="-122"/>
                <a:cs typeface="Calibri" pitchFamily="34" charset="-120"/>
              </a:rPr>
              <a:t>4.788</a:t>
            </a:r>
            <a:endParaRPr lang="en-US" sz="1200" dirty="0"/>
          </a:p>
        </p:txBody>
      </p:sp>
      <p:sp>
        <p:nvSpPr>
          <p:cNvPr id="60" name="Shape 58"/>
          <p:cNvSpPr/>
          <p:nvPr/>
        </p:nvSpPr>
        <p:spPr>
          <a:xfrm>
            <a:off x="7498080" y="4617720"/>
            <a:ext cx="2011680" cy="384048"/>
          </a:xfrm>
          <a:prstGeom prst="rect">
            <a:avLst/>
          </a:prstGeom>
          <a:solidFill>
            <a:srgbClr val="1A2530"/>
          </a:solidFill>
          <a:ln w="6350">
            <a:solidFill>
              <a:srgbClr val="231A38"/>
            </a:solidFill>
            <a:prstDash val="solid"/>
          </a:ln>
        </p:spPr>
      </p:sp>
      <p:sp>
        <p:nvSpPr>
          <p:cNvPr id="61" name="Text 59"/>
          <p:cNvSpPr/>
          <p:nvPr/>
        </p:nvSpPr>
        <p:spPr>
          <a:xfrm>
            <a:off x="7635240" y="4617720"/>
            <a:ext cx="1737360" cy="384048"/>
          </a:xfrm>
          <a:prstGeom prst="rect">
            <a:avLst/>
          </a:prstGeom>
          <a:noFill/>
          <a:ln/>
        </p:spPr>
        <p:txBody>
          <a:bodyPr wrap="square" rtlCol="0" anchor="ctr"/>
          <a:lstStyle/>
          <a:p>
            <a:pPr algn="r" indent="0" marL="0">
              <a:buNone/>
            </a:pPr>
            <a:r>
              <a:rPr lang="en-US" sz="1200" b="1" dirty="0">
                <a:solidFill>
                  <a:srgbClr val="C7F94E"/>
                </a:solidFill>
                <a:latin typeface="Calibri" pitchFamily="34" charset="0"/>
                <a:ea typeface="Calibri" pitchFamily="34" charset="-122"/>
                <a:cs typeface="Calibri" pitchFamily="34" charset="-120"/>
              </a:rPr>
              <a:t>38.435</a:t>
            </a:r>
            <a:endParaRPr lang="en-US" sz="1200" dirty="0"/>
          </a:p>
        </p:txBody>
      </p:sp>
      <p:sp>
        <p:nvSpPr>
          <p:cNvPr id="62" name="Shape 60"/>
          <p:cNvSpPr/>
          <p:nvPr/>
        </p:nvSpPr>
        <p:spPr>
          <a:xfrm>
            <a:off x="9509760" y="4617720"/>
            <a:ext cx="2103120" cy="384048"/>
          </a:xfrm>
          <a:prstGeom prst="rect">
            <a:avLst/>
          </a:prstGeom>
          <a:solidFill>
            <a:srgbClr val="1A2530"/>
          </a:solidFill>
          <a:ln w="6350">
            <a:solidFill>
              <a:srgbClr val="231A38"/>
            </a:solidFill>
            <a:prstDash val="solid"/>
          </a:ln>
        </p:spPr>
      </p:sp>
      <p:sp>
        <p:nvSpPr>
          <p:cNvPr id="63" name="Text 61"/>
          <p:cNvSpPr/>
          <p:nvPr/>
        </p:nvSpPr>
        <p:spPr>
          <a:xfrm>
            <a:off x="9646920" y="4617720"/>
            <a:ext cx="1828800" cy="384048"/>
          </a:xfrm>
          <a:prstGeom prst="rect">
            <a:avLst/>
          </a:prstGeom>
          <a:noFill/>
          <a:ln/>
        </p:spPr>
        <p:txBody>
          <a:bodyPr wrap="square" rtlCol="0" anchor="ctr"/>
          <a:lstStyle/>
          <a:p>
            <a:pPr algn="r" indent="0" marL="0">
              <a:buNone/>
            </a:pPr>
            <a:r>
              <a:rPr lang="en-US" sz="1200" b="1" dirty="0">
                <a:solidFill>
                  <a:srgbClr val="C7F94E"/>
                </a:solidFill>
                <a:latin typeface="Calibri" pitchFamily="34" charset="0"/>
                <a:ea typeface="Calibri" pitchFamily="34" charset="-122"/>
                <a:cs typeface="Calibri" pitchFamily="34" charset="-120"/>
              </a:rPr>
              <a:t>181.720</a:t>
            </a:r>
            <a:endParaRPr lang="en-US" sz="1200" dirty="0"/>
          </a:p>
        </p:txBody>
      </p:sp>
      <p:sp>
        <p:nvSpPr>
          <p:cNvPr id="64" name="Shape 62"/>
          <p:cNvSpPr/>
          <p:nvPr/>
        </p:nvSpPr>
        <p:spPr>
          <a:xfrm>
            <a:off x="548640" y="5001768"/>
            <a:ext cx="2926080" cy="384048"/>
          </a:xfrm>
          <a:prstGeom prst="rect">
            <a:avLst/>
          </a:prstGeom>
          <a:solidFill>
            <a:srgbClr val="14101E"/>
          </a:solidFill>
          <a:ln w="6350">
            <a:solidFill>
              <a:srgbClr val="231A38"/>
            </a:solidFill>
            <a:prstDash val="solid"/>
          </a:ln>
        </p:spPr>
      </p:sp>
      <p:sp>
        <p:nvSpPr>
          <p:cNvPr id="65" name="Text 63"/>
          <p:cNvSpPr/>
          <p:nvPr/>
        </p:nvSpPr>
        <p:spPr>
          <a:xfrm>
            <a:off x="685800" y="5001768"/>
            <a:ext cx="2651760" cy="384048"/>
          </a:xfrm>
          <a:prstGeom prst="rect">
            <a:avLst/>
          </a:prstGeom>
          <a:noFill/>
          <a:ln/>
        </p:spPr>
        <p:txBody>
          <a:bodyPr wrap="square" rtlCol="0" anchor="ctr"/>
          <a:lstStyle/>
          <a:p>
            <a:pPr algn="l" indent="0" marL="0">
              <a:buNone/>
            </a:pPr>
            <a:r>
              <a:rPr lang="en-US" sz="1200" b="1" dirty="0">
                <a:solidFill>
                  <a:srgbClr val="F4F2FA"/>
                </a:solidFill>
                <a:latin typeface="Calibri" pitchFamily="34" charset="0"/>
                <a:ea typeface="Calibri" pitchFamily="34" charset="-122"/>
                <a:cs typeface="Calibri" pitchFamily="34" charset="-120"/>
              </a:rPr>
              <a:t>Custos (R$)</a:t>
            </a:r>
            <a:endParaRPr lang="en-US" sz="1200" dirty="0"/>
          </a:p>
        </p:txBody>
      </p:sp>
      <p:sp>
        <p:nvSpPr>
          <p:cNvPr id="66" name="Shape 64"/>
          <p:cNvSpPr/>
          <p:nvPr/>
        </p:nvSpPr>
        <p:spPr>
          <a:xfrm>
            <a:off x="3474720" y="5001768"/>
            <a:ext cx="2011680" cy="384048"/>
          </a:xfrm>
          <a:prstGeom prst="rect">
            <a:avLst/>
          </a:prstGeom>
          <a:solidFill>
            <a:srgbClr val="14101E"/>
          </a:solidFill>
          <a:ln w="6350">
            <a:solidFill>
              <a:srgbClr val="231A38"/>
            </a:solidFill>
            <a:prstDash val="solid"/>
          </a:ln>
        </p:spPr>
      </p:sp>
      <p:sp>
        <p:nvSpPr>
          <p:cNvPr id="67" name="Text 65"/>
          <p:cNvSpPr/>
          <p:nvPr/>
        </p:nvSpPr>
        <p:spPr>
          <a:xfrm>
            <a:off x="3611880" y="5001768"/>
            <a:ext cx="173736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1.300</a:t>
            </a:r>
            <a:endParaRPr lang="en-US" sz="1200" dirty="0"/>
          </a:p>
        </p:txBody>
      </p:sp>
      <p:sp>
        <p:nvSpPr>
          <p:cNvPr id="68" name="Shape 66"/>
          <p:cNvSpPr/>
          <p:nvPr/>
        </p:nvSpPr>
        <p:spPr>
          <a:xfrm>
            <a:off x="5486400" y="5001768"/>
            <a:ext cx="2011680" cy="384048"/>
          </a:xfrm>
          <a:prstGeom prst="rect">
            <a:avLst/>
          </a:prstGeom>
          <a:solidFill>
            <a:srgbClr val="14101E"/>
          </a:solidFill>
          <a:ln w="6350">
            <a:solidFill>
              <a:srgbClr val="231A38"/>
            </a:solidFill>
            <a:prstDash val="solid"/>
          </a:ln>
        </p:spPr>
      </p:sp>
      <p:sp>
        <p:nvSpPr>
          <p:cNvPr id="69" name="Text 67"/>
          <p:cNvSpPr/>
          <p:nvPr/>
        </p:nvSpPr>
        <p:spPr>
          <a:xfrm>
            <a:off x="5623560" y="5001768"/>
            <a:ext cx="173736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13.800</a:t>
            </a:r>
            <a:endParaRPr lang="en-US" sz="1200" dirty="0"/>
          </a:p>
        </p:txBody>
      </p:sp>
      <p:sp>
        <p:nvSpPr>
          <p:cNvPr id="70" name="Shape 68"/>
          <p:cNvSpPr/>
          <p:nvPr/>
        </p:nvSpPr>
        <p:spPr>
          <a:xfrm>
            <a:off x="7498080" y="5001768"/>
            <a:ext cx="2011680" cy="384048"/>
          </a:xfrm>
          <a:prstGeom prst="rect">
            <a:avLst/>
          </a:prstGeom>
          <a:solidFill>
            <a:srgbClr val="14101E"/>
          </a:solidFill>
          <a:ln w="6350">
            <a:solidFill>
              <a:srgbClr val="231A38"/>
            </a:solidFill>
            <a:prstDash val="solid"/>
          </a:ln>
        </p:spPr>
      </p:sp>
      <p:sp>
        <p:nvSpPr>
          <p:cNvPr id="71" name="Text 69"/>
          <p:cNvSpPr/>
          <p:nvPr/>
        </p:nvSpPr>
        <p:spPr>
          <a:xfrm>
            <a:off x="7635240" y="5001768"/>
            <a:ext cx="173736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40.500</a:t>
            </a:r>
            <a:endParaRPr lang="en-US" sz="1200" dirty="0"/>
          </a:p>
        </p:txBody>
      </p:sp>
      <p:sp>
        <p:nvSpPr>
          <p:cNvPr id="72" name="Shape 70"/>
          <p:cNvSpPr/>
          <p:nvPr/>
        </p:nvSpPr>
        <p:spPr>
          <a:xfrm>
            <a:off x="9509760" y="5001768"/>
            <a:ext cx="2103120" cy="384048"/>
          </a:xfrm>
          <a:prstGeom prst="rect">
            <a:avLst/>
          </a:prstGeom>
          <a:solidFill>
            <a:srgbClr val="14101E"/>
          </a:solidFill>
          <a:ln w="6350">
            <a:solidFill>
              <a:srgbClr val="231A38"/>
            </a:solidFill>
            <a:prstDash val="solid"/>
          </a:ln>
        </p:spPr>
      </p:sp>
      <p:sp>
        <p:nvSpPr>
          <p:cNvPr id="73" name="Text 71"/>
          <p:cNvSpPr/>
          <p:nvPr/>
        </p:nvSpPr>
        <p:spPr>
          <a:xfrm>
            <a:off x="9646920" y="5001768"/>
            <a:ext cx="1828800" cy="384048"/>
          </a:xfrm>
          <a:prstGeom prst="rect">
            <a:avLst/>
          </a:prstGeom>
          <a:noFill/>
          <a:ln/>
        </p:spPr>
        <p:txBody>
          <a:bodyPr wrap="square" rtlCol="0" anchor="ctr"/>
          <a:lstStyle/>
          <a:p>
            <a:pPr algn="r" indent="0" marL="0">
              <a:buNone/>
            </a:pPr>
            <a:r>
              <a:rPr lang="en-US" sz="1200" dirty="0">
                <a:solidFill>
                  <a:srgbClr val="F4F2FA"/>
                </a:solidFill>
                <a:latin typeface="Calibri" pitchFamily="34" charset="0"/>
                <a:ea typeface="Calibri" pitchFamily="34" charset="-122"/>
                <a:cs typeface="Calibri" pitchFamily="34" charset="-120"/>
              </a:rPr>
              <a:t>113.000</a:t>
            </a:r>
            <a:endParaRPr lang="en-US" sz="1200" dirty="0"/>
          </a:p>
        </p:txBody>
      </p:sp>
      <p:sp>
        <p:nvSpPr>
          <p:cNvPr id="74" name="Text 72"/>
          <p:cNvSpPr/>
          <p:nvPr/>
        </p:nvSpPr>
        <p:spPr>
          <a:xfrm>
            <a:off x="548640" y="5660136"/>
            <a:ext cx="11064240" cy="411480"/>
          </a:xfrm>
          <a:prstGeom prst="rect">
            <a:avLst/>
          </a:prstGeom>
          <a:noFill/>
          <a:ln/>
        </p:spPr>
        <p:txBody>
          <a:bodyPr wrap="square" rtlCol="0" anchor="ctr"/>
          <a:lstStyle/>
          <a:p>
            <a:pPr indent="0" marL="0">
              <a:buNone/>
            </a:pPr>
            <a:r>
              <a:rPr lang="en-US" sz="1300" i="1" dirty="0">
                <a:solidFill>
                  <a:srgbClr val="8E89A6"/>
                </a:solidFill>
                <a:latin typeface="Calibri" pitchFamily="34" charset="0"/>
                <a:ea typeface="Calibri" pitchFamily="34" charset="-122"/>
                <a:cs typeface="Calibri" pitchFamily="34" charset="-120"/>
              </a:rPr>
              <a:t>Receita acumulada 24m ≈ R$ 1,2M  ·  Burn rate até break-even ≈ R$ 400–600k</a:t>
            </a:r>
            <a:endParaRPr lang="en-US" sz="1300" dirty="0"/>
          </a:p>
        </p:txBody>
      </p:sp>
      <p:sp>
        <p:nvSpPr>
          <p:cNvPr id="75" name="Text 73"/>
          <p:cNvSpPr/>
          <p:nvPr/>
        </p:nvSpPr>
        <p:spPr>
          <a:xfrm>
            <a:off x="548640" y="6355080"/>
            <a:ext cx="3657600" cy="274320"/>
          </a:xfrm>
          <a:prstGeom prst="rect">
            <a:avLst/>
          </a:prstGeom>
          <a:noFill/>
          <a:ln/>
        </p:spPr>
        <p:txBody>
          <a:bodyPr wrap="square" rtlCol="0" anchor="ctr"/>
          <a:lstStyle/>
          <a:p>
            <a:pPr indent="0" marL="0">
              <a:buNone/>
            </a:pPr>
            <a:r>
              <a:rPr lang="en-US" sz="900" spc="300" kern="0" dirty="0">
                <a:solidFill>
                  <a:srgbClr val="564F71"/>
                </a:solidFill>
                <a:latin typeface="Calibri" pitchFamily="34" charset="0"/>
                <a:ea typeface="Calibri" pitchFamily="34" charset="-122"/>
                <a:cs typeface="Calibri" pitchFamily="34" charset="-120"/>
              </a:rPr>
              <a:t>HIRLY · CONFIDENCIAL</a:t>
            </a:r>
            <a:endParaRPr lang="en-US" sz="900" dirty="0"/>
          </a:p>
        </p:txBody>
      </p:sp>
      <p:sp>
        <p:nvSpPr>
          <p:cNvPr id="76" name="Text 74"/>
          <p:cNvSpPr/>
          <p:nvPr/>
        </p:nvSpPr>
        <p:spPr>
          <a:xfrm>
            <a:off x="10972800" y="6355080"/>
            <a:ext cx="1097280" cy="274320"/>
          </a:xfrm>
          <a:prstGeom prst="rect">
            <a:avLst/>
          </a:prstGeom>
          <a:noFill/>
          <a:ln/>
        </p:spPr>
        <p:txBody>
          <a:bodyPr wrap="square" rtlCol="0" anchor="ctr"/>
          <a:lstStyle/>
          <a:p>
            <a:pPr algn="r" indent="0" marL="0">
              <a:buNone/>
            </a:pPr>
            <a:r>
              <a:rPr lang="en-US" sz="900" spc="300" kern="0" dirty="0">
                <a:solidFill>
                  <a:srgbClr val="564F71"/>
                </a:solidFill>
                <a:latin typeface="Calibri" pitchFamily="34" charset="0"/>
                <a:ea typeface="Calibri" pitchFamily="34" charset="-122"/>
                <a:cs typeface="Calibri" pitchFamily="34" charset="-120"/>
              </a:rPr>
              <a:t>09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40E"/>
        </a:solidFill>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rtlCol="0" anchor="ctr"/>
          <a:lstStyle/>
          <a:p>
            <a:pPr indent="0" marL="0">
              <a:buNone/>
            </a:pPr>
            <a:r>
              <a:rPr lang="en-US" sz="1000" b="1" spc="400" kern="0" dirty="0">
                <a:solidFill>
                  <a:srgbClr val="22D3EE"/>
                </a:solidFill>
                <a:latin typeface="Calibri" pitchFamily="34" charset="0"/>
                <a:ea typeface="Calibri" pitchFamily="34" charset="-122"/>
                <a:cs typeface="Calibri" pitchFamily="34" charset="-120"/>
              </a:rPr>
              <a:t>09 · TIME</a:t>
            </a:r>
            <a:endParaRPr lang="en-US" sz="1000" dirty="0"/>
          </a:p>
        </p:txBody>
      </p:sp>
      <p:sp>
        <p:nvSpPr>
          <p:cNvPr id="3" name="Text 1"/>
          <p:cNvSpPr/>
          <p:nvPr/>
        </p:nvSpPr>
        <p:spPr>
          <a:xfrm>
            <a:off x="548640" y="777240"/>
            <a:ext cx="10515600" cy="1554480"/>
          </a:xfrm>
          <a:prstGeom prst="rect">
            <a:avLst/>
          </a:prstGeom>
          <a:noFill/>
          <a:ln/>
        </p:spPr>
        <p:txBody>
          <a:bodyPr wrap="square" rtlCol="0" anchor="ctr"/>
          <a:lstStyle/>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Builders. Hands-on.</a:t>
            </a:r>
            <a:endParaRPr lang="en-US" sz="3800" dirty="0"/>
          </a:p>
          <a:p>
            <a:pPr indent="0" marL="0">
              <a:lnSpc>
                <a:spcPct val="105000"/>
              </a:lnSpc>
              <a:buNone/>
            </a:pPr>
            <a:r>
              <a:rPr lang="en-US" sz="3800" b="1" spc="-150" kern="0" dirty="0">
                <a:solidFill>
                  <a:srgbClr val="F4F2FA"/>
                </a:solidFill>
                <a:latin typeface="Calibri" pitchFamily="34" charset="0"/>
                <a:ea typeface="Calibri" pitchFamily="34" charset="-122"/>
                <a:cs typeface="Calibri" pitchFamily="34" charset="-120"/>
              </a:rPr>
              <a:t>Não CEOs de slide.</a:t>
            </a:r>
            <a:endParaRPr lang="en-US" sz="3800" dirty="0"/>
          </a:p>
        </p:txBody>
      </p:sp>
      <p:sp>
        <p:nvSpPr>
          <p:cNvPr id="4" name="Text 2"/>
          <p:cNvSpPr/>
          <p:nvPr/>
        </p:nvSpPr>
        <p:spPr>
          <a:xfrm>
            <a:off x="548640" y="2743200"/>
            <a:ext cx="11064240" cy="1554480"/>
          </a:xfrm>
          <a:prstGeom prst="rect">
            <a:avLst/>
          </a:prstGeom>
          <a:noFill/>
          <a:ln/>
        </p:spPr>
        <p:txBody>
          <a:bodyPr wrap="square" rtlCol="0" anchor="ctr"/>
          <a:lstStyle/>
          <a:p>
            <a:pPr indent="0" marL="0">
              <a:lnSpc>
                <a:spcPct val="150000"/>
              </a:lnSpc>
              <a:buNone/>
            </a:pPr>
            <a:r>
              <a:rPr lang="en-US" sz="1400" dirty="0">
                <a:solidFill>
                  <a:srgbClr val="F4F2FA"/>
                </a:solidFill>
                <a:latin typeface="Calibri" pitchFamily="34" charset="0"/>
                <a:ea typeface="Calibri" pitchFamily="34" charset="-122"/>
                <a:cs typeface="Calibri" pitchFamily="34" charset="-120"/>
              </a:rPr>
              <a:t>O app inteiro saiu do zero em poucos meses: parser de CV com IA, design system completo, feed swipe 60fps, integração Firebase resumable upload pra contornar limitação Hermes, suite IA generativa pronta. Tudo construído por uma equipe enxuta com viés de execução.</a:t>
            </a:r>
            <a:endParaRPr lang="en-US" sz="1400" dirty="0"/>
          </a:p>
        </p:txBody>
      </p:sp>
      <p:sp>
        <p:nvSpPr>
          <p:cNvPr id="5" name="Shape 3"/>
          <p:cNvSpPr/>
          <p:nvPr/>
        </p:nvSpPr>
        <p:spPr>
          <a:xfrm>
            <a:off x="548640" y="4572000"/>
            <a:ext cx="3566160" cy="1508760"/>
          </a:xfrm>
          <a:prstGeom prst="roundRect">
            <a:avLst>
              <a:gd name="adj" fmla="val 7273"/>
            </a:avLst>
          </a:prstGeom>
          <a:solidFill>
            <a:srgbClr val="14101E"/>
          </a:solidFill>
          <a:ln w="12700">
            <a:solidFill>
              <a:srgbClr val="231A38"/>
            </a:solidFill>
            <a:prstDash val="solid"/>
          </a:ln>
        </p:spPr>
      </p:sp>
      <p:sp>
        <p:nvSpPr>
          <p:cNvPr id="6" name="Shape 4"/>
          <p:cNvSpPr/>
          <p:nvPr/>
        </p:nvSpPr>
        <p:spPr>
          <a:xfrm>
            <a:off x="822960" y="4846320"/>
            <a:ext cx="914400" cy="914400"/>
          </a:xfrm>
          <a:prstGeom prst="ellipse">
            <a:avLst/>
          </a:prstGeom>
          <a:solidFill>
            <a:srgbClr val="7B5CFF">
              <a:alpha val="70000"/>
            </a:srgbClr>
          </a:solidFill>
          <a:ln/>
        </p:spPr>
      </p:sp>
      <p:sp>
        <p:nvSpPr>
          <p:cNvPr id="7" name="Text 5"/>
          <p:cNvSpPr/>
          <p:nvPr/>
        </p:nvSpPr>
        <p:spPr>
          <a:xfrm>
            <a:off x="1874520" y="4800600"/>
            <a:ext cx="2148840" cy="274320"/>
          </a:xfrm>
          <a:prstGeom prst="rect">
            <a:avLst/>
          </a:prstGeom>
          <a:noFill/>
          <a:ln/>
        </p:spPr>
        <p:txBody>
          <a:bodyPr wrap="square" rtlCol="0" anchor="ctr"/>
          <a:lstStyle/>
          <a:p>
            <a:pPr indent="0" marL="0">
              <a:buNone/>
            </a:pPr>
            <a:r>
              <a:rPr lang="en-US" sz="900" b="1" spc="200" kern="0" dirty="0">
                <a:solidFill>
                  <a:srgbClr val="7B5CFF"/>
                </a:solidFill>
                <a:latin typeface="Calibri" pitchFamily="34" charset="0"/>
                <a:ea typeface="Calibri" pitchFamily="34" charset="-122"/>
                <a:cs typeface="Calibri" pitchFamily="34" charset="-120"/>
              </a:rPr>
              <a:t>FOUNDER · CEO</a:t>
            </a:r>
            <a:endParaRPr lang="en-US" sz="900" dirty="0"/>
          </a:p>
        </p:txBody>
      </p:sp>
      <p:sp>
        <p:nvSpPr>
          <p:cNvPr id="8" name="Text 6"/>
          <p:cNvSpPr/>
          <p:nvPr/>
        </p:nvSpPr>
        <p:spPr>
          <a:xfrm>
            <a:off x="1874520" y="5074920"/>
            <a:ext cx="2148840" cy="365760"/>
          </a:xfrm>
          <a:prstGeom prst="rect">
            <a:avLst/>
          </a:prstGeom>
          <a:noFill/>
          <a:ln/>
        </p:spPr>
        <p:txBody>
          <a:bodyPr wrap="square" rtlCol="0" anchor="ctr"/>
          <a:lstStyle/>
          <a:p>
            <a:pPr indent="0" marL="0">
              <a:buNone/>
            </a:pPr>
            <a:r>
              <a:rPr lang="en-US" sz="1400" b="1" spc="-40" kern="0" dirty="0">
                <a:solidFill>
                  <a:srgbClr val="F4F2FA"/>
                </a:solidFill>
                <a:latin typeface="Calibri" pitchFamily="34" charset="0"/>
                <a:ea typeface="Calibri" pitchFamily="34" charset="-122"/>
                <a:cs typeface="Calibri" pitchFamily="34" charset="-120"/>
              </a:rPr>
              <a:t>[A preencher]</a:t>
            </a:r>
            <a:endParaRPr lang="en-US" sz="1400" dirty="0"/>
          </a:p>
        </p:txBody>
      </p:sp>
      <p:sp>
        <p:nvSpPr>
          <p:cNvPr id="9" name="Text 7"/>
          <p:cNvSpPr/>
          <p:nvPr/>
        </p:nvSpPr>
        <p:spPr>
          <a:xfrm>
            <a:off x="1874520" y="5486400"/>
            <a:ext cx="2148840" cy="548640"/>
          </a:xfrm>
          <a:prstGeom prst="rect">
            <a:avLst/>
          </a:prstGeom>
          <a:noFill/>
          <a:ln/>
        </p:spPr>
        <p:txBody>
          <a:bodyPr wrap="square" rtlCol="0" anchor="ctr"/>
          <a:lstStyle/>
          <a:p>
            <a:pPr indent="0" marL="0">
              <a:lnSpc>
                <a:spcPct val="130000"/>
              </a:lnSpc>
              <a:buNone/>
            </a:pPr>
            <a:r>
              <a:rPr lang="en-US" sz="1050" dirty="0">
                <a:solidFill>
                  <a:srgbClr val="8E89A6"/>
                </a:solidFill>
                <a:latin typeface="Calibri" pitchFamily="34" charset="0"/>
                <a:ea typeface="Calibri" pitchFamily="34" charset="-122"/>
                <a:cs typeface="Calibri" pitchFamily="34" charset="-120"/>
              </a:rPr>
              <a:t>Produto · Engenharia · Visão</a:t>
            </a:r>
            <a:endParaRPr lang="en-US" sz="1050" dirty="0"/>
          </a:p>
        </p:txBody>
      </p:sp>
      <p:sp>
        <p:nvSpPr>
          <p:cNvPr id="10" name="Shape 8"/>
          <p:cNvSpPr/>
          <p:nvPr/>
        </p:nvSpPr>
        <p:spPr>
          <a:xfrm>
            <a:off x="4343400" y="4572000"/>
            <a:ext cx="3566160" cy="1508760"/>
          </a:xfrm>
          <a:prstGeom prst="roundRect">
            <a:avLst>
              <a:gd name="adj" fmla="val 7273"/>
            </a:avLst>
          </a:prstGeom>
          <a:solidFill>
            <a:srgbClr val="14101E"/>
          </a:solidFill>
          <a:ln w="12700">
            <a:solidFill>
              <a:srgbClr val="231A38"/>
            </a:solidFill>
            <a:prstDash val="solid"/>
          </a:ln>
        </p:spPr>
      </p:sp>
      <p:sp>
        <p:nvSpPr>
          <p:cNvPr id="11" name="Shape 9"/>
          <p:cNvSpPr/>
          <p:nvPr/>
        </p:nvSpPr>
        <p:spPr>
          <a:xfrm>
            <a:off x="4617720" y="4846320"/>
            <a:ext cx="914400" cy="914400"/>
          </a:xfrm>
          <a:prstGeom prst="ellipse">
            <a:avLst/>
          </a:prstGeom>
          <a:solidFill>
            <a:srgbClr val="22D3EE">
              <a:alpha val="70000"/>
            </a:srgbClr>
          </a:solidFill>
          <a:ln/>
        </p:spPr>
      </p:sp>
      <p:sp>
        <p:nvSpPr>
          <p:cNvPr id="12" name="Text 10"/>
          <p:cNvSpPr/>
          <p:nvPr/>
        </p:nvSpPr>
        <p:spPr>
          <a:xfrm>
            <a:off x="5669280" y="4800600"/>
            <a:ext cx="2148840" cy="274320"/>
          </a:xfrm>
          <a:prstGeom prst="rect">
            <a:avLst/>
          </a:prstGeom>
          <a:noFill/>
          <a:ln/>
        </p:spPr>
        <p:txBody>
          <a:bodyPr wrap="square" rtlCol="0" anchor="ctr"/>
          <a:lstStyle/>
          <a:p>
            <a:pPr indent="0" marL="0">
              <a:buNone/>
            </a:pPr>
            <a:r>
              <a:rPr lang="en-US" sz="900" b="1" spc="200" kern="0" dirty="0">
                <a:solidFill>
                  <a:srgbClr val="22D3EE"/>
                </a:solidFill>
                <a:latin typeface="Calibri" pitchFamily="34" charset="0"/>
                <a:ea typeface="Calibri" pitchFamily="34" charset="-122"/>
                <a:cs typeface="Calibri" pitchFamily="34" charset="-120"/>
              </a:rPr>
              <a:t>CO-FOUNDER · OPS</a:t>
            </a:r>
            <a:endParaRPr lang="en-US" sz="900" dirty="0"/>
          </a:p>
        </p:txBody>
      </p:sp>
      <p:sp>
        <p:nvSpPr>
          <p:cNvPr id="13" name="Text 11"/>
          <p:cNvSpPr/>
          <p:nvPr/>
        </p:nvSpPr>
        <p:spPr>
          <a:xfrm>
            <a:off x="5669280" y="5074920"/>
            <a:ext cx="2148840" cy="365760"/>
          </a:xfrm>
          <a:prstGeom prst="rect">
            <a:avLst/>
          </a:prstGeom>
          <a:noFill/>
          <a:ln/>
        </p:spPr>
        <p:txBody>
          <a:bodyPr wrap="square" rtlCol="0" anchor="ctr"/>
          <a:lstStyle/>
          <a:p>
            <a:pPr indent="0" marL="0">
              <a:buNone/>
            </a:pPr>
            <a:r>
              <a:rPr lang="en-US" sz="1400" b="1" spc="-40" kern="0" dirty="0">
                <a:solidFill>
                  <a:srgbClr val="F4F2FA"/>
                </a:solidFill>
                <a:latin typeface="Calibri" pitchFamily="34" charset="0"/>
                <a:ea typeface="Calibri" pitchFamily="34" charset="-122"/>
                <a:cs typeface="Calibri" pitchFamily="34" charset="-120"/>
              </a:rPr>
              <a:t>[A preencher]</a:t>
            </a:r>
            <a:endParaRPr lang="en-US" sz="1400" dirty="0"/>
          </a:p>
        </p:txBody>
      </p:sp>
      <p:sp>
        <p:nvSpPr>
          <p:cNvPr id="14" name="Text 12"/>
          <p:cNvSpPr/>
          <p:nvPr/>
        </p:nvSpPr>
        <p:spPr>
          <a:xfrm>
            <a:off x="5669280" y="5486400"/>
            <a:ext cx="2148840" cy="548640"/>
          </a:xfrm>
          <a:prstGeom prst="rect">
            <a:avLst/>
          </a:prstGeom>
          <a:noFill/>
          <a:ln/>
        </p:spPr>
        <p:txBody>
          <a:bodyPr wrap="square" rtlCol="0" anchor="ctr"/>
          <a:lstStyle/>
          <a:p>
            <a:pPr indent="0" marL="0">
              <a:lnSpc>
                <a:spcPct val="130000"/>
              </a:lnSpc>
              <a:buNone/>
            </a:pPr>
            <a:r>
              <a:rPr lang="en-US" sz="1050" dirty="0">
                <a:solidFill>
                  <a:srgbClr val="8E89A6"/>
                </a:solidFill>
                <a:latin typeface="Calibri" pitchFamily="34" charset="0"/>
                <a:ea typeface="Calibri" pitchFamily="34" charset="-122"/>
                <a:cs typeface="Calibri" pitchFamily="34" charset="-120"/>
              </a:rPr>
              <a:t>Curadoria de vagas · GTM</a:t>
            </a:r>
            <a:endParaRPr lang="en-US" sz="1050" dirty="0"/>
          </a:p>
        </p:txBody>
      </p:sp>
      <p:sp>
        <p:nvSpPr>
          <p:cNvPr id="15" name="Shape 13"/>
          <p:cNvSpPr/>
          <p:nvPr/>
        </p:nvSpPr>
        <p:spPr>
          <a:xfrm>
            <a:off x="8138160" y="4572000"/>
            <a:ext cx="3566160" cy="1508760"/>
          </a:xfrm>
          <a:prstGeom prst="roundRect">
            <a:avLst>
              <a:gd name="adj" fmla="val 7273"/>
            </a:avLst>
          </a:prstGeom>
          <a:solidFill>
            <a:srgbClr val="14101E"/>
          </a:solidFill>
          <a:ln w="12700">
            <a:solidFill>
              <a:srgbClr val="231A38"/>
            </a:solidFill>
            <a:prstDash val="solid"/>
          </a:ln>
        </p:spPr>
      </p:sp>
      <p:sp>
        <p:nvSpPr>
          <p:cNvPr id="16" name="Shape 14"/>
          <p:cNvSpPr/>
          <p:nvPr/>
        </p:nvSpPr>
        <p:spPr>
          <a:xfrm>
            <a:off x="8412480" y="4846320"/>
            <a:ext cx="914400" cy="914400"/>
          </a:xfrm>
          <a:prstGeom prst="ellipse">
            <a:avLst/>
          </a:prstGeom>
          <a:solidFill>
            <a:srgbClr val="C7F94E">
              <a:alpha val="70000"/>
            </a:srgbClr>
          </a:solidFill>
          <a:ln/>
        </p:spPr>
      </p:sp>
      <p:sp>
        <p:nvSpPr>
          <p:cNvPr id="17" name="Text 15"/>
          <p:cNvSpPr/>
          <p:nvPr/>
        </p:nvSpPr>
        <p:spPr>
          <a:xfrm>
            <a:off x="9464040" y="4800600"/>
            <a:ext cx="2148840" cy="274320"/>
          </a:xfrm>
          <a:prstGeom prst="rect">
            <a:avLst/>
          </a:prstGeom>
          <a:noFill/>
          <a:ln/>
        </p:spPr>
        <p:txBody>
          <a:bodyPr wrap="square" rtlCol="0" anchor="ctr"/>
          <a:lstStyle/>
          <a:p>
            <a:pPr indent="0" marL="0">
              <a:buNone/>
            </a:pPr>
            <a:r>
              <a:rPr lang="en-US" sz="900" b="1" spc="200" kern="0" dirty="0">
                <a:solidFill>
                  <a:srgbClr val="C7F94E"/>
                </a:solidFill>
                <a:latin typeface="Calibri" pitchFamily="34" charset="0"/>
                <a:ea typeface="Calibri" pitchFamily="34" charset="-122"/>
                <a:cs typeface="Calibri" pitchFamily="34" charset="-120"/>
              </a:rPr>
              <a:t>CO-FOUNDER · GROWTH</a:t>
            </a:r>
            <a:endParaRPr lang="en-US" sz="900" dirty="0"/>
          </a:p>
        </p:txBody>
      </p:sp>
      <p:sp>
        <p:nvSpPr>
          <p:cNvPr id="18" name="Text 16"/>
          <p:cNvSpPr/>
          <p:nvPr/>
        </p:nvSpPr>
        <p:spPr>
          <a:xfrm>
            <a:off x="9464040" y="5074920"/>
            <a:ext cx="2148840" cy="365760"/>
          </a:xfrm>
          <a:prstGeom prst="rect">
            <a:avLst/>
          </a:prstGeom>
          <a:noFill/>
          <a:ln/>
        </p:spPr>
        <p:txBody>
          <a:bodyPr wrap="square" rtlCol="0" anchor="ctr"/>
          <a:lstStyle/>
          <a:p>
            <a:pPr indent="0" marL="0">
              <a:buNone/>
            </a:pPr>
            <a:r>
              <a:rPr lang="en-US" sz="1400" b="1" spc="-40" kern="0" dirty="0">
                <a:solidFill>
                  <a:srgbClr val="F4F2FA"/>
                </a:solidFill>
                <a:latin typeface="Calibri" pitchFamily="34" charset="0"/>
                <a:ea typeface="Calibri" pitchFamily="34" charset="-122"/>
                <a:cs typeface="Calibri" pitchFamily="34" charset="-120"/>
              </a:rPr>
              <a:t>[A preencher]</a:t>
            </a:r>
            <a:endParaRPr lang="en-US" sz="1400" dirty="0"/>
          </a:p>
        </p:txBody>
      </p:sp>
      <p:sp>
        <p:nvSpPr>
          <p:cNvPr id="19" name="Text 17"/>
          <p:cNvSpPr/>
          <p:nvPr/>
        </p:nvSpPr>
        <p:spPr>
          <a:xfrm>
            <a:off x="9464040" y="5486400"/>
            <a:ext cx="2148840" cy="548640"/>
          </a:xfrm>
          <a:prstGeom prst="rect">
            <a:avLst/>
          </a:prstGeom>
          <a:noFill/>
          <a:ln/>
        </p:spPr>
        <p:txBody>
          <a:bodyPr wrap="square" rtlCol="0" anchor="ctr"/>
          <a:lstStyle/>
          <a:p>
            <a:pPr indent="0" marL="0">
              <a:lnSpc>
                <a:spcPct val="130000"/>
              </a:lnSpc>
              <a:buNone/>
            </a:pPr>
            <a:r>
              <a:rPr lang="en-US" sz="1050" dirty="0">
                <a:solidFill>
                  <a:srgbClr val="8E89A6"/>
                </a:solidFill>
                <a:latin typeface="Calibri" pitchFamily="34" charset="0"/>
                <a:ea typeface="Calibri" pitchFamily="34" charset="-122"/>
                <a:cs typeface="Calibri" pitchFamily="34" charset="-120"/>
              </a:rPr>
              <a:t>Marketing · Universidades</a:t>
            </a:r>
            <a:endParaRPr lang="en-US" sz="1050" dirty="0"/>
          </a:p>
        </p:txBody>
      </p:sp>
      <p:sp>
        <p:nvSpPr>
          <p:cNvPr id="20" name="Text 18"/>
          <p:cNvSpPr/>
          <p:nvPr/>
        </p:nvSpPr>
        <p:spPr>
          <a:xfrm>
            <a:off x="548640" y="6355080"/>
            <a:ext cx="3657600" cy="274320"/>
          </a:xfrm>
          <a:prstGeom prst="rect">
            <a:avLst/>
          </a:prstGeom>
          <a:noFill/>
          <a:ln/>
        </p:spPr>
        <p:txBody>
          <a:bodyPr wrap="square" rtlCol="0" anchor="ctr"/>
          <a:lstStyle/>
          <a:p>
            <a:pPr indent="0" marL="0">
              <a:buNone/>
            </a:pPr>
            <a:r>
              <a:rPr lang="en-US" sz="900" spc="300" kern="0" dirty="0">
                <a:solidFill>
                  <a:srgbClr val="564F71"/>
                </a:solidFill>
                <a:latin typeface="Calibri" pitchFamily="34" charset="0"/>
                <a:ea typeface="Calibri" pitchFamily="34" charset="-122"/>
                <a:cs typeface="Calibri" pitchFamily="34" charset="-120"/>
              </a:rPr>
              <a:t>HIRLY · CONFIDENCIAL</a:t>
            </a:r>
            <a:endParaRPr lang="en-US" sz="900" dirty="0"/>
          </a:p>
        </p:txBody>
      </p:sp>
      <p:sp>
        <p:nvSpPr>
          <p:cNvPr id="21" name="Text 19"/>
          <p:cNvSpPr/>
          <p:nvPr/>
        </p:nvSpPr>
        <p:spPr>
          <a:xfrm>
            <a:off x="10972800" y="6355080"/>
            <a:ext cx="1097280" cy="274320"/>
          </a:xfrm>
          <a:prstGeom prst="rect">
            <a:avLst/>
          </a:prstGeom>
          <a:noFill/>
          <a:ln/>
        </p:spPr>
        <p:txBody>
          <a:bodyPr wrap="square" rtlCol="0" anchor="ctr"/>
          <a:lstStyle/>
          <a:p>
            <a:pPr algn="r" indent="0" marL="0">
              <a:buNone/>
            </a:pPr>
            <a:r>
              <a:rPr lang="en-US" sz="900" spc="300" kern="0" dirty="0">
                <a:solidFill>
                  <a:srgbClr val="564F71"/>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40E"/>
        </a:solidFill>
      </p:bgPr>
    </p:bg>
    <p:spTree>
      <p:nvGrpSpPr>
        <p:cNvPr id="1" name=""/>
        <p:cNvGrpSpPr/>
        <p:nvPr/>
      </p:nvGrpSpPr>
      <p:grpSpPr>
        <a:xfrm>
          <a:off x="0" y="0"/>
          <a:ext cx="0" cy="0"/>
          <a:chOff x="0" y="0"/>
          <a:chExt cx="0" cy="0"/>
        </a:xfrm>
      </p:grpSpPr>
      <p:sp>
        <p:nvSpPr>
          <p:cNvPr id="2" name="Shape 0"/>
          <p:cNvSpPr/>
          <p:nvPr/>
        </p:nvSpPr>
        <p:spPr>
          <a:xfrm>
            <a:off x="-1828800" y="-1828800"/>
            <a:ext cx="8229600" cy="8229600"/>
          </a:xfrm>
          <a:prstGeom prst="rect">
            <a:avLst/>
          </a:prstGeom>
          <a:solidFill>
            <a:srgbClr val="7B5CFF">
              <a:alpha val="40000"/>
            </a:srgbClr>
          </a:solidFill>
          <a:ln/>
        </p:spPr>
      </p:sp>
      <p:sp>
        <p:nvSpPr>
          <p:cNvPr id="3" name="Shape 1"/>
          <p:cNvSpPr/>
          <p:nvPr/>
        </p:nvSpPr>
        <p:spPr>
          <a:xfrm>
            <a:off x="1051560" y="-1828800"/>
            <a:ext cx="5349240" cy="8229600"/>
          </a:xfrm>
          <a:prstGeom prst="rect">
            <a:avLst/>
          </a:prstGeom>
          <a:solidFill>
            <a:srgbClr val="22D3EE">
              <a:alpha val="35000"/>
            </a:srgbClr>
          </a:solidFill>
          <a:ln/>
        </p:spPr>
      </p:sp>
      <p:sp>
        <p:nvSpPr>
          <p:cNvPr id="4" name="Text 2"/>
          <p:cNvSpPr/>
          <p:nvPr/>
        </p:nvSpPr>
        <p:spPr>
          <a:xfrm>
            <a:off x="548640" y="411480"/>
            <a:ext cx="5486400" cy="274320"/>
          </a:xfrm>
          <a:prstGeom prst="rect">
            <a:avLst/>
          </a:prstGeom>
          <a:noFill/>
          <a:ln/>
        </p:spPr>
        <p:txBody>
          <a:bodyPr wrap="square" rtlCol="0" anchor="ctr"/>
          <a:lstStyle/>
          <a:p>
            <a:pPr indent="0" marL="0">
              <a:buNone/>
            </a:pPr>
            <a:r>
              <a:rPr lang="en-US" sz="1000" b="1" spc="400" kern="0" dirty="0">
                <a:solidFill>
                  <a:srgbClr val="22D3EE"/>
                </a:solidFill>
                <a:latin typeface="Calibri" pitchFamily="34" charset="0"/>
                <a:ea typeface="Calibri" pitchFamily="34" charset="-122"/>
                <a:cs typeface="Calibri" pitchFamily="34" charset="-120"/>
              </a:rPr>
              <a:t>10 · O PEDIDO</a:t>
            </a:r>
            <a:endParaRPr lang="en-US" sz="1000" dirty="0"/>
          </a:p>
        </p:txBody>
      </p:sp>
      <p:sp>
        <p:nvSpPr>
          <p:cNvPr id="5" name="Text 3"/>
          <p:cNvSpPr/>
          <p:nvPr/>
        </p:nvSpPr>
        <p:spPr>
          <a:xfrm>
            <a:off x="548640" y="914400"/>
            <a:ext cx="10972800" cy="1828800"/>
          </a:xfrm>
          <a:prstGeom prst="rect">
            <a:avLst/>
          </a:prstGeom>
          <a:noFill/>
          <a:ln/>
        </p:spPr>
        <p:txBody>
          <a:bodyPr wrap="square" rtlCol="0" anchor="ctr"/>
          <a:lstStyle/>
          <a:p>
            <a:pPr indent="0" marL="0">
              <a:lnSpc>
                <a:spcPct val="100000"/>
              </a:lnSpc>
              <a:buNone/>
            </a:pPr>
            <a:r>
              <a:rPr lang="en-US" sz="5200" b="1" spc="-200" kern="0" dirty="0">
                <a:solidFill>
                  <a:srgbClr val="F4F2FA"/>
                </a:solidFill>
                <a:latin typeface="Calibri" pitchFamily="34" charset="0"/>
                <a:ea typeface="Calibri" pitchFamily="34" charset="-122"/>
                <a:cs typeface="Calibri" pitchFamily="34" charset="-120"/>
              </a:rPr>
              <a:t>R$ 500k pre-seed</a:t>
            </a:r>
            <a:endParaRPr lang="en-US" sz="5200" dirty="0"/>
          </a:p>
          <a:p>
            <a:pPr indent="0" marL="0">
              <a:lnSpc>
                <a:spcPct val="100000"/>
              </a:lnSpc>
              <a:buNone/>
            </a:pPr>
            <a:r>
              <a:rPr lang="en-US" sz="5200" b="1" spc="-200" kern="0" dirty="0">
                <a:solidFill>
                  <a:srgbClr val="F4F2FA"/>
                </a:solidFill>
                <a:latin typeface="Calibri" pitchFamily="34" charset="0"/>
                <a:ea typeface="Calibri" pitchFamily="34" charset="-122"/>
                <a:cs typeface="Calibri" pitchFamily="34" charset="-120"/>
              </a:rPr>
              <a:t>pra cravar o mercado.</a:t>
            </a:r>
            <a:endParaRPr lang="en-US" sz="5200" dirty="0"/>
          </a:p>
        </p:txBody>
      </p:sp>
      <p:sp>
        <p:nvSpPr>
          <p:cNvPr id="6" name="Text 4"/>
          <p:cNvSpPr/>
          <p:nvPr/>
        </p:nvSpPr>
        <p:spPr>
          <a:xfrm>
            <a:off x="548640" y="3108960"/>
            <a:ext cx="1280160" cy="502920"/>
          </a:xfrm>
          <a:prstGeom prst="rect">
            <a:avLst/>
          </a:prstGeom>
          <a:noFill/>
          <a:ln/>
        </p:spPr>
        <p:txBody>
          <a:bodyPr wrap="square" rtlCol="0" anchor="ctr"/>
          <a:lstStyle/>
          <a:p>
            <a:pPr indent="0" marL="0">
              <a:buNone/>
            </a:pPr>
            <a:r>
              <a:rPr lang="en-US" sz="2800" b="1" spc="-100" kern="0" dirty="0">
                <a:solidFill>
                  <a:srgbClr val="C7F94E"/>
                </a:solidFill>
                <a:latin typeface="Calibri" pitchFamily="34" charset="0"/>
                <a:ea typeface="Calibri" pitchFamily="34" charset="-122"/>
                <a:cs typeface="Calibri" pitchFamily="34" charset="-120"/>
              </a:rPr>
              <a:t>40%</a:t>
            </a:r>
            <a:endParaRPr lang="en-US" sz="2800" dirty="0"/>
          </a:p>
        </p:txBody>
      </p:sp>
      <p:sp>
        <p:nvSpPr>
          <p:cNvPr id="7" name="Text 5"/>
          <p:cNvSpPr/>
          <p:nvPr/>
        </p:nvSpPr>
        <p:spPr>
          <a:xfrm>
            <a:off x="1828800" y="3108960"/>
            <a:ext cx="3200400" cy="274320"/>
          </a:xfrm>
          <a:prstGeom prst="rect">
            <a:avLst/>
          </a:prstGeom>
          <a:noFill/>
          <a:ln/>
        </p:spPr>
        <p:txBody>
          <a:bodyPr wrap="square" rtlCol="0" anchor="ctr"/>
          <a:lstStyle/>
          <a:p>
            <a:pPr indent="0" marL="0">
              <a:buNone/>
            </a:pPr>
            <a:r>
              <a:rPr lang="en-US" sz="1400" b="1" spc="-30" kern="0" dirty="0">
                <a:solidFill>
                  <a:srgbClr val="F4F2FA"/>
                </a:solidFill>
                <a:latin typeface="Calibri" pitchFamily="34" charset="0"/>
                <a:ea typeface="Calibri" pitchFamily="34" charset="-122"/>
                <a:cs typeface="Calibri" pitchFamily="34" charset="-120"/>
              </a:rPr>
              <a:t>Time + execução</a:t>
            </a:r>
            <a:endParaRPr lang="en-US" sz="1400" dirty="0"/>
          </a:p>
        </p:txBody>
      </p:sp>
      <p:sp>
        <p:nvSpPr>
          <p:cNvPr id="8" name="Text 6"/>
          <p:cNvSpPr/>
          <p:nvPr/>
        </p:nvSpPr>
        <p:spPr>
          <a:xfrm>
            <a:off x="1828800" y="3383280"/>
            <a:ext cx="914400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Dev mobile pleno + operador de vagas + designer freela</a:t>
            </a:r>
            <a:endParaRPr lang="en-US" sz="1100" dirty="0"/>
          </a:p>
        </p:txBody>
      </p:sp>
      <p:sp>
        <p:nvSpPr>
          <p:cNvPr id="9" name="Text 7"/>
          <p:cNvSpPr/>
          <p:nvPr/>
        </p:nvSpPr>
        <p:spPr>
          <a:xfrm>
            <a:off x="548640" y="3675888"/>
            <a:ext cx="1280160" cy="502920"/>
          </a:xfrm>
          <a:prstGeom prst="rect">
            <a:avLst/>
          </a:prstGeom>
          <a:noFill/>
          <a:ln/>
        </p:spPr>
        <p:txBody>
          <a:bodyPr wrap="square" rtlCol="0" anchor="ctr"/>
          <a:lstStyle/>
          <a:p>
            <a:pPr indent="0" marL="0">
              <a:buNone/>
            </a:pPr>
            <a:r>
              <a:rPr lang="en-US" sz="2800" b="1" spc="-100" kern="0" dirty="0">
                <a:solidFill>
                  <a:srgbClr val="C7F94E"/>
                </a:solidFill>
                <a:latin typeface="Calibri" pitchFamily="34" charset="0"/>
                <a:ea typeface="Calibri" pitchFamily="34" charset="-122"/>
                <a:cs typeface="Calibri" pitchFamily="34" charset="-120"/>
              </a:rPr>
              <a:t>30%</a:t>
            </a:r>
            <a:endParaRPr lang="en-US" sz="2800" dirty="0"/>
          </a:p>
        </p:txBody>
      </p:sp>
      <p:sp>
        <p:nvSpPr>
          <p:cNvPr id="10" name="Text 8"/>
          <p:cNvSpPr/>
          <p:nvPr/>
        </p:nvSpPr>
        <p:spPr>
          <a:xfrm>
            <a:off x="1828800" y="3675888"/>
            <a:ext cx="3200400" cy="274320"/>
          </a:xfrm>
          <a:prstGeom prst="rect">
            <a:avLst/>
          </a:prstGeom>
          <a:noFill/>
          <a:ln/>
        </p:spPr>
        <p:txBody>
          <a:bodyPr wrap="square" rtlCol="0" anchor="ctr"/>
          <a:lstStyle/>
          <a:p>
            <a:pPr indent="0" marL="0">
              <a:buNone/>
            </a:pPr>
            <a:r>
              <a:rPr lang="en-US" sz="1400" b="1" spc="-30" kern="0" dirty="0">
                <a:solidFill>
                  <a:srgbClr val="F4F2FA"/>
                </a:solidFill>
                <a:latin typeface="Calibri" pitchFamily="34" charset="0"/>
                <a:ea typeface="Calibri" pitchFamily="34" charset="-122"/>
                <a:cs typeface="Calibri" pitchFamily="34" charset="-120"/>
              </a:rPr>
              <a:t>Marketing + GTM</a:t>
            </a:r>
            <a:endParaRPr lang="en-US" sz="1400" dirty="0"/>
          </a:p>
        </p:txBody>
      </p:sp>
      <p:sp>
        <p:nvSpPr>
          <p:cNvPr id="11" name="Text 9"/>
          <p:cNvSpPr/>
          <p:nvPr/>
        </p:nvSpPr>
        <p:spPr>
          <a:xfrm>
            <a:off x="1828800" y="3950208"/>
            <a:ext cx="914400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Ads Instagram/TikTok + influence + sticker pack universidades</a:t>
            </a:r>
            <a:endParaRPr lang="en-US" sz="1100" dirty="0"/>
          </a:p>
        </p:txBody>
      </p:sp>
      <p:sp>
        <p:nvSpPr>
          <p:cNvPr id="12" name="Text 10"/>
          <p:cNvSpPr/>
          <p:nvPr/>
        </p:nvSpPr>
        <p:spPr>
          <a:xfrm>
            <a:off x="548640" y="4242816"/>
            <a:ext cx="1280160" cy="502920"/>
          </a:xfrm>
          <a:prstGeom prst="rect">
            <a:avLst/>
          </a:prstGeom>
          <a:noFill/>
          <a:ln/>
        </p:spPr>
        <p:txBody>
          <a:bodyPr wrap="square" rtlCol="0" anchor="ctr"/>
          <a:lstStyle/>
          <a:p>
            <a:pPr indent="0" marL="0">
              <a:buNone/>
            </a:pPr>
            <a:r>
              <a:rPr lang="en-US" sz="2800" b="1" spc="-100" kern="0" dirty="0">
                <a:solidFill>
                  <a:srgbClr val="C7F94E"/>
                </a:solidFill>
                <a:latin typeface="Calibri" pitchFamily="34" charset="0"/>
                <a:ea typeface="Calibri" pitchFamily="34" charset="-122"/>
                <a:cs typeface="Calibri" pitchFamily="34" charset="-120"/>
              </a:rPr>
              <a:t>15%</a:t>
            </a:r>
            <a:endParaRPr lang="en-US" sz="2800" dirty="0"/>
          </a:p>
        </p:txBody>
      </p:sp>
      <p:sp>
        <p:nvSpPr>
          <p:cNvPr id="13" name="Text 11"/>
          <p:cNvSpPr/>
          <p:nvPr/>
        </p:nvSpPr>
        <p:spPr>
          <a:xfrm>
            <a:off x="1828800" y="4242816"/>
            <a:ext cx="3200400" cy="274320"/>
          </a:xfrm>
          <a:prstGeom prst="rect">
            <a:avLst/>
          </a:prstGeom>
          <a:noFill/>
          <a:ln/>
        </p:spPr>
        <p:txBody>
          <a:bodyPr wrap="square" rtlCol="0" anchor="ctr"/>
          <a:lstStyle/>
          <a:p>
            <a:pPr indent="0" marL="0">
              <a:buNone/>
            </a:pPr>
            <a:r>
              <a:rPr lang="en-US" sz="1400" b="1" spc="-30" kern="0" dirty="0">
                <a:solidFill>
                  <a:srgbClr val="F4F2FA"/>
                </a:solidFill>
                <a:latin typeface="Calibri" pitchFamily="34" charset="0"/>
                <a:ea typeface="Calibri" pitchFamily="34" charset="-122"/>
                <a:cs typeface="Calibri" pitchFamily="34" charset="-120"/>
              </a:rPr>
              <a:t>Infra + IA</a:t>
            </a:r>
            <a:endParaRPr lang="en-US" sz="1400" dirty="0"/>
          </a:p>
        </p:txBody>
      </p:sp>
      <p:sp>
        <p:nvSpPr>
          <p:cNvPr id="14" name="Text 12"/>
          <p:cNvSpPr/>
          <p:nvPr/>
        </p:nvSpPr>
        <p:spPr>
          <a:xfrm>
            <a:off x="1828800" y="4517136"/>
            <a:ext cx="914400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Firebase scale + Claude API (CV parser, pitch, coach, mock interview)</a:t>
            </a:r>
            <a:endParaRPr lang="en-US" sz="1100" dirty="0"/>
          </a:p>
        </p:txBody>
      </p:sp>
      <p:sp>
        <p:nvSpPr>
          <p:cNvPr id="15" name="Text 13"/>
          <p:cNvSpPr/>
          <p:nvPr/>
        </p:nvSpPr>
        <p:spPr>
          <a:xfrm>
            <a:off x="548640" y="4809744"/>
            <a:ext cx="1280160" cy="502920"/>
          </a:xfrm>
          <a:prstGeom prst="rect">
            <a:avLst/>
          </a:prstGeom>
          <a:noFill/>
          <a:ln/>
        </p:spPr>
        <p:txBody>
          <a:bodyPr wrap="square" rtlCol="0" anchor="ctr"/>
          <a:lstStyle/>
          <a:p>
            <a:pPr indent="0" marL="0">
              <a:buNone/>
            </a:pPr>
            <a:r>
              <a:rPr lang="en-US" sz="2800" b="1" spc="-100" kern="0" dirty="0">
                <a:solidFill>
                  <a:srgbClr val="C7F94E"/>
                </a:solidFill>
                <a:latin typeface="Calibri" pitchFamily="34" charset="0"/>
                <a:ea typeface="Calibri" pitchFamily="34" charset="-122"/>
                <a:cs typeface="Calibri" pitchFamily="34" charset="-120"/>
              </a:rPr>
              <a:t>10%</a:t>
            </a:r>
            <a:endParaRPr lang="en-US" sz="2800" dirty="0"/>
          </a:p>
        </p:txBody>
      </p:sp>
      <p:sp>
        <p:nvSpPr>
          <p:cNvPr id="16" name="Text 14"/>
          <p:cNvSpPr/>
          <p:nvPr/>
        </p:nvSpPr>
        <p:spPr>
          <a:xfrm>
            <a:off x="1828800" y="4809744"/>
            <a:ext cx="3200400" cy="274320"/>
          </a:xfrm>
          <a:prstGeom prst="rect">
            <a:avLst/>
          </a:prstGeom>
          <a:noFill/>
          <a:ln/>
        </p:spPr>
        <p:txBody>
          <a:bodyPr wrap="square" rtlCol="0" anchor="ctr"/>
          <a:lstStyle/>
          <a:p>
            <a:pPr indent="0" marL="0">
              <a:buNone/>
            </a:pPr>
            <a:r>
              <a:rPr lang="en-US" sz="1400" b="1" spc="-30" kern="0" dirty="0">
                <a:solidFill>
                  <a:srgbClr val="F4F2FA"/>
                </a:solidFill>
                <a:latin typeface="Calibri" pitchFamily="34" charset="0"/>
                <a:ea typeface="Calibri" pitchFamily="34" charset="-122"/>
                <a:cs typeface="Calibri" pitchFamily="34" charset="-120"/>
              </a:rPr>
              <a:t>Jurídico + marca</a:t>
            </a:r>
            <a:endParaRPr lang="en-US" sz="1400" dirty="0"/>
          </a:p>
        </p:txBody>
      </p:sp>
      <p:sp>
        <p:nvSpPr>
          <p:cNvPr id="17" name="Text 15"/>
          <p:cNvSpPr/>
          <p:nvPr/>
        </p:nvSpPr>
        <p:spPr>
          <a:xfrm>
            <a:off x="1828800" y="5084064"/>
            <a:ext cx="914400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INPI Hirly · LGPD · contrato B2B · contabilidade</a:t>
            </a:r>
            <a:endParaRPr lang="en-US" sz="1100" dirty="0"/>
          </a:p>
        </p:txBody>
      </p:sp>
      <p:sp>
        <p:nvSpPr>
          <p:cNvPr id="18" name="Text 16"/>
          <p:cNvSpPr/>
          <p:nvPr/>
        </p:nvSpPr>
        <p:spPr>
          <a:xfrm>
            <a:off x="548640" y="5376672"/>
            <a:ext cx="1280160" cy="502920"/>
          </a:xfrm>
          <a:prstGeom prst="rect">
            <a:avLst/>
          </a:prstGeom>
          <a:noFill/>
          <a:ln/>
        </p:spPr>
        <p:txBody>
          <a:bodyPr wrap="square" rtlCol="0" anchor="ctr"/>
          <a:lstStyle/>
          <a:p>
            <a:pPr indent="0" marL="0">
              <a:buNone/>
            </a:pPr>
            <a:r>
              <a:rPr lang="en-US" sz="2800" b="1" spc="-100" kern="0" dirty="0">
                <a:solidFill>
                  <a:srgbClr val="C7F94E"/>
                </a:solidFill>
                <a:latin typeface="Calibri" pitchFamily="34" charset="0"/>
                <a:ea typeface="Calibri" pitchFamily="34" charset="-122"/>
                <a:cs typeface="Calibri" pitchFamily="34" charset="-120"/>
              </a:rPr>
              <a:t>5%</a:t>
            </a:r>
            <a:endParaRPr lang="en-US" sz="2800" dirty="0"/>
          </a:p>
        </p:txBody>
      </p:sp>
      <p:sp>
        <p:nvSpPr>
          <p:cNvPr id="19" name="Text 17"/>
          <p:cNvSpPr/>
          <p:nvPr/>
        </p:nvSpPr>
        <p:spPr>
          <a:xfrm>
            <a:off x="1828800" y="5376672"/>
            <a:ext cx="3200400" cy="274320"/>
          </a:xfrm>
          <a:prstGeom prst="rect">
            <a:avLst/>
          </a:prstGeom>
          <a:noFill/>
          <a:ln/>
        </p:spPr>
        <p:txBody>
          <a:bodyPr wrap="square" rtlCol="0" anchor="ctr"/>
          <a:lstStyle/>
          <a:p>
            <a:pPr indent="0" marL="0">
              <a:buNone/>
            </a:pPr>
            <a:r>
              <a:rPr lang="en-US" sz="1400" b="1" spc="-30" kern="0" dirty="0">
                <a:solidFill>
                  <a:srgbClr val="F4F2FA"/>
                </a:solidFill>
                <a:latin typeface="Calibri" pitchFamily="34" charset="0"/>
                <a:ea typeface="Calibri" pitchFamily="34" charset="-122"/>
                <a:cs typeface="Calibri" pitchFamily="34" charset="-120"/>
              </a:rPr>
              <a:t>Buffer</a:t>
            </a:r>
            <a:endParaRPr lang="en-US" sz="1400" dirty="0"/>
          </a:p>
        </p:txBody>
      </p:sp>
      <p:sp>
        <p:nvSpPr>
          <p:cNvPr id="20" name="Text 18"/>
          <p:cNvSpPr/>
          <p:nvPr/>
        </p:nvSpPr>
        <p:spPr>
          <a:xfrm>
            <a:off x="1828800" y="5650992"/>
            <a:ext cx="9144000" cy="274320"/>
          </a:xfrm>
          <a:prstGeom prst="rect">
            <a:avLst/>
          </a:prstGeom>
          <a:noFill/>
          <a:ln/>
        </p:spPr>
        <p:txBody>
          <a:bodyPr wrap="square" rtlCol="0" anchor="ctr"/>
          <a:lstStyle/>
          <a:p>
            <a:pPr indent="0" marL="0">
              <a:buNone/>
            </a:pPr>
            <a:r>
              <a:rPr lang="en-US" sz="1100" dirty="0">
                <a:solidFill>
                  <a:srgbClr val="8E89A6"/>
                </a:solidFill>
                <a:latin typeface="Calibri" pitchFamily="34" charset="0"/>
                <a:ea typeface="Calibri" pitchFamily="34" charset="-122"/>
                <a:cs typeface="Calibri" pitchFamily="34" charset="-120"/>
              </a:rPr>
              <a:t>Imprevisto operacional</a:t>
            </a:r>
            <a:endParaRPr lang="en-US" sz="1100" dirty="0"/>
          </a:p>
        </p:txBody>
      </p:sp>
      <p:sp>
        <p:nvSpPr>
          <p:cNvPr id="21" name="Shape 19"/>
          <p:cNvSpPr/>
          <p:nvPr/>
        </p:nvSpPr>
        <p:spPr>
          <a:xfrm>
            <a:off x="8412480" y="3108960"/>
            <a:ext cx="3200400" cy="1463040"/>
          </a:xfrm>
          <a:prstGeom prst="roundRect">
            <a:avLst>
              <a:gd name="adj" fmla="val 10000"/>
            </a:avLst>
          </a:prstGeom>
          <a:solidFill>
            <a:srgbClr val="1A1230"/>
          </a:solidFill>
          <a:ln w="25400">
            <a:solidFill>
              <a:srgbClr val="7B5CFF"/>
            </a:solidFill>
            <a:prstDash val="solid"/>
          </a:ln>
        </p:spPr>
      </p:sp>
      <p:sp>
        <p:nvSpPr>
          <p:cNvPr id="22" name="Text 20"/>
          <p:cNvSpPr/>
          <p:nvPr/>
        </p:nvSpPr>
        <p:spPr>
          <a:xfrm>
            <a:off x="8412480" y="3200400"/>
            <a:ext cx="3200400" cy="274320"/>
          </a:xfrm>
          <a:prstGeom prst="rect">
            <a:avLst/>
          </a:prstGeom>
          <a:noFill/>
          <a:ln/>
        </p:spPr>
        <p:txBody>
          <a:bodyPr wrap="square" rtlCol="0" anchor="ctr"/>
          <a:lstStyle/>
          <a:p>
            <a:pPr algn="ctr" indent="0" marL="0">
              <a:buNone/>
            </a:pPr>
            <a:r>
              <a:rPr lang="en-US" sz="1100" b="1" spc="300" kern="0" dirty="0">
                <a:solidFill>
                  <a:srgbClr val="7B5CFF"/>
                </a:solidFill>
                <a:latin typeface="Calibri" pitchFamily="34" charset="0"/>
                <a:ea typeface="Calibri" pitchFamily="34" charset="-122"/>
                <a:cs typeface="Calibri" pitchFamily="34" charset="-120"/>
              </a:rPr>
              <a:t>Runway</a:t>
            </a:r>
            <a:endParaRPr lang="en-US" sz="1100" dirty="0"/>
          </a:p>
        </p:txBody>
      </p:sp>
      <p:sp>
        <p:nvSpPr>
          <p:cNvPr id="23" name="Text 21"/>
          <p:cNvSpPr/>
          <p:nvPr/>
        </p:nvSpPr>
        <p:spPr>
          <a:xfrm>
            <a:off x="8412480" y="3520440"/>
            <a:ext cx="3200400" cy="822960"/>
          </a:xfrm>
          <a:prstGeom prst="rect">
            <a:avLst/>
          </a:prstGeom>
          <a:noFill/>
          <a:ln/>
        </p:spPr>
        <p:txBody>
          <a:bodyPr wrap="square" rtlCol="0" anchor="ctr"/>
          <a:lstStyle/>
          <a:p>
            <a:pPr algn="ctr" indent="0" marL="0">
              <a:buNone/>
            </a:pPr>
            <a:r>
              <a:rPr lang="en-US" sz="4200" b="1" spc="-150" kern="0" dirty="0">
                <a:solidFill>
                  <a:srgbClr val="F4F2FA"/>
                </a:solidFill>
                <a:latin typeface="Calibri" pitchFamily="34" charset="0"/>
                <a:ea typeface="Calibri" pitchFamily="34" charset="-122"/>
                <a:cs typeface="Calibri" pitchFamily="34" charset="-120"/>
              </a:rPr>
              <a:t>18 meses</a:t>
            </a:r>
            <a:endParaRPr lang="en-US" sz="4200" dirty="0"/>
          </a:p>
        </p:txBody>
      </p:sp>
      <p:sp>
        <p:nvSpPr>
          <p:cNvPr id="24" name="Text 22"/>
          <p:cNvSpPr/>
          <p:nvPr/>
        </p:nvSpPr>
        <p:spPr>
          <a:xfrm>
            <a:off x="8412480" y="4343400"/>
            <a:ext cx="3200400" cy="274320"/>
          </a:xfrm>
          <a:prstGeom prst="rect">
            <a:avLst/>
          </a:prstGeom>
          <a:noFill/>
          <a:ln/>
        </p:spPr>
        <p:txBody>
          <a:bodyPr wrap="square" rtlCol="0" anchor="ctr"/>
          <a:lstStyle/>
          <a:p>
            <a:pPr algn="ctr" indent="0" marL="0">
              <a:buNone/>
            </a:pPr>
            <a:r>
              <a:rPr lang="en-US" sz="1200" dirty="0">
                <a:solidFill>
                  <a:srgbClr val="8E89A6"/>
                </a:solidFill>
                <a:latin typeface="Calibri" pitchFamily="34" charset="0"/>
                <a:ea typeface="Calibri" pitchFamily="34" charset="-122"/>
                <a:cs typeface="Calibri" pitchFamily="34" charset="-120"/>
              </a:rPr>
              <a:t>até break-even</a:t>
            </a:r>
            <a:endParaRPr lang="en-US" sz="1200" dirty="0"/>
          </a:p>
        </p:txBody>
      </p:sp>
      <p:sp>
        <p:nvSpPr>
          <p:cNvPr id="25" name="Text 23"/>
          <p:cNvSpPr/>
          <p:nvPr/>
        </p:nvSpPr>
        <p:spPr>
          <a:xfrm>
            <a:off x="548640" y="6355080"/>
            <a:ext cx="3657600" cy="274320"/>
          </a:xfrm>
          <a:prstGeom prst="rect">
            <a:avLst/>
          </a:prstGeom>
          <a:noFill/>
          <a:ln/>
        </p:spPr>
        <p:txBody>
          <a:bodyPr wrap="square" rtlCol="0" anchor="ctr"/>
          <a:lstStyle/>
          <a:p>
            <a:pPr indent="0" marL="0">
              <a:buNone/>
            </a:pPr>
            <a:r>
              <a:rPr lang="en-US" sz="900" spc="300" kern="0" dirty="0">
                <a:solidFill>
                  <a:srgbClr val="564F71"/>
                </a:solidFill>
                <a:latin typeface="Calibri" pitchFamily="34" charset="0"/>
                <a:ea typeface="Calibri" pitchFamily="34" charset="-122"/>
                <a:cs typeface="Calibri" pitchFamily="34" charset="-120"/>
              </a:rPr>
              <a:t>HIRLY · CONFIDENCIAL</a:t>
            </a:r>
            <a:endParaRPr lang="en-US" sz="900" dirty="0"/>
          </a:p>
        </p:txBody>
      </p:sp>
      <p:sp>
        <p:nvSpPr>
          <p:cNvPr id="26" name="Text 24"/>
          <p:cNvSpPr/>
          <p:nvPr/>
        </p:nvSpPr>
        <p:spPr>
          <a:xfrm>
            <a:off x="10972800" y="6355080"/>
            <a:ext cx="1097280" cy="274320"/>
          </a:xfrm>
          <a:prstGeom prst="rect">
            <a:avLst/>
          </a:prstGeom>
          <a:noFill/>
          <a:ln/>
        </p:spPr>
        <p:txBody>
          <a:bodyPr wrap="square" rtlCol="0" anchor="ctr"/>
          <a:lstStyle/>
          <a:p>
            <a:pPr algn="r" indent="0" marL="0">
              <a:buNone/>
            </a:pPr>
            <a:r>
              <a:rPr lang="en-US" sz="900" spc="300" kern="0" dirty="0">
                <a:solidFill>
                  <a:srgbClr val="564F71"/>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40E"/>
        </a:solidFill>
      </p:bgPr>
    </p:bg>
    <p:spTree>
      <p:nvGrpSpPr>
        <p:cNvPr id="1" name=""/>
        <p:cNvGrpSpPr/>
        <p:nvPr/>
      </p:nvGrpSpPr>
      <p:grpSpPr>
        <a:xfrm>
          <a:off x="0" y="0"/>
          <a:ext cx="0" cy="0"/>
          <a:chOff x="0" y="0"/>
          <a:chExt cx="0" cy="0"/>
        </a:xfrm>
      </p:grpSpPr>
      <p:sp>
        <p:nvSpPr>
          <p:cNvPr id="2" name="Shape 0"/>
          <p:cNvSpPr/>
          <p:nvPr/>
        </p:nvSpPr>
        <p:spPr>
          <a:xfrm>
            <a:off x="4572000" y="3200400"/>
            <a:ext cx="8229600" cy="4572000"/>
          </a:xfrm>
          <a:prstGeom prst="rect">
            <a:avLst/>
          </a:prstGeom>
          <a:solidFill>
            <a:srgbClr val="22D3EE">
              <a:alpha val="40000"/>
            </a:srgbClr>
          </a:solidFill>
          <a:ln/>
        </p:spPr>
      </p:sp>
      <p:sp>
        <p:nvSpPr>
          <p:cNvPr id="3" name="Shape 1"/>
          <p:cNvSpPr/>
          <p:nvPr/>
        </p:nvSpPr>
        <p:spPr>
          <a:xfrm>
            <a:off x="7452360" y="3200400"/>
            <a:ext cx="5349240" cy="4572000"/>
          </a:xfrm>
          <a:prstGeom prst="rect">
            <a:avLst/>
          </a:prstGeom>
          <a:solidFill>
            <a:srgbClr val="7B5CFF">
              <a:alpha val="35000"/>
            </a:srgbClr>
          </a:solidFill>
          <a:ln/>
        </p:spPr>
      </p:sp>
      <p:sp>
        <p:nvSpPr>
          <p:cNvPr id="4" name="Text 2"/>
          <p:cNvSpPr/>
          <p:nvPr/>
        </p:nvSpPr>
        <p:spPr>
          <a:xfrm>
            <a:off x="548640" y="1371600"/>
            <a:ext cx="7315200" cy="1371600"/>
          </a:xfrm>
          <a:prstGeom prst="rect">
            <a:avLst/>
          </a:prstGeom>
          <a:noFill/>
          <a:ln/>
        </p:spPr>
        <p:txBody>
          <a:bodyPr wrap="square" rtlCol="0" anchor="ctr"/>
          <a:lstStyle/>
          <a:p>
            <a:pPr indent="0" marL="0">
              <a:buNone/>
            </a:pPr>
            <a:r>
              <a:rPr lang="en-US" sz="9600" b="1" spc="-400" kern="0" dirty="0">
                <a:solidFill>
                  <a:srgbClr val="F4F2FA"/>
                </a:solidFill>
                <a:latin typeface="Calibri" pitchFamily="34" charset="0"/>
                <a:ea typeface="Calibri" pitchFamily="34" charset="-122"/>
                <a:cs typeface="Calibri" pitchFamily="34" charset="-120"/>
              </a:rPr>
              <a:t>Hirly</a:t>
            </a:r>
            <a:endParaRPr lang="en-US" sz="9600" dirty="0"/>
          </a:p>
        </p:txBody>
      </p:sp>
      <p:sp>
        <p:nvSpPr>
          <p:cNvPr id="5" name="Text 3"/>
          <p:cNvSpPr/>
          <p:nvPr/>
        </p:nvSpPr>
        <p:spPr>
          <a:xfrm>
            <a:off x="548640" y="3108960"/>
            <a:ext cx="10972800" cy="1645920"/>
          </a:xfrm>
          <a:prstGeom prst="rect">
            <a:avLst/>
          </a:prstGeom>
          <a:noFill/>
          <a:ln/>
        </p:spPr>
        <p:txBody>
          <a:bodyPr wrap="square" rtlCol="0" anchor="ctr"/>
          <a:lstStyle/>
          <a:p>
            <a:pPr indent="0" marL="0">
              <a:lnSpc>
                <a:spcPct val="110000"/>
              </a:lnSpc>
              <a:buNone/>
            </a:pPr>
            <a:r>
              <a:rPr lang="en-US" sz="3200" b="1" spc="-120" kern="0" dirty="0">
                <a:solidFill>
                  <a:srgbClr val="F4F2FA"/>
                </a:solidFill>
                <a:latin typeface="Calibri" pitchFamily="34" charset="0"/>
                <a:ea typeface="Calibri" pitchFamily="34" charset="-122"/>
                <a:cs typeface="Calibri" pitchFamily="34" charset="-120"/>
              </a:rPr>
              <a:t>A primeira geração que cresceu no TikTok</a:t>
            </a:r>
            <a:endParaRPr lang="en-US" sz="3200" dirty="0"/>
          </a:p>
          <a:p>
            <a:pPr indent="0" marL="0">
              <a:lnSpc>
                <a:spcPct val="110000"/>
              </a:lnSpc>
              <a:buNone/>
            </a:pPr>
            <a:r>
              <a:rPr lang="en-US" sz="3200" b="1" spc="-120" kern="0" dirty="0">
                <a:solidFill>
                  <a:srgbClr val="F4F2FA"/>
                </a:solidFill>
                <a:latin typeface="Calibri" pitchFamily="34" charset="0"/>
                <a:ea typeface="Calibri" pitchFamily="34" charset="-122"/>
                <a:cs typeface="Calibri" pitchFamily="34" charset="-120"/>
              </a:rPr>
              <a:t>merece ferramenta de carreira à altura.</a:t>
            </a:r>
            <a:endParaRPr lang="en-US" sz="3200" dirty="0"/>
          </a:p>
        </p:txBody>
      </p:sp>
      <p:sp>
        <p:nvSpPr>
          <p:cNvPr id="6" name="Shape 4"/>
          <p:cNvSpPr/>
          <p:nvPr/>
        </p:nvSpPr>
        <p:spPr>
          <a:xfrm>
            <a:off x="548640" y="5212080"/>
            <a:ext cx="3657600" cy="640080"/>
          </a:xfrm>
          <a:prstGeom prst="roundRect">
            <a:avLst>
              <a:gd name="adj" fmla="val 50000"/>
            </a:avLst>
          </a:prstGeom>
          <a:solidFill>
            <a:srgbClr val="7B5CFF"/>
          </a:solidFill>
          <a:ln/>
        </p:spPr>
      </p:sp>
      <p:sp>
        <p:nvSpPr>
          <p:cNvPr id="7" name="Text 5"/>
          <p:cNvSpPr/>
          <p:nvPr/>
        </p:nvSpPr>
        <p:spPr>
          <a:xfrm>
            <a:off x="548640" y="5212080"/>
            <a:ext cx="3657600" cy="640080"/>
          </a:xfrm>
          <a:prstGeom prst="rect">
            <a:avLst/>
          </a:prstGeom>
          <a:noFill/>
          <a:ln/>
        </p:spPr>
        <p:txBody>
          <a:bodyPr wrap="square" rtlCol="0" anchor="ctr"/>
          <a:lstStyle/>
          <a:p>
            <a:pPr algn="ctr" indent="0" marL="0">
              <a:buNone/>
            </a:pPr>
            <a:r>
              <a:rPr lang="en-US" sz="1600" b="1" spc="-30" kern="0" dirty="0">
                <a:solidFill>
                  <a:srgbClr val="F4F2FA"/>
                </a:solidFill>
                <a:latin typeface="Calibri" pitchFamily="34" charset="0"/>
                <a:ea typeface="Calibri" pitchFamily="34" charset="-122"/>
                <a:cs typeface="Calibri" pitchFamily="34" charset="-120"/>
              </a:rPr>
              <a:t>Vamos conversar →</a:t>
            </a:r>
            <a:endParaRPr lang="en-US" sz="1600" dirty="0"/>
          </a:p>
        </p:txBody>
      </p:sp>
      <p:sp>
        <p:nvSpPr>
          <p:cNvPr id="8" name="Text 6"/>
          <p:cNvSpPr/>
          <p:nvPr/>
        </p:nvSpPr>
        <p:spPr>
          <a:xfrm>
            <a:off x="548640" y="5989320"/>
            <a:ext cx="7315200" cy="365760"/>
          </a:xfrm>
          <a:prstGeom prst="rect">
            <a:avLst/>
          </a:prstGeom>
          <a:noFill/>
          <a:ln/>
        </p:spPr>
        <p:txBody>
          <a:bodyPr wrap="square" rtlCol="0" anchor="ctr"/>
          <a:lstStyle/>
          <a:p>
            <a:pPr indent="0" marL="0">
              <a:buNone/>
            </a:pPr>
            <a:r>
              <a:rPr lang="en-US" sz="1300" spc="100" kern="0" dirty="0">
                <a:solidFill>
                  <a:srgbClr val="8E89A6"/>
                </a:solidFill>
                <a:latin typeface="Calibri" pitchFamily="34" charset="0"/>
                <a:ea typeface="Calibri" pitchFamily="34" charset="-122"/>
                <a:cs typeface="Calibri" pitchFamily="34" charset="-120"/>
              </a:rPr>
              <a:t>contato@hirly.app  ·  hirly.app</a:t>
            </a:r>
            <a:endParaRPr lang="en-US" sz="1300" dirty="0"/>
          </a:p>
        </p:txBody>
      </p:sp>
      <p:sp>
        <p:nvSpPr>
          <p:cNvPr id="9" name="Text 7"/>
          <p:cNvSpPr/>
          <p:nvPr/>
        </p:nvSpPr>
        <p:spPr>
          <a:xfrm>
            <a:off x="10058400" y="6355080"/>
            <a:ext cx="1645920" cy="274320"/>
          </a:xfrm>
          <a:prstGeom prst="rect">
            <a:avLst/>
          </a:prstGeom>
          <a:noFill/>
          <a:ln/>
        </p:spPr>
        <p:txBody>
          <a:bodyPr wrap="square" rtlCol="0" anchor="ctr"/>
          <a:lstStyle/>
          <a:p>
            <a:pPr algn="r" indent="0" marL="0">
              <a:buNone/>
            </a:pPr>
            <a:r>
              <a:rPr lang="en-US" sz="1000" spc="200" kern="0" dirty="0">
                <a:solidFill>
                  <a:srgbClr val="564F71"/>
                </a:solidFill>
                <a:latin typeface="Calibri" pitchFamily="34" charset="0"/>
                <a:ea typeface="Calibri" pitchFamily="34" charset="-122"/>
                <a:cs typeface="Calibri" pitchFamily="34" charset="-120"/>
              </a:rPr>
              <a:t>Maio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Hirly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Hirly Pitch Deck</dc:title>
  <dc:subject>PptxGenJS Presentation</dc:subject>
  <dc:creator>PptxGenJS</dc:creator>
  <cp:lastModifiedBy>PptxGenJS</cp:lastModifiedBy>
  <cp:revision>1</cp:revision>
  <dcterms:created xsi:type="dcterms:W3CDTF">2026-05-22T21:50:22Z</dcterms:created>
  <dcterms:modified xsi:type="dcterms:W3CDTF">2026-05-22T21:50:22Z</dcterms:modified>
</cp:coreProperties>
</file>